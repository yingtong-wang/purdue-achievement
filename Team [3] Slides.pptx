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heme/theme3.xml" ContentType="application/vnd.openxmlformats-officedocument.theme+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notesSlides/notesSlide1.xml" ContentType="application/vnd.openxmlformats-officedocument.presentationml.notesSlide+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notesSlides/notesSlide2.xml" ContentType="application/vnd.openxmlformats-officedocument.presentationml.notesSlide+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notesSlides/notesSlide3.xml" ContentType="application/vnd.openxmlformats-officedocument.presentationml.notesSlide+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1"/>
    <p:sldMasterId id="2147483930" r:id="rId2"/>
  </p:sldMasterIdLst>
  <p:notesMasterIdLst>
    <p:notesMasterId r:id="rId29"/>
  </p:notesMasterIdLst>
  <p:sldIdLst>
    <p:sldId id="256" r:id="rId3"/>
    <p:sldId id="258" r:id="rId4"/>
    <p:sldId id="262" r:id="rId5"/>
    <p:sldId id="261" r:id="rId6"/>
    <p:sldId id="263" r:id="rId7"/>
    <p:sldId id="260" r:id="rId8"/>
    <p:sldId id="264" r:id="rId9"/>
    <p:sldId id="266" r:id="rId10"/>
    <p:sldId id="267" r:id="rId11"/>
    <p:sldId id="268" r:id="rId12"/>
    <p:sldId id="269" r:id="rId13"/>
    <p:sldId id="270" r:id="rId14"/>
    <p:sldId id="271" r:id="rId15"/>
    <p:sldId id="272" r:id="rId16"/>
    <p:sldId id="275" r:id="rId17"/>
    <p:sldId id="285" r:id="rId18"/>
    <p:sldId id="274" r:id="rId19"/>
    <p:sldId id="276" r:id="rId20"/>
    <p:sldId id="277" r:id="rId21"/>
    <p:sldId id="278" r:id="rId22"/>
    <p:sldId id="286" r:id="rId23"/>
    <p:sldId id="287" r:id="rId24"/>
    <p:sldId id="288" r:id="rId25"/>
    <p:sldId id="290" r:id="rId26"/>
    <p:sldId id="291" r:id="rId27"/>
    <p:sldId id="295" r:id="rId28"/>
  </p:sldIdLst>
  <p:sldSz cx="12192000" cy="6858000"/>
  <p:notesSz cx="6858000" cy="9144000"/>
  <p:custDataLst>
    <p:tags r:id="rId3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9" userDrawn="1">
          <p15:clr>
            <a:srgbClr val="A4A3A4"/>
          </p15:clr>
        </p15:guide>
        <p15:guide id="2" pos="379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976" autoAdjust="0"/>
    <p:restoredTop sz="96301"/>
  </p:normalViewPr>
  <p:slideViewPr>
    <p:cSldViewPr snapToGrid="0" showGuides="1">
      <p:cViewPr varScale="1">
        <p:scale>
          <a:sx n="155" d="100"/>
          <a:sy n="155" d="100"/>
        </p:scale>
        <p:origin x="216" y="288"/>
      </p:cViewPr>
      <p:guideLst>
        <p:guide orient="horz" pos="2159"/>
        <p:guide pos="3790"/>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tags" Target="tags/tag1.xml"/><Relationship Id="rId8" Type="http://schemas.openxmlformats.org/officeDocument/2006/relationships/slide" Target="slides/slide6.xml"/></Relationships>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CAF09E1-1AE3-4EBE-88B9-83293C1C1E81}"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F030163F-355E-4BF4-841B-742FE1F53D62}">
      <dgm:prSet/>
      <dgm:spPr/>
      <dgm:t>
        <a:bodyPr/>
        <a:lstStyle/>
        <a:p>
          <a:pPr>
            <a:lnSpc>
              <a:spcPct val="100000"/>
            </a:lnSpc>
          </a:pPr>
          <a:r>
            <a:rPr lang="zh-CN" dirty="0"/>
            <a:t>Listing pricing strategy is the most critical factor affecting revenue, including the reasonable setting of nightly prices and cleaning fees, which have a significant impact on revenue.</a:t>
          </a:r>
          <a:endParaRPr lang="en-US" dirty="0"/>
        </a:p>
      </dgm:t>
    </dgm:pt>
    <dgm:pt modelId="{50A1046D-BC09-4312-BA8F-3C231612391D}" type="parTrans" cxnId="{AFD639DE-9E06-41F0-ADDA-D278BA05012C}">
      <dgm:prSet/>
      <dgm:spPr/>
      <dgm:t>
        <a:bodyPr/>
        <a:lstStyle/>
        <a:p>
          <a:endParaRPr lang="en-US"/>
        </a:p>
      </dgm:t>
    </dgm:pt>
    <dgm:pt modelId="{371A9974-AB17-4CC0-A10F-821A24E5F7B6}" type="sibTrans" cxnId="{AFD639DE-9E06-41F0-ADDA-D278BA05012C}">
      <dgm:prSet/>
      <dgm:spPr/>
      <dgm:t>
        <a:bodyPr/>
        <a:lstStyle/>
        <a:p>
          <a:pPr>
            <a:lnSpc>
              <a:spcPct val="100000"/>
            </a:lnSpc>
          </a:pPr>
          <a:endParaRPr lang="en-US"/>
        </a:p>
      </dgm:t>
    </dgm:pt>
    <dgm:pt modelId="{20FEEB4A-EFC6-4A6A-863C-77E08DAE80BB}">
      <dgm:prSet/>
      <dgm:spPr/>
      <dgm:t>
        <a:bodyPr/>
        <a:lstStyle/>
        <a:p>
          <a:pPr>
            <a:lnSpc>
              <a:spcPct val="100000"/>
            </a:lnSpc>
          </a:pPr>
          <a:r>
            <a:rPr lang="zh-CN"/>
            <a:t>The review system of a property has an important impact on income. High-quality reviews and a sufficient number of reviews can bring better income performance.</a:t>
          </a:r>
          <a:endParaRPr lang="en-US"/>
        </a:p>
      </dgm:t>
    </dgm:pt>
    <dgm:pt modelId="{1A79C5EF-F744-469A-A9AF-6B64A76819C0}" type="parTrans" cxnId="{B16DFA50-AC13-4396-BE43-2F1E8E1EA656}">
      <dgm:prSet/>
      <dgm:spPr/>
      <dgm:t>
        <a:bodyPr/>
        <a:lstStyle/>
        <a:p>
          <a:endParaRPr lang="en-US"/>
        </a:p>
      </dgm:t>
    </dgm:pt>
    <dgm:pt modelId="{CBB12455-C0F9-4F80-8E6E-D19344DDEC9B}" type="sibTrans" cxnId="{B16DFA50-AC13-4396-BE43-2F1E8E1EA656}">
      <dgm:prSet/>
      <dgm:spPr/>
      <dgm:t>
        <a:bodyPr/>
        <a:lstStyle/>
        <a:p>
          <a:pPr>
            <a:lnSpc>
              <a:spcPct val="100000"/>
            </a:lnSpc>
          </a:pPr>
          <a:endParaRPr lang="en-US"/>
        </a:p>
      </dgm:t>
    </dgm:pt>
    <dgm:pt modelId="{1503B9AB-BD6F-4C64-9517-457BD63C8722}">
      <dgm:prSet/>
      <dgm:spPr/>
      <dgm:t>
        <a:bodyPr/>
        <a:lstStyle/>
        <a:p>
          <a:pPr>
            <a:lnSpc>
              <a:spcPct val="100000"/>
            </a:lnSpc>
          </a:pPr>
          <a:r>
            <a:rPr lang="zh-CN" dirty="0"/>
            <a:t>There is a significant positive correlation between a host's service level (including response rate and super host status) and income.</a:t>
          </a:r>
          <a:endParaRPr lang="en-US" dirty="0"/>
        </a:p>
      </dgm:t>
    </dgm:pt>
    <dgm:pt modelId="{BA014063-7CE2-4322-B60D-FA548B0FA8BA}" type="parTrans" cxnId="{3ECAA254-06FB-4035-B73A-B30C9F2FDD4C}">
      <dgm:prSet/>
      <dgm:spPr/>
      <dgm:t>
        <a:bodyPr/>
        <a:lstStyle/>
        <a:p>
          <a:endParaRPr lang="en-US"/>
        </a:p>
      </dgm:t>
    </dgm:pt>
    <dgm:pt modelId="{B4BD5A48-9CC5-4DE3-9187-4F1F139ECEAE}" type="sibTrans" cxnId="{3ECAA254-06FB-4035-B73A-B30C9F2FDD4C}">
      <dgm:prSet/>
      <dgm:spPr/>
      <dgm:t>
        <a:bodyPr/>
        <a:lstStyle/>
        <a:p>
          <a:pPr>
            <a:lnSpc>
              <a:spcPct val="100000"/>
            </a:lnSpc>
          </a:pPr>
          <a:endParaRPr lang="en-US"/>
        </a:p>
      </dgm:t>
    </dgm:pt>
    <dgm:pt modelId="{846C208F-F8DC-4650-845C-657D3E841624}">
      <dgm:prSet/>
      <dgm:spPr/>
      <dgm:t>
        <a:bodyPr/>
        <a:lstStyle/>
        <a:p>
          <a:pPr>
            <a:lnSpc>
              <a:spcPct val="100000"/>
            </a:lnSpc>
          </a:pPr>
          <a:r>
            <a:rPr lang="zh-CN"/>
            <a:t>The location of a property is an important determinant of income differences, with significant differences in income levels between communities</a:t>
          </a:r>
          <a:endParaRPr lang="en-US"/>
        </a:p>
      </dgm:t>
    </dgm:pt>
    <dgm:pt modelId="{265F18FD-0EA0-4071-8AA0-A2A9C681D046}" type="parTrans" cxnId="{A23310FE-78B8-4DBA-9FA8-622ED51649E5}">
      <dgm:prSet/>
      <dgm:spPr/>
      <dgm:t>
        <a:bodyPr/>
        <a:lstStyle/>
        <a:p>
          <a:endParaRPr lang="en-US"/>
        </a:p>
      </dgm:t>
    </dgm:pt>
    <dgm:pt modelId="{67A89E57-8FDD-4ED6-AD3A-130741343328}" type="sibTrans" cxnId="{A23310FE-78B8-4DBA-9FA8-622ED51649E5}">
      <dgm:prSet/>
      <dgm:spPr/>
      <dgm:t>
        <a:bodyPr/>
        <a:lstStyle/>
        <a:p>
          <a:pPr>
            <a:lnSpc>
              <a:spcPct val="100000"/>
            </a:lnSpc>
          </a:pPr>
          <a:endParaRPr lang="en-US"/>
        </a:p>
      </dgm:t>
    </dgm:pt>
    <dgm:pt modelId="{8F52AFC1-FB71-4772-A4B0-1CD3A99018EB}">
      <dgm:prSet/>
      <dgm:spPr/>
      <dgm:t>
        <a:bodyPr/>
        <a:lstStyle/>
        <a:p>
          <a:pPr>
            <a:lnSpc>
              <a:spcPct val="100000"/>
            </a:lnSpc>
          </a:pPr>
          <a:r>
            <a:rPr lang="zh-CN"/>
            <a:t>The basic attributes of a property (such as the number of bedrooms, maximum occupancy) have a secondary impact on income than the service quality and evaluation system</a:t>
          </a:r>
          <a:endParaRPr lang="en-US"/>
        </a:p>
      </dgm:t>
    </dgm:pt>
    <dgm:pt modelId="{2D448931-2B3D-4EB1-9D14-1F69C308F3E7}" type="parTrans" cxnId="{97B4A494-765C-4A77-8D2D-D01FFB69A332}">
      <dgm:prSet/>
      <dgm:spPr/>
      <dgm:t>
        <a:bodyPr/>
        <a:lstStyle/>
        <a:p>
          <a:endParaRPr lang="en-US"/>
        </a:p>
      </dgm:t>
    </dgm:pt>
    <dgm:pt modelId="{482DDCB5-D033-40BC-867E-B61544F48DFF}" type="sibTrans" cxnId="{97B4A494-765C-4A77-8D2D-D01FFB69A332}">
      <dgm:prSet/>
      <dgm:spPr/>
      <dgm:t>
        <a:bodyPr/>
        <a:lstStyle/>
        <a:p>
          <a:endParaRPr lang="en-US"/>
        </a:p>
      </dgm:t>
    </dgm:pt>
    <dgm:pt modelId="{01669BDA-D870-4963-8BD8-FA82B3B8F04C}" type="pres">
      <dgm:prSet presAssocID="{BCAF09E1-1AE3-4EBE-88B9-83293C1C1E81}" presName="root" presStyleCnt="0">
        <dgm:presLayoutVars>
          <dgm:dir/>
          <dgm:resizeHandles val="exact"/>
        </dgm:presLayoutVars>
      </dgm:prSet>
      <dgm:spPr/>
    </dgm:pt>
    <dgm:pt modelId="{F6027DA0-01DA-4FAE-914A-C315EED24A27}" type="pres">
      <dgm:prSet presAssocID="{BCAF09E1-1AE3-4EBE-88B9-83293C1C1E81}" presName="container" presStyleCnt="0">
        <dgm:presLayoutVars>
          <dgm:dir/>
          <dgm:resizeHandles val="exact"/>
        </dgm:presLayoutVars>
      </dgm:prSet>
      <dgm:spPr/>
    </dgm:pt>
    <dgm:pt modelId="{BD395BEE-5333-4B3E-92E0-6E173563889E}" type="pres">
      <dgm:prSet presAssocID="{F030163F-355E-4BF4-841B-742FE1F53D62}" presName="compNode" presStyleCnt="0"/>
      <dgm:spPr/>
    </dgm:pt>
    <dgm:pt modelId="{81E3CDCE-7384-4AFB-88F1-32A13ED6C231}" type="pres">
      <dgm:prSet presAssocID="{F030163F-355E-4BF4-841B-742FE1F53D62}" presName="iconBgRect" presStyleLbl="bgShp" presStyleIdx="0" presStyleCnt="5"/>
      <dgm:spPr/>
    </dgm:pt>
    <dgm:pt modelId="{1068578D-1AC8-40CB-845F-E6806D159302}" type="pres">
      <dgm:prSet presAssocID="{F030163F-355E-4BF4-841B-742FE1F53D62}"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钱"/>
        </a:ext>
      </dgm:extLst>
    </dgm:pt>
    <dgm:pt modelId="{8A965A1B-F42D-4EBB-923F-619193352F10}" type="pres">
      <dgm:prSet presAssocID="{F030163F-355E-4BF4-841B-742FE1F53D62}" presName="spaceRect" presStyleCnt="0"/>
      <dgm:spPr/>
    </dgm:pt>
    <dgm:pt modelId="{0576C75E-FABD-4E3F-90E3-2B7D7067A4A1}" type="pres">
      <dgm:prSet presAssocID="{F030163F-355E-4BF4-841B-742FE1F53D62}" presName="textRect" presStyleLbl="revTx" presStyleIdx="0" presStyleCnt="5">
        <dgm:presLayoutVars>
          <dgm:chMax val="1"/>
          <dgm:chPref val="1"/>
        </dgm:presLayoutVars>
      </dgm:prSet>
      <dgm:spPr/>
    </dgm:pt>
    <dgm:pt modelId="{5AC596DC-C980-4C16-AEB1-3DFF98B9C6D3}" type="pres">
      <dgm:prSet presAssocID="{371A9974-AB17-4CC0-A10F-821A24E5F7B6}" presName="sibTrans" presStyleLbl="sibTrans2D1" presStyleIdx="0" presStyleCnt="0"/>
      <dgm:spPr/>
    </dgm:pt>
    <dgm:pt modelId="{98B33A55-3527-44AB-8FE2-FD66DCA83504}" type="pres">
      <dgm:prSet presAssocID="{20FEEB4A-EFC6-4A6A-863C-77E08DAE80BB}" presName="compNode" presStyleCnt="0"/>
      <dgm:spPr/>
    </dgm:pt>
    <dgm:pt modelId="{9DD7DA8A-3F23-4260-8A57-7B3930B572B5}" type="pres">
      <dgm:prSet presAssocID="{20FEEB4A-EFC6-4A6A-863C-77E08DAE80BB}" presName="iconBgRect" presStyleLbl="bgShp" presStyleIdx="1" presStyleCnt="5"/>
      <dgm:spPr/>
    </dgm:pt>
    <dgm:pt modelId="{3E0FC4BB-7799-48EE-A133-80A98BFCBCEC}" type="pres">
      <dgm:prSet presAssocID="{20FEEB4A-EFC6-4A6A-863C-77E08DAE80BB}"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美元"/>
        </a:ext>
      </dgm:extLst>
    </dgm:pt>
    <dgm:pt modelId="{7BEE063E-3559-4BA1-9480-EE630667C439}" type="pres">
      <dgm:prSet presAssocID="{20FEEB4A-EFC6-4A6A-863C-77E08DAE80BB}" presName="spaceRect" presStyleCnt="0"/>
      <dgm:spPr/>
    </dgm:pt>
    <dgm:pt modelId="{4E4D051C-5E6E-4ED7-9520-532D6F3B024F}" type="pres">
      <dgm:prSet presAssocID="{20FEEB4A-EFC6-4A6A-863C-77E08DAE80BB}" presName="textRect" presStyleLbl="revTx" presStyleIdx="1" presStyleCnt="5">
        <dgm:presLayoutVars>
          <dgm:chMax val="1"/>
          <dgm:chPref val="1"/>
        </dgm:presLayoutVars>
      </dgm:prSet>
      <dgm:spPr/>
    </dgm:pt>
    <dgm:pt modelId="{8E95A8B5-567C-4F9A-AF40-F35E81DA303B}" type="pres">
      <dgm:prSet presAssocID="{CBB12455-C0F9-4F80-8E6E-D19344DDEC9B}" presName="sibTrans" presStyleLbl="sibTrans2D1" presStyleIdx="0" presStyleCnt="0"/>
      <dgm:spPr/>
    </dgm:pt>
    <dgm:pt modelId="{38108DA7-6B8E-4582-BE62-D08C7C4453EB}" type="pres">
      <dgm:prSet presAssocID="{1503B9AB-BD6F-4C64-9517-457BD63C8722}" presName="compNode" presStyleCnt="0"/>
      <dgm:spPr/>
    </dgm:pt>
    <dgm:pt modelId="{D63D441A-992D-4DC8-8BAE-89D0500EED56}" type="pres">
      <dgm:prSet presAssocID="{1503B9AB-BD6F-4C64-9517-457BD63C8722}" presName="iconBgRect" presStyleLbl="bgShp" presStyleIdx="2" presStyleCnt="5"/>
      <dgm:spPr/>
    </dgm:pt>
    <dgm:pt modelId="{52C2F711-77A7-4A58-AB8E-F864DBFF4C96}" type="pres">
      <dgm:prSet presAssocID="{1503B9AB-BD6F-4C64-9517-457BD63C8722}"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处理器"/>
        </a:ext>
      </dgm:extLst>
    </dgm:pt>
    <dgm:pt modelId="{616E84E1-F0F9-4AA7-965B-25A9FA52DCDF}" type="pres">
      <dgm:prSet presAssocID="{1503B9AB-BD6F-4C64-9517-457BD63C8722}" presName="spaceRect" presStyleCnt="0"/>
      <dgm:spPr/>
    </dgm:pt>
    <dgm:pt modelId="{8F9C2F4E-35D5-43AE-A469-A31C0277C0C0}" type="pres">
      <dgm:prSet presAssocID="{1503B9AB-BD6F-4C64-9517-457BD63C8722}" presName="textRect" presStyleLbl="revTx" presStyleIdx="2" presStyleCnt="5">
        <dgm:presLayoutVars>
          <dgm:chMax val="1"/>
          <dgm:chPref val="1"/>
        </dgm:presLayoutVars>
      </dgm:prSet>
      <dgm:spPr/>
    </dgm:pt>
    <dgm:pt modelId="{3FF3D692-0969-4BF9-A597-E3E8600E15CA}" type="pres">
      <dgm:prSet presAssocID="{B4BD5A48-9CC5-4DE3-9187-4F1F139ECEAE}" presName="sibTrans" presStyleLbl="sibTrans2D1" presStyleIdx="0" presStyleCnt="0"/>
      <dgm:spPr/>
    </dgm:pt>
    <dgm:pt modelId="{D2AA0906-2B9B-413E-8992-9A19C4868D0B}" type="pres">
      <dgm:prSet presAssocID="{846C208F-F8DC-4650-845C-657D3E841624}" presName="compNode" presStyleCnt="0"/>
      <dgm:spPr/>
    </dgm:pt>
    <dgm:pt modelId="{63BB00D9-9352-46D1-889F-1141E4E3E4A5}" type="pres">
      <dgm:prSet presAssocID="{846C208F-F8DC-4650-845C-657D3E841624}" presName="iconBgRect" presStyleLbl="bgShp" presStyleIdx="3" presStyleCnt="5"/>
      <dgm:spPr/>
    </dgm:pt>
    <dgm:pt modelId="{C116BC2E-40E9-401E-850F-8B9E45915B53}" type="pres">
      <dgm:prSet presAssocID="{846C208F-F8DC-4650-845C-657D3E841624}"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房子"/>
        </a:ext>
      </dgm:extLst>
    </dgm:pt>
    <dgm:pt modelId="{DE5D3E15-0175-413F-90A9-A1D2D100E81F}" type="pres">
      <dgm:prSet presAssocID="{846C208F-F8DC-4650-845C-657D3E841624}" presName="spaceRect" presStyleCnt="0"/>
      <dgm:spPr/>
    </dgm:pt>
    <dgm:pt modelId="{4B96EA59-D075-47A2-8AB6-B2E8CFB57CA7}" type="pres">
      <dgm:prSet presAssocID="{846C208F-F8DC-4650-845C-657D3E841624}" presName="textRect" presStyleLbl="revTx" presStyleIdx="3" presStyleCnt="5">
        <dgm:presLayoutVars>
          <dgm:chMax val="1"/>
          <dgm:chPref val="1"/>
        </dgm:presLayoutVars>
      </dgm:prSet>
      <dgm:spPr/>
    </dgm:pt>
    <dgm:pt modelId="{1A3C1247-B44E-4A86-AF85-3C96E17EFF49}" type="pres">
      <dgm:prSet presAssocID="{67A89E57-8FDD-4ED6-AD3A-130741343328}" presName="sibTrans" presStyleLbl="sibTrans2D1" presStyleIdx="0" presStyleCnt="0"/>
      <dgm:spPr/>
    </dgm:pt>
    <dgm:pt modelId="{BE340500-F7F2-41CD-8226-B29033D5378F}" type="pres">
      <dgm:prSet presAssocID="{8F52AFC1-FB71-4772-A4B0-1CD3A99018EB}" presName="compNode" presStyleCnt="0"/>
      <dgm:spPr/>
    </dgm:pt>
    <dgm:pt modelId="{32596148-2FEB-4CDF-87A0-FD4C22C317B4}" type="pres">
      <dgm:prSet presAssocID="{8F52AFC1-FB71-4772-A4B0-1CD3A99018EB}" presName="iconBgRect" presStyleLbl="bgShp" presStyleIdx="4" presStyleCnt="5"/>
      <dgm:spPr/>
    </dgm:pt>
    <dgm:pt modelId="{F4BDD755-839D-4219-A05B-8E185F8E1D51}" type="pres">
      <dgm:prSet presAssocID="{8F52AFC1-FB71-4772-A4B0-1CD3A99018EB}"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Suburban scene"/>
        </a:ext>
      </dgm:extLst>
    </dgm:pt>
    <dgm:pt modelId="{ACE3917F-6A66-4CFC-9562-035DAFCE956D}" type="pres">
      <dgm:prSet presAssocID="{8F52AFC1-FB71-4772-A4B0-1CD3A99018EB}" presName="spaceRect" presStyleCnt="0"/>
      <dgm:spPr/>
    </dgm:pt>
    <dgm:pt modelId="{87E65641-D83B-4B22-9EF8-9764EBB7231C}" type="pres">
      <dgm:prSet presAssocID="{8F52AFC1-FB71-4772-A4B0-1CD3A99018EB}" presName="textRect" presStyleLbl="revTx" presStyleIdx="4" presStyleCnt="5">
        <dgm:presLayoutVars>
          <dgm:chMax val="1"/>
          <dgm:chPref val="1"/>
        </dgm:presLayoutVars>
      </dgm:prSet>
      <dgm:spPr/>
    </dgm:pt>
  </dgm:ptLst>
  <dgm:cxnLst>
    <dgm:cxn modelId="{10EFAC02-753A-3244-85B3-6E02DF484F7E}" type="presOf" srcId="{371A9974-AB17-4CC0-A10F-821A24E5F7B6}" destId="{5AC596DC-C980-4C16-AEB1-3DFF98B9C6D3}" srcOrd="0" destOrd="0" presId="urn:microsoft.com/office/officeart/2018/2/layout/IconCircleList"/>
    <dgm:cxn modelId="{A075C514-11D8-274E-BE30-A4CE93902DDE}" type="presOf" srcId="{B4BD5A48-9CC5-4DE3-9187-4F1F139ECEAE}" destId="{3FF3D692-0969-4BF9-A597-E3E8600E15CA}" srcOrd="0" destOrd="0" presId="urn:microsoft.com/office/officeart/2018/2/layout/IconCircleList"/>
    <dgm:cxn modelId="{A851743F-E975-9B45-A8CD-3DC49B1814AE}" type="presOf" srcId="{67A89E57-8FDD-4ED6-AD3A-130741343328}" destId="{1A3C1247-B44E-4A86-AF85-3C96E17EFF49}" srcOrd="0" destOrd="0" presId="urn:microsoft.com/office/officeart/2018/2/layout/IconCircleList"/>
    <dgm:cxn modelId="{B16DFA50-AC13-4396-BE43-2F1E8E1EA656}" srcId="{BCAF09E1-1AE3-4EBE-88B9-83293C1C1E81}" destId="{20FEEB4A-EFC6-4A6A-863C-77E08DAE80BB}" srcOrd="1" destOrd="0" parTransId="{1A79C5EF-F744-469A-A9AF-6B64A76819C0}" sibTransId="{CBB12455-C0F9-4F80-8E6E-D19344DDEC9B}"/>
    <dgm:cxn modelId="{9B90A953-9F6C-2F45-ACC7-17B976D469C5}" type="presOf" srcId="{20FEEB4A-EFC6-4A6A-863C-77E08DAE80BB}" destId="{4E4D051C-5E6E-4ED7-9520-532D6F3B024F}" srcOrd="0" destOrd="0" presId="urn:microsoft.com/office/officeart/2018/2/layout/IconCircleList"/>
    <dgm:cxn modelId="{3ECAA254-06FB-4035-B73A-B30C9F2FDD4C}" srcId="{BCAF09E1-1AE3-4EBE-88B9-83293C1C1E81}" destId="{1503B9AB-BD6F-4C64-9517-457BD63C8722}" srcOrd="2" destOrd="0" parTransId="{BA014063-7CE2-4322-B60D-FA548B0FA8BA}" sibTransId="{B4BD5A48-9CC5-4DE3-9187-4F1F139ECEAE}"/>
    <dgm:cxn modelId="{E5B4D861-AB4D-1C40-9370-A46F6C2A57BA}" type="presOf" srcId="{1503B9AB-BD6F-4C64-9517-457BD63C8722}" destId="{8F9C2F4E-35D5-43AE-A469-A31C0277C0C0}" srcOrd="0" destOrd="0" presId="urn:microsoft.com/office/officeart/2018/2/layout/IconCircleList"/>
    <dgm:cxn modelId="{C0ACC58F-5A90-084D-9AC7-761A9466CF01}" type="presOf" srcId="{CBB12455-C0F9-4F80-8E6E-D19344DDEC9B}" destId="{8E95A8B5-567C-4F9A-AF40-F35E81DA303B}" srcOrd="0" destOrd="0" presId="urn:microsoft.com/office/officeart/2018/2/layout/IconCircleList"/>
    <dgm:cxn modelId="{97B4A494-765C-4A77-8D2D-D01FFB69A332}" srcId="{BCAF09E1-1AE3-4EBE-88B9-83293C1C1E81}" destId="{8F52AFC1-FB71-4772-A4B0-1CD3A99018EB}" srcOrd="4" destOrd="0" parTransId="{2D448931-2B3D-4EB1-9D14-1F69C308F3E7}" sibTransId="{482DDCB5-D033-40BC-867E-B61544F48DFF}"/>
    <dgm:cxn modelId="{868C3AA9-D899-A540-9DF4-A20C5C7141B0}" type="presOf" srcId="{F030163F-355E-4BF4-841B-742FE1F53D62}" destId="{0576C75E-FABD-4E3F-90E3-2B7D7067A4A1}" srcOrd="0" destOrd="0" presId="urn:microsoft.com/office/officeart/2018/2/layout/IconCircleList"/>
    <dgm:cxn modelId="{32A79EA9-94B9-F347-9432-71BCF4191E96}" type="presOf" srcId="{BCAF09E1-1AE3-4EBE-88B9-83293C1C1E81}" destId="{01669BDA-D870-4963-8BD8-FA82B3B8F04C}" srcOrd="0" destOrd="0" presId="urn:microsoft.com/office/officeart/2018/2/layout/IconCircleList"/>
    <dgm:cxn modelId="{277E18AE-29B5-1745-BAFB-E7050E73A174}" type="presOf" srcId="{8F52AFC1-FB71-4772-A4B0-1CD3A99018EB}" destId="{87E65641-D83B-4B22-9EF8-9764EBB7231C}" srcOrd="0" destOrd="0" presId="urn:microsoft.com/office/officeart/2018/2/layout/IconCircleList"/>
    <dgm:cxn modelId="{09C6D0B5-4AD0-9E42-B70A-61ACED5729FE}" type="presOf" srcId="{846C208F-F8DC-4650-845C-657D3E841624}" destId="{4B96EA59-D075-47A2-8AB6-B2E8CFB57CA7}" srcOrd="0" destOrd="0" presId="urn:microsoft.com/office/officeart/2018/2/layout/IconCircleList"/>
    <dgm:cxn modelId="{AFD639DE-9E06-41F0-ADDA-D278BA05012C}" srcId="{BCAF09E1-1AE3-4EBE-88B9-83293C1C1E81}" destId="{F030163F-355E-4BF4-841B-742FE1F53D62}" srcOrd="0" destOrd="0" parTransId="{50A1046D-BC09-4312-BA8F-3C231612391D}" sibTransId="{371A9974-AB17-4CC0-A10F-821A24E5F7B6}"/>
    <dgm:cxn modelId="{A23310FE-78B8-4DBA-9FA8-622ED51649E5}" srcId="{BCAF09E1-1AE3-4EBE-88B9-83293C1C1E81}" destId="{846C208F-F8DC-4650-845C-657D3E841624}" srcOrd="3" destOrd="0" parTransId="{265F18FD-0EA0-4071-8AA0-A2A9C681D046}" sibTransId="{67A89E57-8FDD-4ED6-AD3A-130741343328}"/>
    <dgm:cxn modelId="{6EF4ED0B-D835-0F4C-9C74-05260C585039}" type="presParOf" srcId="{01669BDA-D870-4963-8BD8-FA82B3B8F04C}" destId="{F6027DA0-01DA-4FAE-914A-C315EED24A27}" srcOrd="0" destOrd="0" presId="urn:microsoft.com/office/officeart/2018/2/layout/IconCircleList"/>
    <dgm:cxn modelId="{E0F0A6D9-64B4-B746-9AAC-FA54C162D393}" type="presParOf" srcId="{F6027DA0-01DA-4FAE-914A-C315EED24A27}" destId="{BD395BEE-5333-4B3E-92E0-6E173563889E}" srcOrd="0" destOrd="0" presId="urn:microsoft.com/office/officeart/2018/2/layout/IconCircleList"/>
    <dgm:cxn modelId="{D7417D76-1C25-C14B-A806-6F1792082987}" type="presParOf" srcId="{BD395BEE-5333-4B3E-92E0-6E173563889E}" destId="{81E3CDCE-7384-4AFB-88F1-32A13ED6C231}" srcOrd="0" destOrd="0" presId="urn:microsoft.com/office/officeart/2018/2/layout/IconCircleList"/>
    <dgm:cxn modelId="{B1D1F618-A1FA-0743-BE2F-B55DF45EE741}" type="presParOf" srcId="{BD395BEE-5333-4B3E-92E0-6E173563889E}" destId="{1068578D-1AC8-40CB-845F-E6806D159302}" srcOrd="1" destOrd="0" presId="urn:microsoft.com/office/officeart/2018/2/layout/IconCircleList"/>
    <dgm:cxn modelId="{6484FD0C-6945-C940-B11A-BA96CC81CDF0}" type="presParOf" srcId="{BD395BEE-5333-4B3E-92E0-6E173563889E}" destId="{8A965A1B-F42D-4EBB-923F-619193352F10}" srcOrd="2" destOrd="0" presId="urn:microsoft.com/office/officeart/2018/2/layout/IconCircleList"/>
    <dgm:cxn modelId="{1123B332-3E45-7C49-BF31-794AB423B22D}" type="presParOf" srcId="{BD395BEE-5333-4B3E-92E0-6E173563889E}" destId="{0576C75E-FABD-4E3F-90E3-2B7D7067A4A1}" srcOrd="3" destOrd="0" presId="urn:microsoft.com/office/officeart/2018/2/layout/IconCircleList"/>
    <dgm:cxn modelId="{BE4A0C33-9302-0A4E-B8C4-7100BECBBE54}" type="presParOf" srcId="{F6027DA0-01DA-4FAE-914A-C315EED24A27}" destId="{5AC596DC-C980-4C16-AEB1-3DFF98B9C6D3}" srcOrd="1" destOrd="0" presId="urn:microsoft.com/office/officeart/2018/2/layout/IconCircleList"/>
    <dgm:cxn modelId="{D3957F13-C832-0840-BBDD-EA2A630007CB}" type="presParOf" srcId="{F6027DA0-01DA-4FAE-914A-C315EED24A27}" destId="{98B33A55-3527-44AB-8FE2-FD66DCA83504}" srcOrd="2" destOrd="0" presId="urn:microsoft.com/office/officeart/2018/2/layout/IconCircleList"/>
    <dgm:cxn modelId="{30C3D1E0-DE6C-8C4B-909B-7D7DF680D7C6}" type="presParOf" srcId="{98B33A55-3527-44AB-8FE2-FD66DCA83504}" destId="{9DD7DA8A-3F23-4260-8A57-7B3930B572B5}" srcOrd="0" destOrd="0" presId="urn:microsoft.com/office/officeart/2018/2/layout/IconCircleList"/>
    <dgm:cxn modelId="{8ADB84B2-5AF8-D142-A7EF-FA7D7186B364}" type="presParOf" srcId="{98B33A55-3527-44AB-8FE2-FD66DCA83504}" destId="{3E0FC4BB-7799-48EE-A133-80A98BFCBCEC}" srcOrd="1" destOrd="0" presId="urn:microsoft.com/office/officeart/2018/2/layout/IconCircleList"/>
    <dgm:cxn modelId="{034A05E5-0690-7A41-AD57-F132942AE94F}" type="presParOf" srcId="{98B33A55-3527-44AB-8FE2-FD66DCA83504}" destId="{7BEE063E-3559-4BA1-9480-EE630667C439}" srcOrd="2" destOrd="0" presId="urn:microsoft.com/office/officeart/2018/2/layout/IconCircleList"/>
    <dgm:cxn modelId="{CC9F2EA2-2AEE-F144-B7FA-A7257FC812C9}" type="presParOf" srcId="{98B33A55-3527-44AB-8FE2-FD66DCA83504}" destId="{4E4D051C-5E6E-4ED7-9520-532D6F3B024F}" srcOrd="3" destOrd="0" presId="urn:microsoft.com/office/officeart/2018/2/layout/IconCircleList"/>
    <dgm:cxn modelId="{E46F7323-4F57-4D46-B660-94AF4FF1A15F}" type="presParOf" srcId="{F6027DA0-01DA-4FAE-914A-C315EED24A27}" destId="{8E95A8B5-567C-4F9A-AF40-F35E81DA303B}" srcOrd="3" destOrd="0" presId="urn:microsoft.com/office/officeart/2018/2/layout/IconCircleList"/>
    <dgm:cxn modelId="{CDF6B29A-EC7C-8047-A99C-78D88B532339}" type="presParOf" srcId="{F6027DA0-01DA-4FAE-914A-C315EED24A27}" destId="{38108DA7-6B8E-4582-BE62-D08C7C4453EB}" srcOrd="4" destOrd="0" presId="urn:microsoft.com/office/officeart/2018/2/layout/IconCircleList"/>
    <dgm:cxn modelId="{0E4FD6B8-DB8E-D642-A5C6-C96ED6C5E669}" type="presParOf" srcId="{38108DA7-6B8E-4582-BE62-D08C7C4453EB}" destId="{D63D441A-992D-4DC8-8BAE-89D0500EED56}" srcOrd="0" destOrd="0" presId="urn:microsoft.com/office/officeart/2018/2/layout/IconCircleList"/>
    <dgm:cxn modelId="{E456A683-8341-DB45-B5CD-535FE1635596}" type="presParOf" srcId="{38108DA7-6B8E-4582-BE62-D08C7C4453EB}" destId="{52C2F711-77A7-4A58-AB8E-F864DBFF4C96}" srcOrd="1" destOrd="0" presId="urn:microsoft.com/office/officeart/2018/2/layout/IconCircleList"/>
    <dgm:cxn modelId="{546B3442-7A5A-354E-B477-2AB7AAFBE4D3}" type="presParOf" srcId="{38108DA7-6B8E-4582-BE62-D08C7C4453EB}" destId="{616E84E1-F0F9-4AA7-965B-25A9FA52DCDF}" srcOrd="2" destOrd="0" presId="urn:microsoft.com/office/officeart/2018/2/layout/IconCircleList"/>
    <dgm:cxn modelId="{A888426B-9E20-1B45-9FA7-5B46EF3D2844}" type="presParOf" srcId="{38108DA7-6B8E-4582-BE62-D08C7C4453EB}" destId="{8F9C2F4E-35D5-43AE-A469-A31C0277C0C0}" srcOrd="3" destOrd="0" presId="urn:microsoft.com/office/officeart/2018/2/layout/IconCircleList"/>
    <dgm:cxn modelId="{6FE89A52-73E6-CC4F-BF0A-B2118DFDE969}" type="presParOf" srcId="{F6027DA0-01DA-4FAE-914A-C315EED24A27}" destId="{3FF3D692-0969-4BF9-A597-E3E8600E15CA}" srcOrd="5" destOrd="0" presId="urn:microsoft.com/office/officeart/2018/2/layout/IconCircleList"/>
    <dgm:cxn modelId="{2D453F3D-D287-D247-ABB7-322509695150}" type="presParOf" srcId="{F6027DA0-01DA-4FAE-914A-C315EED24A27}" destId="{D2AA0906-2B9B-413E-8992-9A19C4868D0B}" srcOrd="6" destOrd="0" presId="urn:microsoft.com/office/officeart/2018/2/layout/IconCircleList"/>
    <dgm:cxn modelId="{A6AAC3EE-C83F-9344-9053-D05EF8A24231}" type="presParOf" srcId="{D2AA0906-2B9B-413E-8992-9A19C4868D0B}" destId="{63BB00D9-9352-46D1-889F-1141E4E3E4A5}" srcOrd="0" destOrd="0" presId="urn:microsoft.com/office/officeart/2018/2/layout/IconCircleList"/>
    <dgm:cxn modelId="{0B9D1DE8-FAED-8447-B442-9BB827D46C49}" type="presParOf" srcId="{D2AA0906-2B9B-413E-8992-9A19C4868D0B}" destId="{C116BC2E-40E9-401E-850F-8B9E45915B53}" srcOrd="1" destOrd="0" presId="urn:microsoft.com/office/officeart/2018/2/layout/IconCircleList"/>
    <dgm:cxn modelId="{9A8D4575-87F2-6D49-959D-5A3B4508F54C}" type="presParOf" srcId="{D2AA0906-2B9B-413E-8992-9A19C4868D0B}" destId="{DE5D3E15-0175-413F-90A9-A1D2D100E81F}" srcOrd="2" destOrd="0" presId="urn:microsoft.com/office/officeart/2018/2/layout/IconCircleList"/>
    <dgm:cxn modelId="{6761479F-FC90-A343-B2C6-43449B965630}" type="presParOf" srcId="{D2AA0906-2B9B-413E-8992-9A19C4868D0B}" destId="{4B96EA59-D075-47A2-8AB6-B2E8CFB57CA7}" srcOrd="3" destOrd="0" presId="urn:microsoft.com/office/officeart/2018/2/layout/IconCircleList"/>
    <dgm:cxn modelId="{81075820-F1B4-2746-BA7F-2B676477D6BB}" type="presParOf" srcId="{F6027DA0-01DA-4FAE-914A-C315EED24A27}" destId="{1A3C1247-B44E-4A86-AF85-3C96E17EFF49}" srcOrd="7" destOrd="0" presId="urn:microsoft.com/office/officeart/2018/2/layout/IconCircleList"/>
    <dgm:cxn modelId="{D50AD526-AB05-4C44-B2B4-1E482DC1110F}" type="presParOf" srcId="{F6027DA0-01DA-4FAE-914A-C315EED24A27}" destId="{BE340500-F7F2-41CD-8226-B29033D5378F}" srcOrd="8" destOrd="0" presId="urn:microsoft.com/office/officeart/2018/2/layout/IconCircleList"/>
    <dgm:cxn modelId="{7D9820BB-8C9D-B54B-A786-D15D4B64AD29}" type="presParOf" srcId="{BE340500-F7F2-41CD-8226-B29033D5378F}" destId="{32596148-2FEB-4CDF-87A0-FD4C22C317B4}" srcOrd="0" destOrd="0" presId="urn:microsoft.com/office/officeart/2018/2/layout/IconCircleList"/>
    <dgm:cxn modelId="{1839A43B-242E-F746-8B5F-C81CCB5005E8}" type="presParOf" srcId="{BE340500-F7F2-41CD-8226-B29033D5378F}" destId="{F4BDD755-839D-4219-A05B-8E185F8E1D51}" srcOrd="1" destOrd="0" presId="urn:microsoft.com/office/officeart/2018/2/layout/IconCircleList"/>
    <dgm:cxn modelId="{1D6688C3-5CA9-2341-9007-D8066DA9025A}" type="presParOf" srcId="{BE340500-F7F2-41CD-8226-B29033D5378F}" destId="{ACE3917F-6A66-4CFC-9562-035DAFCE956D}" srcOrd="2" destOrd="0" presId="urn:microsoft.com/office/officeart/2018/2/layout/IconCircleList"/>
    <dgm:cxn modelId="{0FAC6D9A-F852-C44C-9B4A-8D365BC81C97}" type="presParOf" srcId="{BE340500-F7F2-41CD-8226-B29033D5378F}" destId="{87E65641-D83B-4B22-9EF8-9764EBB7231C}" srcOrd="3" destOrd="0" presId="urn:microsoft.com/office/officeart/2018/2/layout/IconCircleList"/>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E29BF98-63AA-4C0D-8956-FA542C58A8A7}" type="doc">
      <dgm:prSet loTypeId="urn:microsoft.com/office/officeart/2005/8/layout/orgChart1" loCatId="hierarchy" qsTypeId="urn:microsoft.com/office/officeart/2005/8/quickstyle/simple1" qsCatId="simple" csTypeId="urn:microsoft.com/office/officeart/2005/8/colors/accent1_2" csCatId="accent1"/>
      <dgm:spPr/>
      <dgm:t>
        <a:bodyPr/>
        <a:lstStyle/>
        <a:p>
          <a:endParaRPr lang="en-US"/>
        </a:p>
      </dgm:t>
    </dgm:pt>
    <dgm:pt modelId="{C512F616-6270-428A-BAA2-BC256EC37725}">
      <dgm:prSet/>
      <dgm:spPr/>
      <dgm:t>
        <a:bodyPr/>
        <a:lstStyle/>
        <a:p>
          <a:r>
            <a:rPr lang="zh-CN"/>
            <a:t>Missing Value Treatment</a:t>
          </a:r>
          <a:endParaRPr lang="en-US"/>
        </a:p>
      </dgm:t>
    </dgm:pt>
    <dgm:pt modelId="{0262157B-D3DA-40D1-A573-29CEB0747D9E}" type="parTrans" cxnId="{66906933-0253-499D-9841-2CE6C7FA734D}">
      <dgm:prSet/>
      <dgm:spPr/>
      <dgm:t>
        <a:bodyPr/>
        <a:lstStyle/>
        <a:p>
          <a:endParaRPr lang="en-US"/>
        </a:p>
      </dgm:t>
    </dgm:pt>
    <dgm:pt modelId="{8CEA1554-6060-4D39-8FCD-4A373C51B3CA}" type="sibTrans" cxnId="{66906933-0253-499D-9841-2CE6C7FA734D}">
      <dgm:prSet/>
      <dgm:spPr/>
      <dgm:t>
        <a:bodyPr/>
        <a:lstStyle/>
        <a:p>
          <a:endParaRPr lang="en-US"/>
        </a:p>
      </dgm:t>
    </dgm:pt>
    <dgm:pt modelId="{127BD951-2A0C-4A9F-9806-9ACA76D2B9EB}">
      <dgm:prSet/>
      <dgm:spPr/>
      <dgm:t>
        <a:bodyPr/>
        <a:lstStyle/>
        <a:p>
          <a:r>
            <a:rPr lang="zh-CN" dirty="0"/>
            <a:t>Removed features with missing rate higher than 40% to ensure data quality</a:t>
          </a:r>
          <a:endParaRPr lang="en-US" dirty="0"/>
        </a:p>
      </dgm:t>
    </dgm:pt>
    <dgm:pt modelId="{D8C96379-9899-484F-826D-6F9A60147124}" type="parTrans" cxnId="{CF90377B-A51D-4A2A-B085-FE63F3B75197}">
      <dgm:prSet/>
      <dgm:spPr/>
      <dgm:t>
        <a:bodyPr/>
        <a:lstStyle/>
        <a:p>
          <a:endParaRPr lang="en-US"/>
        </a:p>
      </dgm:t>
    </dgm:pt>
    <dgm:pt modelId="{E8410D15-FEA6-4170-A0E9-641EFE7C4832}" type="sibTrans" cxnId="{CF90377B-A51D-4A2A-B085-FE63F3B75197}">
      <dgm:prSet/>
      <dgm:spPr/>
      <dgm:t>
        <a:bodyPr/>
        <a:lstStyle/>
        <a:p>
          <a:endParaRPr lang="en-US"/>
        </a:p>
      </dgm:t>
    </dgm:pt>
    <dgm:pt modelId="{1CDD78AB-C1C2-4413-AB68-B1068B6391F1}">
      <dgm:prSet/>
      <dgm:spPr/>
      <dgm:t>
        <a:bodyPr/>
        <a:lstStyle/>
        <a:p>
          <a:r>
            <a:rPr lang="zh-CN" dirty="0"/>
            <a:t>Applied linear interpolation for time series data including ratings and reviews</a:t>
          </a:r>
          <a:endParaRPr lang="en-US" dirty="0"/>
        </a:p>
      </dgm:t>
    </dgm:pt>
    <dgm:pt modelId="{9CA546BC-824C-40CE-9522-508755A28FEE}" type="parTrans" cxnId="{34E990DE-7247-4389-A133-D4CE8EFFB787}">
      <dgm:prSet/>
      <dgm:spPr/>
      <dgm:t>
        <a:bodyPr/>
        <a:lstStyle/>
        <a:p>
          <a:endParaRPr lang="en-US"/>
        </a:p>
      </dgm:t>
    </dgm:pt>
    <dgm:pt modelId="{42BA01FB-A8B3-4F78-8905-A6AF8C9FAECF}" type="sibTrans" cxnId="{34E990DE-7247-4389-A133-D4CE8EFFB787}">
      <dgm:prSet/>
      <dgm:spPr/>
      <dgm:t>
        <a:bodyPr/>
        <a:lstStyle/>
        <a:p>
          <a:endParaRPr lang="en-US"/>
        </a:p>
      </dgm:t>
    </dgm:pt>
    <dgm:pt modelId="{027EBA51-D937-4A83-8876-6F4BADE58803}">
      <dgm:prSet/>
      <dgm:spPr/>
      <dgm:t>
        <a:bodyPr/>
        <a:lstStyle/>
        <a:p>
          <a:r>
            <a:rPr lang="zh-CN" dirty="0"/>
            <a:t>Used neighborhood-based median imputation for availability and pricing data</a:t>
          </a:r>
          <a:endParaRPr lang="en-US" dirty="0"/>
        </a:p>
      </dgm:t>
    </dgm:pt>
    <dgm:pt modelId="{E954AFEB-5574-46E2-B36B-1DB6D5EAE787}" type="parTrans" cxnId="{284B8E1F-EF8D-4639-B25B-BCAFF66D72DA}">
      <dgm:prSet/>
      <dgm:spPr/>
      <dgm:t>
        <a:bodyPr/>
        <a:lstStyle/>
        <a:p>
          <a:endParaRPr lang="en-US"/>
        </a:p>
      </dgm:t>
    </dgm:pt>
    <dgm:pt modelId="{FC42C5BA-EA1E-4ABD-8473-95439AC21767}" type="sibTrans" cxnId="{284B8E1F-EF8D-4639-B25B-BCAFF66D72DA}">
      <dgm:prSet/>
      <dgm:spPr/>
      <dgm:t>
        <a:bodyPr/>
        <a:lstStyle/>
        <a:p>
          <a:endParaRPr lang="en-US"/>
        </a:p>
      </dgm:t>
    </dgm:pt>
    <dgm:pt modelId="{5F3FFE89-D776-4577-9A37-A43C84F35488}">
      <dgm:prSet/>
      <dgm:spPr/>
      <dgm:t>
        <a:bodyPr/>
        <a:lstStyle/>
        <a:p>
          <a:r>
            <a:rPr lang="zh-CN" dirty="0"/>
            <a:t>Filled categorical variables with mode values by neighborhood groups</a:t>
          </a:r>
          <a:endParaRPr lang="en-US" dirty="0"/>
        </a:p>
      </dgm:t>
    </dgm:pt>
    <dgm:pt modelId="{5478E514-41A9-4E23-939D-645901131853}" type="parTrans" cxnId="{713459D8-0B27-4B7A-9E13-F68F3C50AF41}">
      <dgm:prSet/>
      <dgm:spPr/>
      <dgm:t>
        <a:bodyPr/>
        <a:lstStyle/>
        <a:p>
          <a:endParaRPr lang="en-US"/>
        </a:p>
      </dgm:t>
    </dgm:pt>
    <dgm:pt modelId="{0342A437-3CFC-405A-9686-8B41FC0C1933}" type="sibTrans" cxnId="{713459D8-0B27-4B7A-9E13-F68F3C50AF41}">
      <dgm:prSet/>
      <dgm:spPr/>
      <dgm:t>
        <a:bodyPr/>
        <a:lstStyle/>
        <a:p>
          <a:endParaRPr lang="en-US"/>
        </a:p>
      </dgm:t>
    </dgm:pt>
    <dgm:pt modelId="{145E5FC6-A46D-48F2-8284-A80E4ECD78EC}">
      <dgm:prSet/>
      <dgm:spPr/>
      <dgm:t>
        <a:bodyPr/>
        <a:lstStyle/>
        <a:p>
          <a:r>
            <a:rPr lang="zh-CN" dirty="0"/>
            <a:t>Applied median imputation for remaining numeric variables</a:t>
          </a:r>
          <a:endParaRPr lang="en-US" dirty="0"/>
        </a:p>
      </dgm:t>
    </dgm:pt>
    <dgm:pt modelId="{CF24A80C-57DF-4B24-A4E0-C9C0BAE98505}" type="parTrans" cxnId="{1DCB53EC-5779-43E6-BE6C-E5909D69FEAE}">
      <dgm:prSet/>
      <dgm:spPr/>
      <dgm:t>
        <a:bodyPr/>
        <a:lstStyle/>
        <a:p>
          <a:endParaRPr lang="en-US"/>
        </a:p>
      </dgm:t>
    </dgm:pt>
    <dgm:pt modelId="{45DBF670-9C32-4BEA-8947-58133102F1C1}" type="sibTrans" cxnId="{1DCB53EC-5779-43E6-BE6C-E5909D69FEAE}">
      <dgm:prSet/>
      <dgm:spPr/>
      <dgm:t>
        <a:bodyPr/>
        <a:lstStyle/>
        <a:p>
          <a:endParaRPr lang="en-US"/>
        </a:p>
      </dgm:t>
    </dgm:pt>
    <dgm:pt modelId="{2BD92A61-BFE8-8F43-A96C-2E2D86C3D4CC}" type="pres">
      <dgm:prSet presAssocID="{1E29BF98-63AA-4C0D-8956-FA542C58A8A7}" presName="hierChild1" presStyleCnt="0">
        <dgm:presLayoutVars>
          <dgm:orgChart val="1"/>
          <dgm:chPref val="1"/>
          <dgm:dir/>
          <dgm:animOne val="branch"/>
          <dgm:animLvl val="lvl"/>
          <dgm:resizeHandles/>
        </dgm:presLayoutVars>
      </dgm:prSet>
      <dgm:spPr/>
    </dgm:pt>
    <dgm:pt modelId="{5D4A88A7-5DA6-1448-8C10-0C6839E24FFD}" type="pres">
      <dgm:prSet presAssocID="{C512F616-6270-428A-BAA2-BC256EC37725}" presName="hierRoot1" presStyleCnt="0">
        <dgm:presLayoutVars>
          <dgm:hierBranch val="init"/>
        </dgm:presLayoutVars>
      </dgm:prSet>
      <dgm:spPr/>
    </dgm:pt>
    <dgm:pt modelId="{2CC2B9B0-1ED2-5F45-93CC-CC9764FE8E99}" type="pres">
      <dgm:prSet presAssocID="{C512F616-6270-428A-BAA2-BC256EC37725}" presName="rootComposite1" presStyleCnt="0"/>
      <dgm:spPr/>
    </dgm:pt>
    <dgm:pt modelId="{2AEB886C-D4B6-254D-9BDC-03DF91796F7B}" type="pres">
      <dgm:prSet presAssocID="{C512F616-6270-428A-BAA2-BC256EC37725}" presName="rootText1" presStyleLbl="node0" presStyleIdx="0" presStyleCnt="1">
        <dgm:presLayoutVars>
          <dgm:chPref val="3"/>
        </dgm:presLayoutVars>
      </dgm:prSet>
      <dgm:spPr/>
    </dgm:pt>
    <dgm:pt modelId="{AB385EA0-1213-3648-9B8B-79D3BC6E13AC}" type="pres">
      <dgm:prSet presAssocID="{C512F616-6270-428A-BAA2-BC256EC37725}" presName="rootConnector1" presStyleLbl="node1" presStyleIdx="0" presStyleCnt="0"/>
      <dgm:spPr/>
    </dgm:pt>
    <dgm:pt modelId="{ABCE5D81-05DE-C547-AD32-3F47004CDED4}" type="pres">
      <dgm:prSet presAssocID="{C512F616-6270-428A-BAA2-BC256EC37725}" presName="hierChild2" presStyleCnt="0"/>
      <dgm:spPr/>
    </dgm:pt>
    <dgm:pt modelId="{249F4208-8B60-5344-9FB4-14E47339A179}" type="pres">
      <dgm:prSet presAssocID="{D8C96379-9899-484F-826D-6F9A60147124}" presName="Name37" presStyleLbl="parChTrans1D2" presStyleIdx="0" presStyleCnt="5"/>
      <dgm:spPr/>
    </dgm:pt>
    <dgm:pt modelId="{D8AA7C1A-D2D6-AF45-ABFA-428C25C844C5}" type="pres">
      <dgm:prSet presAssocID="{127BD951-2A0C-4A9F-9806-9ACA76D2B9EB}" presName="hierRoot2" presStyleCnt="0">
        <dgm:presLayoutVars>
          <dgm:hierBranch val="init"/>
        </dgm:presLayoutVars>
      </dgm:prSet>
      <dgm:spPr/>
    </dgm:pt>
    <dgm:pt modelId="{E28CD108-0247-5D45-BA04-73B0196BE611}" type="pres">
      <dgm:prSet presAssocID="{127BD951-2A0C-4A9F-9806-9ACA76D2B9EB}" presName="rootComposite" presStyleCnt="0"/>
      <dgm:spPr/>
    </dgm:pt>
    <dgm:pt modelId="{F2D65137-4CF9-6E40-9A52-EBD0CEB12957}" type="pres">
      <dgm:prSet presAssocID="{127BD951-2A0C-4A9F-9806-9ACA76D2B9EB}" presName="rootText" presStyleLbl="node2" presStyleIdx="0" presStyleCnt="5">
        <dgm:presLayoutVars>
          <dgm:chPref val="3"/>
        </dgm:presLayoutVars>
      </dgm:prSet>
      <dgm:spPr/>
    </dgm:pt>
    <dgm:pt modelId="{CDC3CAF8-D195-A24C-8DC3-8F86F18F0FEE}" type="pres">
      <dgm:prSet presAssocID="{127BD951-2A0C-4A9F-9806-9ACA76D2B9EB}" presName="rootConnector" presStyleLbl="node2" presStyleIdx="0" presStyleCnt="5"/>
      <dgm:spPr/>
    </dgm:pt>
    <dgm:pt modelId="{CBE88824-5058-5940-88D2-2AFFA1CC54FA}" type="pres">
      <dgm:prSet presAssocID="{127BD951-2A0C-4A9F-9806-9ACA76D2B9EB}" presName="hierChild4" presStyleCnt="0"/>
      <dgm:spPr/>
    </dgm:pt>
    <dgm:pt modelId="{6A3CC155-B28F-A241-844C-BC85FDB11866}" type="pres">
      <dgm:prSet presAssocID="{127BD951-2A0C-4A9F-9806-9ACA76D2B9EB}" presName="hierChild5" presStyleCnt="0"/>
      <dgm:spPr/>
    </dgm:pt>
    <dgm:pt modelId="{6D5C213F-198B-144B-B798-EEB8A6DA49AC}" type="pres">
      <dgm:prSet presAssocID="{9CA546BC-824C-40CE-9522-508755A28FEE}" presName="Name37" presStyleLbl="parChTrans1D2" presStyleIdx="1" presStyleCnt="5"/>
      <dgm:spPr/>
    </dgm:pt>
    <dgm:pt modelId="{58D84D4F-E55C-5444-8283-314685DC9117}" type="pres">
      <dgm:prSet presAssocID="{1CDD78AB-C1C2-4413-AB68-B1068B6391F1}" presName="hierRoot2" presStyleCnt="0">
        <dgm:presLayoutVars>
          <dgm:hierBranch val="init"/>
        </dgm:presLayoutVars>
      </dgm:prSet>
      <dgm:spPr/>
    </dgm:pt>
    <dgm:pt modelId="{9D17D507-5671-6044-BB85-DCF83E527EFD}" type="pres">
      <dgm:prSet presAssocID="{1CDD78AB-C1C2-4413-AB68-B1068B6391F1}" presName="rootComposite" presStyleCnt="0"/>
      <dgm:spPr/>
    </dgm:pt>
    <dgm:pt modelId="{8AC71E67-6C47-D443-A0F3-427F2FD4D64A}" type="pres">
      <dgm:prSet presAssocID="{1CDD78AB-C1C2-4413-AB68-B1068B6391F1}" presName="rootText" presStyleLbl="node2" presStyleIdx="1" presStyleCnt="5">
        <dgm:presLayoutVars>
          <dgm:chPref val="3"/>
        </dgm:presLayoutVars>
      </dgm:prSet>
      <dgm:spPr/>
    </dgm:pt>
    <dgm:pt modelId="{8B45E825-B776-0A4F-829F-5B2A0B7EE3E0}" type="pres">
      <dgm:prSet presAssocID="{1CDD78AB-C1C2-4413-AB68-B1068B6391F1}" presName="rootConnector" presStyleLbl="node2" presStyleIdx="1" presStyleCnt="5"/>
      <dgm:spPr/>
    </dgm:pt>
    <dgm:pt modelId="{F0FC5BDB-A506-BC43-AAC4-202D4307CDDA}" type="pres">
      <dgm:prSet presAssocID="{1CDD78AB-C1C2-4413-AB68-B1068B6391F1}" presName="hierChild4" presStyleCnt="0"/>
      <dgm:spPr/>
    </dgm:pt>
    <dgm:pt modelId="{04DA68DD-D5B4-C045-B9BE-872F097E5908}" type="pres">
      <dgm:prSet presAssocID="{1CDD78AB-C1C2-4413-AB68-B1068B6391F1}" presName="hierChild5" presStyleCnt="0"/>
      <dgm:spPr/>
    </dgm:pt>
    <dgm:pt modelId="{4805BA2B-5E58-5B41-BE85-8D1DC5E99705}" type="pres">
      <dgm:prSet presAssocID="{E954AFEB-5574-46E2-B36B-1DB6D5EAE787}" presName="Name37" presStyleLbl="parChTrans1D2" presStyleIdx="2" presStyleCnt="5"/>
      <dgm:spPr/>
    </dgm:pt>
    <dgm:pt modelId="{D530DAEF-84F2-3A43-ACA6-FFCCD08EBB57}" type="pres">
      <dgm:prSet presAssocID="{027EBA51-D937-4A83-8876-6F4BADE58803}" presName="hierRoot2" presStyleCnt="0">
        <dgm:presLayoutVars>
          <dgm:hierBranch val="init"/>
        </dgm:presLayoutVars>
      </dgm:prSet>
      <dgm:spPr/>
    </dgm:pt>
    <dgm:pt modelId="{8A66AEE2-3F22-B84C-8000-7A8A491393DB}" type="pres">
      <dgm:prSet presAssocID="{027EBA51-D937-4A83-8876-6F4BADE58803}" presName="rootComposite" presStyleCnt="0"/>
      <dgm:spPr/>
    </dgm:pt>
    <dgm:pt modelId="{4C524C19-3D72-A847-A908-593FBFCF20FC}" type="pres">
      <dgm:prSet presAssocID="{027EBA51-D937-4A83-8876-6F4BADE58803}" presName="rootText" presStyleLbl="node2" presStyleIdx="2" presStyleCnt="5">
        <dgm:presLayoutVars>
          <dgm:chPref val="3"/>
        </dgm:presLayoutVars>
      </dgm:prSet>
      <dgm:spPr/>
    </dgm:pt>
    <dgm:pt modelId="{09C36155-9AD4-964E-8A92-9200028764FE}" type="pres">
      <dgm:prSet presAssocID="{027EBA51-D937-4A83-8876-6F4BADE58803}" presName="rootConnector" presStyleLbl="node2" presStyleIdx="2" presStyleCnt="5"/>
      <dgm:spPr/>
    </dgm:pt>
    <dgm:pt modelId="{B2F8EB7A-9045-2D4B-B6D2-D21356C6EB19}" type="pres">
      <dgm:prSet presAssocID="{027EBA51-D937-4A83-8876-6F4BADE58803}" presName="hierChild4" presStyleCnt="0"/>
      <dgm:spPr/>
    </dgm:pt>
    <dgm:pt modelId="{4BD2B2AC-5F95-C84B-93AD-5890D20979C2}" type="pres">
      <dgm:prSet presAssocID="{027EBA51-D937-4A83-8876-6F4BADE58803}" presName="hierChild5" presStyleCnt="0"/>
      <dgm:spPr/>
    </dgm:pt>
    <dgm:pt modelId="{C2E55CA7-93ED-984A-A095-B8291F03B0C2}" type="pres">
      <dgm:prSet presAssocID="{5478E514-41A9-4E23-939D-645901131853}" presName="Name37" presStyleLbl="parChTrans1D2" presStyleIdx="3" presStyleCnt="5"/>
      <dgm:spPr/>
    </dgm:pt>
    <dgm:pt modelId="{BEAEE03F-B2B7-EF47-81AD-0E88505D2B1B}" type="pres">
      <dgm:prSet presAssocID="{5F3FFE89-D776-4577-9A37-A43C84F35488}" presName="hierRoot2" presStyleCnt="0">
        <dgm:presLayoutVars>
          <dgm:hierBranch val="init"/>
        </dgm:presLayoutVars>
      </dgm:prSet>
      <dgm:spPr/>
    </dgm:pt>
    <dgm:pt modelId="{2B0C6CAD-CECD-1742-80A2-D1684E64CFF3}" type="pres">
      <dgm:prSet presAssocID="{5F3FFE89-D776-4577-9A37-A43C84F35488}" presName="rootComposite" presStyleCnt="0"/>
      <dgm:spPr/>
    </dgm:pt>
    <dgm:pt modelId="{D632B79A-55BD-E946-845C-57BB27F641F2}" type="pres">
      <dgm:prSet presAssocID="{5F3FFE89-D776-4577-9A37-A43C84F35488}" presName="rootText" presStyleLbl="node2" presStyleIdx="3" presStyleCnt="5">
        <dgm:presLayoutVars>
          <dgm:chPref val="3"/>
        </dgm:presLayoutVars>
      </dgm:prSet>
      <dgm:spPr/>
    </dgm:pt>
    <dgm:pt modelId="{FAF6B680-6B33-DD46-8786-E7F937EAE48D}" type="pres">
      <dgm:prSet presAssocID="{5F3FFE89-D776-4577-9A37-A43C84F35488}" presName="rootConnector" presStyleLbl="node2" presStyleIdx="3" presStyleCnt="5"/>
      <dgm:spPr/>
    </dgm:pt>
    <dgm:pt modelId="{1C902CA6-5169-3C48-AB6A-06A9AB040217}" type="pres">
      <dgm:prSet presAssocID="{5F3FFE89-D776-4577-9A37-A43C84F35488}" presName="hierChild4" presStyleCnt="0"/>
      <dgm:spPr/>
    </dgm:pt>
    <dgm:pt modelId="{4371E9A3-1793-C94B-96EE-7B025A809309}" type="pres">
      <dgm:prSet presAssocID="{5F3FFE89-D776-4577-9A37-A43C84F35488}" presName="hierChild5" presStyleCnt="0"/>
      <dgm:spPr/>
    </dgm:pt>
    <dgm:pt modelId="{078A8456-5467-B042-982A-1C765D7FE1C6}" type="pres">
      <dgm:prSet presAssocID="{CF24A80C-57DF-4B24-A4E0-C9C0BAE98505}" presName="Name37" presStyleLbl="parChTrans1D2" presStyleIdx="4" presStyleCnt="5"/>
      <dgm:spPr/>
    </dgm:pt>
    <dgm:pt modelId="{DAB97791-6E18-8349-8761-A00AC0E39EFA}" type="pres">
      <dgm:prSet presAssocID="{145E5FC6-A46D-48F2-8284-A80E4ECD78EC}" presName="hierRoot2" presStyleCnt="0">
        <dgm:presLayoutVars>
          <dgm:hierBranch val="init"/>
        </dgm:presLayoutVars>
      </dgm:prSet>
      <dgm:spPr/>
    </dgm:pt>
    <dgm:pt modelId="{1FFDCC51-9917-9C42-955D-00AA98F1FE8D}" type="pres">
      <dgm:prSet presAssocID="{145E5FC6-A46D-48F2-8284-A80E4ECD78EC}" presName="rootComposite" presStyleCnt="0"/>
      <dgm:spPr/>
    </dgm:pt>
    <dgm:pt modelId="{981175E7-BB86-264E-9240-21BA79B63D9B}" type="pres">
      <dgm:prSet presAssocID="{145E5FC6-A46D-48F2-8284-A80E4ECD78EC}" presName="rootText" presStyleLbl="node2" presStyleIdx="4" presStyleCnt="5">
        <dgm:presLayoutVars>
          <dgm:chPref val="3"/>
        </dgm:presLayoutVars>
      </dgm:prSet>
      <dgm:spPr/>
    </dgm:pt>
    <dgm:pt modelId="{C075A43B-96FA-0A4E-AA06-85245B44A092}" type="pres">
      <dgm:prSet presAssocID="{145E5FC6-A46D-48F2-8284-A80E4ECD78EC}" presName="rootConnector" presStyleLbl="node2" presStyleIdx="4" presStyleCnt="5"/>
      <dgm:spPr/>
    </dgm:pt>
    <dgm:pt modelId="{ABD37D61-F62B-1D4B-927A-DEC3310D4725}" type="pres">
      <dgm:prSet presAssocID="{145E5FC6-A46D-48F2-8284-A80E4ECD78EC}" presName="hierChild4" presStyleCnt="0"/>
      <dgm:spPr/>
    </dgm:pt>
    <dgm:pt modelId="{1CFE4B01-268E-D849-BF7B-8542F9EAA295}" type="pres">
      <dgm:prSet presAssocID="{145E5FC6-A46D-48F2-8284-A80E4ECD78EC}" presName="hierChild5" presStyleCnt="0"/>
      <dgm:spPr/>
    </dgm:pt>
    <dgm:pt modelId="{CCCBAA88-2179-4D46-986E-647F9EAA2A65}" type="pres">
      <dgm:prSet presAssocID="{C512F616-6270-428A-BAA2-BC256EC37725}" presName="hierChild3" presStyleCnt="0"/>
      <dgm:spPr/>
    </dgm:pt>
  </dgm:ptLst>
  <dgm:cxnLst>
    <dgm:cxn modelId="{284B8E1F-EF8D-4639-B25B-BCAFF66D72DA}" srcId="{C512F616-6270-428A-BAA2-BC256EC37725}" destId="{027EBA51-D937-4A83-8876-6F4BADE58803}" srcOrd="2" destOrd="0" parTransId="{E954AFEB-5574-46E2-B36B-1DB6D5EAE787}" sibTransId="{FC42C5BA-EA1E-4ABD-8473-95439AC21767}"/>
    <dgm:cxn modelId="{BD41C123-7C27-5348-BDA5-13CDAF868B7D}" type="presOf" srcId="{127BD951-2A0C-4A9F-9806-9ACA76D2B9EB}" destId="{CDC3CAF8-D195-A24C-8DC3-8F86F18F0FEE}" srcOrd="1" destOrd="0" presId="urn:microsoft.com/office/officeart/2005/8/layout/orgChart1"/>
    <dgm:cxn modelId="{09284125-A107-9A48-B528-8DEDF4E25072}" type="presOf" srcId="{9CA546BC-824C-40CE-9522-508755A28FEE}" destId="{6D5C213F-198B-144B-B798-EEB8A6DA49AC}" srcOrd="0" destOrd="0" presId="urn:microsoft.com/office/officeart/2005/8/layout/orgChart1"/>
    <dgm:cxn modelId="{48671630-613C-ED49-A418-7DBBB90A064B}" type="presOf" srcId="{5F3FFE89-D776-4577-9A37-A43C84F35488}" destId="{FAF6B680-6B33-DD46-8786-E7F937EAE48D}" srcOrd="1" destOrd="0" presId="urn:microsoft.com/office/officeart/2005/8/layout/orgChart1"/>
    <dgm:cxn modelId="{66906933-0253-499D-9841-2CE6C7FA734D}" srcId="{1E29BF98-63AA-4C0D-8956-FA542C58A8A7}" destId="{C512F616-6270-428A-BAA2-BC256EC37725}" srcOrd="0" destOrd="0" parTransId="{0262157B-D3DA-40D1-A573-29CEB0747D9E}" sibTransId="{8CEA1554-6060-4D39-8FCD-4A373C51B3CA}"/>
    <dgm:cxn modelId="{D0CC0B38-1D82-C949-A1FE-1CA1CA028847}" type="presOf" srcId="{145E5FC6-A46D-48F2-8284-A80E4ECD78EC}" destId="{981175E7-BB86-264E-9240-21BA79B63D9B}" srcOrd="0" destOrd="0" presId="urn:microsoft.com/office/officeart/2005/8/layout/orgChart1"/>
    <dgm:cxn modelId="{F03D354C-BC2E-6745-893E-0A96F9C8F707}" type="presOf" srcId="{145E5FC6-A46D-48F2-8284-A80E4ECD78EC}" destId="{C075A43B-96FA-0A4E-AA06-85245B44A092}" srcOrd="1" destOrd="0" presId="urn:microsoft.com/office/officeart/2005/8/layout/orgChart1"/>
    <dgm:cxn modelId="{FE82B65A-0D75-1947-86DD-8257F9F7D5F1}" type="presOf" srcId="{027EBA51-D937-4A83-8876-6F4BADE58803}" destId="{09C36155-9AD4-964E-8A92-9200028764FE}" srcOrd="1" destOrd="0" presId="urn:microsoft.com/office/officeart/2005/8/layout/orgChart1"/>
    <dgm:cxn modelId="{91B4B15C-BE4B-7F41-898E-656442F87B4E}" type="presOf" srcId="{1E29BF98-63AA-4C0D-8956-FA542C58A8A7}" destId="{2BD92A61-BFE8-8F43-A96C-2E2D86C3D4CC}" srcOrd="0" destOrd="0" presId="urn:microsoft.com/office/officeart/2005/8/layout/orgChart1"/>
    <dgm:cxn modelId="{CCB6FC79-0635-8041-8D7D-61C90026D226}" type="presOf" srcId="{E954AFEB-5574-46E2-B36B-1DB6D5EAE787}" destId="{4805BA2B-5E58-5B41-BE85-8D1DC5E99705}" srcOrd="0" destOrd="0" presId="urn:microsoft.com/office/officeart/2005/8/layout/orgChart1"/>
    <dgm:cxn modelId="{CF90377B-A51D-4A2A-B085-FE63F3B75197}" srcId="{C512F616-6270-428A-BAA2-BC256EC37725}" destId="{127BD951-2A0C-4A9F-9806-9ACA76D2B9EB}" srcOrd="0" destOrd="0" parTransId="{D8C96379-9899-484F-826D-6F9A60147124}" sibTransId="{E8410D15-FEA6-4170-A0E9-641EFE7C4832}"/>
    <dgm:cxn modelId="{AADA1D82-2301-D046-B466-B9A02C1E769F}" type="presOf" srcId="{CF24A80C-57DF-4B24-A4E0-C9C0BAE98505}" destId="{078A8456-5467-B042-982A-1C765D7FE1C6}" srcOrd="0" destOrd="0" presId="urn:microsoft.com/office/officeart/2005/8/layout/orgChart1"/>
    <dgm:cxn modelId="{EE64AEA8-847B-414B-B37C-DC9DB7C4CA81}" type="presOf" srcId="{027EBA51-D937-4A83-8876-6F4BADE58803}" destId="{4C524C19-3D72-A847-A908-593FBFCF20FC}" srcOrd="0" destOrd="0" presId="urn:microsoft.com/office/officeart/2005/8/layout/orgChart1"/>
    <dgm:cxn modelId="{2BCD74B8-9508-DA4B-A0D2-05F544A9B3DA}" type="presOf" srcId="{127BD951-2A0C-4A9F-9806-9ACA76D2B9EB}" destId="{F2D65137-4CF9-6E40-9A52-EBD0CEB12957}" srcOrd="0" destOrd="0" presId="urn:microsoft.com/office/officeart/2005/8/layout/orgChart1"/>
    <dgm:cxn modelId="{44A16DB9-B014-B84E-9909-AD71F5D05C7C}" type="presOf" srcId="{5478E514-41A9-4E23-939D-645901131853}" destId="{C2E55CA7-93ED-984A-A095-B8291F03B0C2}" srcOrd="0" destOrd="0" presId="urn:microsoft.com/office/officeart/2005/8/layout/orgChart1"/>
    <dgm:cxn modelId="{A59959BA-6775-504A-B872-650B8BADEA34}" type="presOf" srcId="{5F3FFE89-D776-4577-9A37-A43C84F35488}" destId="{D632B79A-55BD-E946-845C-57BB27F641F2}" srcOrd="0" destOrd="0" presId="urn:microsoft.com/office/officeart/2005/8/layout/orgChart1"/>
    <dgm:cxn modelId="{1717A8C0-304C-ED44-9B20-226C316456F4}" type="presOf" srcId="{C512F616-6270-428A-BAA2-BC256EC37725}" destId="{2AEB886C-D4B6-254D-9BDC-03DF91796F7B}" srcOrd="0" destOrd="0" presId="urn:microsoft.com/office/officeart/2005/8/layout/orgChart1"/>
    <dgm:cxn modelId="{73B883C2-B7EA-EC42-8E63-7C43ADBB1D95}" type="presOf" srcId="{1CDD78AB-C1C2-4413-AB68-B1068B6391F1}" destId="{8B45E825-B776-0A4F-829F-5B2A0B7EE3E0}" srcOrd="1" destOrd="0" presId="urn:microsoft.com/office/officeart/2005/8/layout/orgChart1"/>
    <dgm:cxn modelId="{E0205DC7-BB26-4140-9560-EDF4EE0A6D34}" type="presOf" srcId="{1CDD78AB-C1C2-4413-AB68-B1068B6391F1}" destId="{8AC71E67-6C47-D443-A0F3-427F2FD4D64A}" srcOrd="0" destOrd="0" presId="urn:microsoft.com/office/officeart/2005/8/layout/orgChart1"/>
    <dgm:cxn modelId="{964710CE-456F-4F4E-A1D2-9D5058ED8A28}" type="presOf" srcId="{D8C96379-9899-484F-826D-6F9A60147124}" destId="{249F4208-8B60-5344-9FB4-14E47339A179}" srcOrd="0" destOrd="0" presId="urn:microsoft.com/office/officeart/2005/8/layout/orgChart1"/>
    <dgm:cxn modelId="{713459D8-0B27-4B7A-9E13-F68F3C50AF41}" srcId="{C512F616-6270-428A-BAA2-BC256EC37725}" destId="{5F3FFE89-D776-4577-9A37-A43C84F35488}" srcOrd="3" destOrd="0" parTransId="{5478E514-41A9-4E23-939D-645901131853}" sibTransId="{0342A437-3CFC-405A-9686-8B41FC0C1933}"/>
    <dgm:cxn modelId="{34E990DE-7247-4389-A133-D4CE8EFFB787}" srcId="{C512F616-6270-428A-BAA2-BC256EC37725}" destId="{1CDD78AB-C1C2-4413-AB68-B1068B6391F1}" srcOrd="1" destOrd="0" parTransId="{9CA546BC-824C-40CE-9522-508755A28FEE}" sibTransId="{42BA01FB-A8B3-4F78-8905-A6AF8C9FAECF}"/>
    <dgm:cxn modelId="{1DCB53EC-5779-43E6-BE6C-E5909D69FEAE}" srcId="{C512F616-6270-428A-BAA2-BC256EC37725}" destId="{145E5FC6-A46D-48F2-8284-A80E4ECD78EC}" srcOrd="4" destOrd="0" parTransId="{CF24A80C-57DF-4B24-A4E0-C9C0BAE98505}" sibTransId="{45DBF670-9C32-4BEA-8947-58133102F1C1}"/>
    <dgm:cxn modelId="{85E2D0ED-49DF-1246-ACEE-4A9CCB668932}" type="presOf" srcId="{C512F616-6270-428A-BAA2-BC256EC37725}" destId="{AB385EA0-1213-3648-9B8B-79D3BC6E13AC}" srcOrd="1" destOrd="0" presId="urn:microsoft.com/office/officeart/2005/8/layout/orgChart1"/>
    <dgm:cxn modelId="{96FCEB46-8366-A84D-A9F3-7EA962DC2EA3}" type="presParOf" srcId="{2BD92A61-BFE8-8F43-A96C-2E2D86C3D4CC}" destId="{5D4A88A7-5DA6-1448-8C10-0C6839E24FFD}" srcOrd="0" destOrd="0" presId="urn:microsoft.com/office/officeart/2005/8/layout/orgChart1"/>
    <dgm:cxn modelId="{EBFA2E64-EBDE-4343-8D4A-7A589278C05A}" type="presParOf" srcId="{5D4A88A7-5DA6-1448-8C10-0C6839E24FFD}" destId="{2CC2B9B0-1ED2-5F45-93CC-CC9764FE8E99}" srcOrd="0" destOrd="0" presId="urn:microsoft.com/office/officeart/2005/8/layout/orgChart1"/>
    <dgm:cxn modelId="{0DA50303-626F-7E43-8611-1DBC1CD1BF61}" type="presParOf" srcId="{2CC2B9B0-1ED2-5F45-93CC-CC9764FE8E99}" destId="{2AEB886C-D4B6-254D-9BDC-03DF91796F7B}" srcOrd="0" destOrd="0" presId="urn:microsoft.com/office/officeart/2005/8/layout/orgChart1"/>
    <dgm:cxn modelId="{491AB544-FEFB-0A45-A4B6-F80011EBB77A}" type="presParOf" srcId="{2CC2B9B0-1ED2-5F45-93CC-CC9764FE8E99}" destId="{AB385EA0-1213-3648-9B8B-79D3BC6E13AC}" srcOrd="1" destOrd="0" presId="urn:microsoft.com/office/officeart/2005/8/layout/orgChart1"/>
    <dgm:cxn modelId="{5D556772-60D7-3A46-A932-0D37614D5DA3}" type="presParOf" srcId="{5D4A88A7-5DA6-1448-8C10-0C6839E24FFD}" destId="{ABCE5D81-05DE-C547-AD32-3F47004CDED4}" srcOrd="1" destOrd="0" presId="urn:microsoft.com/office/officeart/2005/8/layout/orgChart1"/>
    <dgm:cxn modelId="{62DF661C-E010-0A40-AB0D-D15AB7D1A151}" type="presParOf" srcId="{ABCE5D81-05DE-C547-AD32-3F47004CDED4}" destId="{249F4208-8B60-5344-9FB4-14E47339A179}" srcOrd="0" destOrd="0" presId="urn:microsoft.com/office/officeart/2005/8/layout/orgChart1"/>
    <dgm:cxn modelId="{78ACF272-F8F7-DA40-A8F1-3C321ED9DC7F}" type="presParOf" srcId="{ABCE5D81-05DE-C547-AD32-3F47004CDED4}" destId="{D8AA7C1A-D2D6-AF45-ABFA-428C25C844C5}" srcOrd="1" destOrd="0" presId="urn:microsoft.com/office/officeart/2005/8/layout/orgChart1"/>
    <dgm:cxn modelId="{F905CA6A-752D-8B4D-8E95-3BE12733BCB8}" type="presParOf" srcId="{D8AA7C1A-D2D6-AF45-ABFA-428C25C844C5}" destId="{E28CD108-0247-5D45-BA04-73B0196BE611}" srcOrd="0" destOrd="0" presId="urn:microsoft.com/office/officeart/2005/8/layout/orgChart1"/>
    <dgm:cxn modelId="{EF1D3477-7AC2-3745-AB6B-6798C84D6CA6}" type="presParOf" srcId="{E28CD108-0247-5D45-BA04-73B0196BE611}" destId="{F2D65137-4CF9-6E40-9A52-EBD0CEB12957}" srcOrd="0" destOrd="0" presId="urn:microsoft.com/office/officeart/2005/8/layout/orgChart1"/>
    <dgm:cxn modelId="{A05D515B-BB33-D648-95D7-897F14A3D3EF}" type="presParOf" srcId="{E28CD108-0247-5D45-BA04-73B0196BE611}" destId="{CDC3CAF8-D195-A24C-8DC3-8F86F18F0FEE}" srcOrd="1" destOrd="0" presId="urn:microsoft.com/office/officeart/2005/8/layout/orgChart1"/>
    <dgm:cxn modelId="{70A9E020-4A9E-644D-816A-A57A5A11842D}" type="presParOf" srcId="{D8AA7C1A-D2D6-AF45-ABFA-428C25C844C5}" destId="{CBE88824-5058-5940-88D2-2AFFA1CC54FA}" srcOrd="1" destOrd="0" presId="urn:microsoft.com/office/officeart/2005/8/layout/orgChart1"/>
    <dgm:cxn modelId="{90EEA71C-F431-CD44-9B7D-44BB91B51B77}" type="presParOf" srcId="{D8AA7C1A-D2D6-AF45-ABFA-428C25C844C5}" destId="{6A3CC155-B28F-A241-844C-BC85FDB11866}" srcOrd="2" destOrd="0" presId="urn:microsoft.com/office/officeart/2005/8/layout/orgChart1"/>
    <dgm:cxn modelId="{10904C89-43B4-754C-800D-34D45BD23B5B}" type="presParOf" srcId="{ABCE5D81-05DE-C547-AD32-3F47004CDED4}" destId="{6D5C213F-198B-144B-B798-EEB8A6DA49AC}" srcOrd="2" destOrd="0" presId="urn:microsoft.com/office/officeart/2005/8/layout/orgChart1"/>
    <dgm:cxn modelId="{AE24B279-A3E1-6B4B-8BEA-7DF732D1C3D1}" type="presParOf" srcId="{ABCE5D81-05DE-C547-AD32-3F47004CDED4}" destId="{58D84D4F-E55C-5444-8283-314685DC9117}" srcOrd="3" destOrd="0" presId="urn:microsoft.com/office/officeart/2005/8/layout/orgChart1"/>
    <dgm:cxn modelId="{08030478-A180-CD43-A8E0-D43DE1E62D3A}" type="presParOf" srcId="{58D84D4F-E55C-5444-8283-314685DC9117}" destId="{9D17D507-5671-6044-BB85-DCF83E527EFD}" srcOrd="0" destOrd="0" presId="urn:microsoft.com/office/officeart/2005/8/layout/orgChart1"/>
    <dgm:cxn modelId="{491ED4D6-DC15-4A47-91BE-56E099435DCF}" type="presParOf" srcId="{9D17D507-5671-6044-BB85-DCF83E527EFD}" destId="{8AC71E67-6C47-D443-A0F3-427F2FD4D64A}" srcOrd="0" destOrd="0" presId="urn:microsoft.com/office/officeart/2005/8/layout/orgChart1"/>
    <dgm:cxn modelId="{57A58874-C9A1-C340-85A9-85FA94F896D0}" type="presParOf" srcId="{9D17D507-5671-6044-BB85-DCF83E527EFD}" destId="{8B45E825-B776-0A4F-829F-5B2A0B7EE3E0}" srcOrd="1" destOrd="0" presId="urn:microsoft.com/office/officeart/2005/8/layout/orgChart1"/>
    <dgm:cxn modelId="{9BA3D426-E7C4-864A-A8AE-FD67781D59AF}" type="presParOf" srcId="{58D84D4F-E55C-5444-8283-314685DC9117}" destId="{F0FC5BDB-A506-BC43-AAC4-202D4307CDDA}" srcOrd="1" destOrd="0" presId="urn:microsoft.com/office/officeart/2005/8/layout/orgChart1"/>
    <dgm:cxn modelId="{8AF9929E-10FE-7D4B-B999-F18ED0629F4A}" type="presParOf" srcId="{58D84D4F-E55C-5444-8283-314685DC9117}" destId="{04DA68DD-D5B4-C045-B9BE-872F097E5908}" srcOrd="2" destOrd="0" presId="urn:microsoft.com/office/officeart/2005/8/layout/orgChart1"/>
    <dgm:cxn modelId="{0317F53B-4164-5348-B77D-76B22BD058EE}" type="presParOf" srcId="{ABCE5D81-05DE-C547-AD32-3F47004CDED4}" destId="{4805BA2B-5E58-5B41-BE85-8D1DC5E99705}" srcOrd="4" destOrd="0" presId="urn:microsoft.com/office/officeart/2005/8/layout/orgChart1"/>
    <dgm:cxn modelId="{BCAE0E7D-5A14-5942-B3C4-0807C4DC342C}" type="presParOf" srcId="{ABCE5D81-05DE-C547-AD32-3F47004CDED4}" destId="{D530DAEF-84F2-3A43-ACA6-FFCCD08EBB57}" srcOrd="5" destOrd="0" presId="urn:microsoft.com/office/officeart/2005/8/layout/orgChart1"/>
    <dgm:cxn modelId="{DB5069C3-60BB-4D4A-949A-140AE77F1E6C}" type="presParOf" srcId="{D530DAEF-84F2-3A43-ACA6-FFCCD08EBB57}" destId="{8A66AEE2-3F22-B84C-8000-7A8A491393DB}" srcOrd="0" destOrd="0" presId="urn:microsoft.com/office/officeart/2005/8/layout/orgChart1"/>
    <dgm:cxn modelId="{95D75BD3-C8B9-6949-BE9D-EB8DA29B7204}" type="presParOf" srcId="{8A66AEE2-3F22-B84C-8000-7A8A491393DB}" destId="{4C524C19-3D72-A847-A908-593FBFCF20FC}" srcOrd="0" destOrd="0" presId="urn:microsoft.com/office/officeart/2005/8/layout/orgChart1"/>
    <dgm:cxn modelId="{B1B82EDD-9916-8A4D-A698-2F9F8D821CAB}" type="presParOf" srcId="{8A66AEE2-3F22-B84C-8000-7A8A491393DB}" destId="{09C36155-9AD4-964E-8A92-9200028764FE}" srcOrd="1" destOrd="0" presId="urn:microsoft.com/office/officeart/2005/8/layout/orgChart1"/>
    <dgm:cxn modelId="{CE2036D2-2F08-F142-BFF6-B8082E651E59}" type="presParOf" srcId="{D530DAEF-84F2-3A43-ACA6-FFCCD08EBB57}" destId="{B2F8EB7A-9045-2D4B-B6D2-D21356C6EB19}" srcOrd="1" destOrd="0" presId="urn:microsoft.com/office/officeart/2005/8/layout/orgChart1"/>
    <dgm:cxn modelId="{62B90C8F-7FB2-EB4A-B3B3-184D32CA5716}" type="presParOf" srcId="{D530DAEF-84F2-3A43-ACA6-FFCCD08EBB57}" destId="{4BD2B2AC-5F95-C84B-93AD-5890D20979C2}" srcOrd="2" destOrd="0" presId="urn:microsoft.com/office/officeart/2005/8/layout/orgChart1"/>
    <dgm:cxn modelId="{E0B5228B-F8CF-0942-964D-804069C172C9}" type="presParOf" srcId="{ABCE5D81-05DE-C547-AD32-3F47004CDED4}" destId="{C2E55CA7-93ED-984A-A095-B8291F03B0C2}" srcOrd="6" destOrd="0" presId="urn:microsoft.com/office/officeart/2005/8/layout/orgChart1"/>
    <dgm:cxn modelId="{5D641900-1DA5-134E-A875-7DA7C3D5E17D}" type="presParOf" srcId="{ABCE5D81-05DE-C547-AD32-3F47004CDED4}" destId="{BEAEE03F-B2B7-EF47-81AD-0E88505D2B1B}" srcOrd="7" destOrd="0" presId="urn:microsoft.com/office/officeart/2005/8/layout/orgChart1"/>
    <dgm:cxn modelId="{B01346E8-8609-5340-9CDB-ECF1D2BAA926}" type="presParOf" srcId="{BEAEE03F-B2B7-EF47-81AD-0E88505D2B1B}" destId="{2B0C6CAD-CECD-1742-80A2-D1684E64CFF3}" srcOrd="0" destOrd="0" presId="urn:microsoft.com/office/officeart/2005/8/layout/orgChart1"/>
    <dgm:cxn modelId="{1F62410C-0F30-2542-9CC0-1BEBC1F05F66}" type="presParOf" srcId="{2B0C6CAD-CECD-1742-80A2-D1684E64CFF3}" destId="{D632B79A-55BD-E946-845C-57BB27F641F2}" srcOrd="0" destOrd="0" presId="urn:microsoft.com/office/officeart/2005/8/layout/orgChart1"/>
    <dgm:cxn modelId="{9AF4E50F-DF91-FE46-9764-BF94B97F5CB0}" type="presParOf" srcId="{2B0C6CAD-CECD-1742-80A2-D1684E64CFF3}" destId="{FAF6B680-6B33-DD46-8786-E7F937EAE48D}" srcOrd="1" destOrd="0" presId="urn:microsoft.com/office/officeart/2005/8/layout/orgChart1"/>
    <dgm:cxn modelId="{5A0B0B21-28D0-1D4C-963D-4DCEB4620343}" type="presParOf" srcId="{BEAEE03F-B2B7-EF47-81AD-0E88505D2B1B}" destId="{1C902CA6-5169-3C48-AB6A-06A9AB040217}" srcOrd="1" destOrd="0" presId="urn:microsoft.com/office/officeart/2005/8/layout/orgChart1"/>
    <dgm:cxn modelId="{8F7EE956-5774-3F4D-8B96-011132DD549E}" type="presParOf" srcId="{BEAEE03F-B2B7-EF47-81AD-0E88505D2B1B}" destId="{4371E9A3-1793-C94B-96EE-7B025A809309}" srcOrd="2" destOrd="0" presId="urn:microsoft.com/office/officeart/2005/8/layout/orgChart1"/>
    <dgm:cxn modelId="{D718E03B-508C-8D46-8773-E2D8999DF4AA}" type="presParOf" srcId="{ABCE5D81-05DE-C547-AD32-3F47004CDED4}" destId="{078A8456-5467-B042-982A-1C765D7FE1C6}" srcOrd="8" destOrd="0" presId="urn:microsoft.com/office/officeart/2005/8/layout/orgChart1"/>
    <dgm:cxn modelId="{3BA5E46A-1843-0947-8DE9-F7B39E2F7129}" type="presParOf" srcId="{ABCE5D81-05DE-C547-AD32-3F47004CDED4}" destId="{DAB97791-6E18-8349-8761-A00AC0E39EFA}" srcOrd="9" destOrd="0" presId="urn:microsoft.com/office/officeart/2005/8/layout/orgChart1"/>
    <dgm:cxn modelId="{CA85A7E2-2544-4246-B6FB-7FFF3F18BBC7}" type="presParOf" srcId="{DAB97791-6E18-8349-8761-A00AC0E39EFA}" destId="{1FFDCC51-9917-9C42-955D-00AA98F1FE8D}" srcOrd="0" destOrd="0" presId="urn:microsoft.com/office/officeart/2005/8/layout/orgChart1"/>
    <dgm:cxn modelId="{783C3EB8-5786-8E45-BEBC-67E2D94671FA}" type="presParOf" srcId="{1FFDCC51-9917-9C42-955D-00AA98F1FE8D}" destId="{981175E7-BB86-264E-9240-21BA79B63D9B}" srcOrd="0" destOrd="0" presId="urn:microsoft.com/office/officeart/2005/8/layout/orgChart1"/>
    <dgm:cxn modelId="{8BF6FB14-9B50-4B4B-8935-2B8F4F91E46C}" type="presParOf" srcId="{1FFDCC51-9917-9C42-955D-00AA98F1FE8D}" destId="{C075A43B-96FA-0A4E-AA06-85245B44A092}" srcOrd="1" destOrd="0" presId="urn:microsoft.com/office/officeart/2005/8/layout/orgChart1"/>
    <dgm:cxn modelId="{5F1DFEFD-B6A8-904F-A74B-214BBBD5C842}" type="presParOf" srcId="{DAB97791-6E18-8349-8761-A00AC0E39EFA}" destId="{ABD37D61-F62B-1D4B-927A-DEC3310D4725}" srcOrd="1" destOrd="0" presId="urn:microsoft.com/office/officeart/2005/8/layout/orgChart1"/>
    <dgm:cxn modelId="{D3F1F148-3EE5-C547-B518-486E67552EFF}" type="presParOf" srcId="{DAB97791-6E18-8349-8761-A00AC0E39EFA}" destId="{1CFE4B01-268E-D849-BF7B-8542F9EAA295}" srcOrd="2" destOrd="0" presId="urn:microsoft.com/office/officeart/2005/8/layout/orgChart1"/>
    <dgm:cxn modelId="{30D4BE61-94B2-5B46-A395-1C9669B1D15F}" type="presParOf" srcId="{5D4A88A7-5DA6-1448-8C10-0C6839E24FFD}" destId="{CCCBAA88-2179-4D46-986E-647F9EAA2A65}" srcOrd="2" destOrd="0" presId="urn:microsoft.com/office/officeart/2005/8/layout/orgChar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E3CDCE-7384-4AFB-88F1-32A13ED6C231}">
      <dsp:nvSpPr>
        <dsp:cNvPr id="0" name=""/>
        <dsp:cNvSpPr/>
      </dsp:nvSpPr>
      <dsp:spPr>
        <a:xfrm>
          <a:off x="71609" y="159961"/>
          <a:ext cx="726202" cy="726202"/>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068578D-1AC8-40CB-845F-E6806D159302}">
      <dsp:nvSpPr>
        <dsp:cNvPr id="0" name=""/>
        <dsp:cNvSpPr/>
      </dsp:nvSpPr>
      <dsp:spPr>
        <a:xfrm>
          <a:off x="224111" y="312464"/>
          <a:ext cx="421197" cy="42119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576C75E-FABD-4E3F-90E3-2B7D7067A4A1}">
      <dsp:nvSpPr>
        <dsp:cNvPr id="0" name=""/>
        <dsp:cNvSpPr/>
      </dsp:nvSpPr>
      <dsp:spPr>
        <a:xfrm>
          <a:off x="953426" y="159961"/>
          <a:ext cx="1711762" cy="7262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zh-CN" sz="1100" kern="1200" dirty="0"/>
            <a:t>Listing pricing strategy is the most critical factor affecting revenue, including the reasonable setting of nightly prices and cleaning fees, which have a significant impact on revenue.</a:t>
          </a:r>
          <a:endParaRPr lang="en-US" sz="1100" kern="1200" dirty="0"/>
        </a:p>
      </dsp:txBody>
      <dsp:txXfrm>
        <a:off x="953426" y="159961"/>
        <a:ext cx="1711762" cy="726202"/>
      </dsp:txXfrm>
    </dsp:sp>
    <dsp:sp modelId="{9DD7DA8A-3F23-4260-8A57-7B3930B572B5}">
      <dsp:nvSpPr>
        <dsp:cNvPr id="0" name=""/>
        <dsp:cNvSpPr/>
      </dsp:nvSpPr>
      <dsp:spPr>
        <a:xfrm>
          <a:off x="2963450" y="159961"/>
          <a:ext cx="726202" cy="726202"/>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E0FC4BB-7799-48EE-A133-80A98BFCBCEC}">
      <dsp:nvSpPr>
        <dsp:cNvPr id="0" name=""/>
        <dsp:cNvSpPr/>
      </dsp:nvSpPr>
      <dsp:spPr>
        <a:xfrm>
          <a:off x="3115953" y="312464"/>
          <a:ext cx="421197" cy="42119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E4D051C-5E6E-4ED7-9520-532D6F3B024F}">
      <dsp:nvSpPr>
        <dsp:cNvPr id="0" name=""/>
        <dsp:cNvSpPr/>
      </dsp:nvSpPr>
      <dsp:spPr>
        <a:xfrm>
          <a:off x="3845268" y="159961"/>
          <a:ext cx="1711762" cy="7262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zh-CN" sz="1100" kern="1200"/>
            <a:t>The review system of a property has an important impact on income. High-quality reviews and a sufficient number of reviews can bring better income performance.</a:t>
          </a:r>
          <a:endParaRPr lang="en-US" sz="1100" kern="1200"/>
        </a:p>
      </dsp:txBody>
      <dsp:txXfrm>
        <a:off x="3845268" y="159961"/>
        <a:ext cx="1711762" cy="726202"/>
      </dsp:txXfrm>
    </dsp:sp>
    <dsp:sp modelId="{D63D441A-992D-4DC8-8BAE-89D0500EED56}">
      <dsp:nvSpPr>
        <dsp:cNvPr id="0" name=""/>
        <dsp:cNvSpPr/>
      </dsp:nvSpPr>
      <dsp:spPr>
        <a:xfrm>
          <a:off x="71609" y="1529724"/>
          <a:ext cx="726202" cy="726202"/>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2C2F711-77A7-4A58-AB8E-F864DBFF4C96}">
      <dsp:nvSpPr>
        <dsp:cNvPr id="0" name=""/>
        <dsp:cNvSpPr/>
      </dsp:nvSpPr>
      <dsp:spPr>
        <a:xfrm>
          <a:off x="224111" y="1682227"/>
          <a:ext cx="421197" cy="42119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F9C2F4E-35D5-43AE-A469-A31C0277C0C0}">
      <dsp:nvSpPr>
        <dsp:cNvPr id="0" name=""/>
        <dsp:cNvSpPr/>
      </dsp:nvSpPr>
      <dsp:spPr>
        <a:xfrm>
          <a:off x="953426" y="1529724"/>
          <a:ext cx="1711762" cy="7262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zh-CN" sz="1100" kern="1200" dirty="0"/>
            <a:t>There is a significant positive correlation between a host's service level (including response rate and super host status) and income.</a:t>
          </a:r>
          <a:endParaRPr lang="en-US" sz="1100" kern="1200" dirty="0"/>
        </a:p>
      </dsp:txBody>
      <dsp:txXfrm>
        <a:off x="953426" y="1529724"/>
        <a:ext cx="1711762" cy="726202"/>
      </dsp:txXfrm>
    </dsp:sp>
    <dsp:sp modelId="{63BB00D9-9352-46D1-889F-1141E4E3E4A5}">
      <dsp:nvSpPr>
        <dsp:cNvPr id="0" name=""/>
        <dsp:cNvSpPr/>
      </dsp:nvSpPr>
      <dsp:spPr>
        <a:xfrm>
          <a:off x="2963450" y="1529724"/>
          <a:ext cx="726202" cy="726202"/>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116BC2E-40E9-401E-850F-8B9E45915B53}">
      <dsp:nvSpPr>
        <dsp:cNvPr id="0" name=""/>
        <dsp:cNvSpPr/>
      </dsp:nvSpPr>
      <dsp:spPr>
        <a:xfrm>
          <a:off x="3115953" y="1682227"/>
          <a:ext cx="421197" cy="42119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B96EA59-D075-47A2-8AB6-B2E8CFB57CA7}">
      <dsp:nvSpPr>
        <dsp:cNvPr id="0" name=""/>
        <dsp:cNvSpPr/>
      </dsp:nvSpPr>
      <dsp:spPr>
        <a:xfrm>
          <a:off x="3845268" y="1529724"/>
          <a:ext cx="1711762" cy="7262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zh-CN" sz="1100" kern="1200"/>
            <a:t>The location of a property is an important determinant of income differences, with significant differences in income levels between communities</a:t>
          </a:r>
          <a:endParaRPr lang="en-US" sz="1100" kern="1200"/>
        </a:p>
      </dsp:txBody>
      <dsp:txXfrm>
        <a:off x="3845268" y="1529724"/>
        <a:ext cx="1711762" cy="726202"/>
      </dsp:txXfrm>
    </dsp:sp>
    <dsp:sp modelId="{32596148-2FEB-4CDF-87A0-FD4C22C317B4}">
      <dsp:nvSpPr>
        <dsp:cNvPr id="0" name=""/>
        <dsp:cNvSpPr/>
      </dsp:nvSpPr>
      <dsp:spPr>
        <a:xfrm>
          <a:off x="71609" y="2899488"/>
          <a:ext cx="726202" cy="726202"/>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4BDD755-839D-4219-A05B-8E185F8E1D51}">
      <dsp:nvSpPr>
        <dsp:cNvPr id="0" name=""/>
        <dsp:cNvSpPr/>
      </dsp:nvSpPr>
      <dsp:spPr>
        <a:xfrm>
          <a:off x="224111" y="3051990"/>
          <a:ext cx="421197" cy="421197"/>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7E65641-D83B-4B22-9EF8-9764EBB7231C}">
      <dsp:nvSpPr>
        <dsp:cNvPr id="0" name=""/>
        <dsp:cNvSpPr/>
      </dsp:nvSpPr>
      <dsp:spPr>
        <a:xfrm>
          <a:off x="953426" y="2899488"/>
          <a:ext cx="1711762" cy="7262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zh-CN" sz="1100" kern="1200"/>
            <a:t>The basic attributes of a property (such as the number of bedrooms, maximum occupancy) have a secondary impact on income than the service quality and evaluation system</a:t>
          </a:r>
          <a:endParaRPr lang="en-US" sz="1100" kern="1200"/>
        </a:p>
      </dsp:txBody>
      <dsp:txXfrm>
        <a:off x="953426" y="2899488"/>
        <a:ext cx="1711762" cy="72620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8A8456-5467-B042-982A-1C765D7FE1C6}">
      <dsp:nvSpPr>
        <dsp:cNvPr id="0" name=""/>
        <dsp:cNvSpPr/>
      </dsp:nvSpPr>
      <dsp:spPr>
        <a:xfrm>
          <a:off x="3856355" y="1277125"/>
          <a:ext cx="3195474" cy="277293"/>
        </a:xfrm>
        <a:custGeom>
          <a:avLst/>
          <a:gdLst/>
          <a:ahLst/>
          <a:cxnLst/>
          <a:rect l="0" t="0" r="0" b="0"/>
          <a:pathLst>
            <a:path>
              <a:moveTo>
                <a:pt x="0" y="0"/>
              </a:moveTo>
              <a:lnTo>
                <a:pt x="0" y="138646"/>
              </a:lnTo>
              <a:lnTo>
                <a:pt x="3195474" y="138646"/>
              </a:lnTo>
              <a:lnTo>
                <a:pt x="3195474" y="277293"/>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2E55CA7-93ED-984A-A095-B8291F03B0C2}">
      <dsp:nvSpPr>
        <dsp:cNvPr id="0" name=""/>
        <dsp:cNvSpPr/>
      </dsp:nvSpPr>
      <dsp:spPr>
        <a:xfrm>
          <a:off x="3856355" y="1277125"/>
          <a:ext cx="1597737" cy="277293"/>
        </a:xfrm>
        <a:custGeom>
          <a:avLst/>
          <a:gdLst/>
          <a:ahLst/>
          <a:cxnLst/>
          <a:rect l="0" t="0" r="0" b="0"/>
          <a:pathLst>
            <a:path>
              <a:moveTo>
                <a:pt x="0" y="0"/>
              </a:moveTo>
              <a:lnTo>
                <a:pt x="0" y="138646"/>
              </a:lnTo>
              <a:lnTo>
                <a:pt x="1597737" y="138646"/>
              </a:lnTo>
              <a:lnTo>
                <a:pt x="1597737" y="277293"/>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805BA2B-5E58-5B41-BE85-8D1DC5E99705}">
      <dsp:nvSpPr>
        <dsp:cNvPr id="0" name=""/>
        <dsp:cNvSpPr/>
      </dsp:nvSpPr>
      <dsp:spPr>
        <a:xfrm>
          <a:off x="3810635" y="1277125"/>
          <a:ext cx="91440" cy="277293"/>
        </a:xfrm>
        <a:custGeom>
          <a:avLst/>
          <a:gdLst/>
          <a:ahLst/>
          <a:cxnLst/>
          <a:rect l="0" t="0" r="0" b="0"/>
          <a:pathLst>
            <a:path>
              <a:moveTo>
                <a:pt x="45720" y="0"/>
              </a:moveTo>
              <a:lnTo>
                <a:pt x="45720" y="277293"/>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D5C213F-198B-144B-B798-EEB8A6DA49AC}">
      <dsp:nvSpPr>
        <dsp:cNvPr id="0" name=""/>
        <dsp:cNvSpPr/>
      </dsp:nvSpPr>
      <dsp:spPr>
        <a:xfrm>
          <a:off x="2258617" y="1277125"/>
          <a:ext cx="1597737" cy="277293"/>
        </a:xfrm>
        <a:custGeom>
          <a:avLst/>
          <a:gdLst/>
          <a:ahLst/>
          <a:cxnLst/>
          <a:rect l="0" t="0" r="0" b="0"/>
          <a:pathLst>
            <a:path>
              <a:moveTo>
                <a:pt x="1597737" y="0"/>
              </a:moveTo>
              <a:lnTo>
                <a:pt x="1597737" y="138646"/>
              </a:lnTo>
              <a:lnTo>
                <a:pt x="0" y="138646"/>
              </a:lnTo>
              <a:lnTo>
                <a:pt x="0" y="277293"/>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49F4208-8B60-5344-9FB4-14E47339A179}">
      <dsp:nvSpPr>
        <dsp:cNvPr id="0" name=""/>
        <dsp:cNvSpPr/>
      </dsp:nvSpPr>
      <dsp:spPr>
        <a:xfrm>
          <a:off x="660880" y="1277125"/>
          <a:ext cx="3195474" cy="277293"/>
        </a:xfrm>
        <a:custGeom>
          <a:avLst/>
          <a:gdLst/>
          <a:ahLst/>
          <a:cxnLst/>
          <a:rect l="0" t="0" r="0" b="0"/>
          <a:pathLst>
            <a:path>
              <a:moveTo>
                <a:pt x="3195474" y="0"/>
              </a:moveTo>
              <a:lnTo>
                <a:pt x="3195474" y="138646"/>
              </a:lnTo>
              <a:lnTo>
                <a:pt x="0" y="138646"/>
              </a:lnTo>
              <a:lnTo>
                <a:pt x="0" y="277293"/>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AEB886C-D4B6-254D-9BDC-03DF91796F7B}">
      <dsp:nvSpPr>
        <dsp:cNvPr id="0" name=""/>
        <dsp:cNvSpPr/>
      </dsp:nvSpPr>
      <dsp:spPr>
        <a:xfrm>
          <a:off x="3196133" y="616903"/>
          <a:ext cx="1320443" cy="66022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zh-CN" sz="1000" kern="1200"/>
            <a:t>Missing Value Treatment</a:t>
          </a:r>
          <a:endParaRPr lang="en-US" sz="1000" kern="1200"/>
        </a:p>
      </dsp:txBody>
      <dsp:txXfrm>
        <a:off x="3196133" y="616903"/>
        <a:ext cx="1320443" cy="660221"/>
      </dsp:txXfrm>
    </dsp:sp>
    <dsp:sp modelId="{F2D65137-4CF9-6E40-9A52-EBD0CEB12957}">
      <dsp:nvSpPr>
        <dsp:cNvPr id="0" name=""/>
        <dsp:cNvSpPr/>
      </dsp:nvSpPr>
      <dsp:spPr>
        <a:xfrm>
          <a:off x="659" y="1554418"/>
          <a:ext cx="1320443" cy="66022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zh-CN" sz="1000" kern="1200" dirty="0"/>
            <a:t>Removed features with missing rate higher than 40% to ensure data quality</a:t>
          </a:r>
          <a:endParaRPr lang="en-US" sz="1000" kern="1200" dirty="0"/>
        </a:p>
      </dsp:txBody>
      <dsp:txXfrm>
        <a:off x="659" y="1554418"/>
        <a:ext cx="1320443" cy="660221"/>
      </dsp:txXfrm>
    </dsp:sp>
    <dsp:sp modelId="{8AC71E67-6C47-D443-A0F3-427F2FD4D64A}">
      <dsp:nvSpPr>
        <dsp:cNvPr id="0" name=""/>
        <dsp:cNvSpPr/>
      </dsp:nvSpPr>
      <dsp:spPr>
        <a:xfrm>
          <a:off x="1598396" y="1554418"/>
          <a:ext cx="1320443" cy="66022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zh-CN" sz="1000" kern="1200" dirty="0"/>
            <a:t>Applied linear interpolation for time series data including ratings and reviews</a:t>
          </a:r>
          <a:endParaRPr lang="en-US" sz="1000" kern="1200" dirty="0"/>
        </a:p>
      </dsp:txBody>
      <dsp:txXfrm>
        <a:off x="1598396" y="1554418"/>
        <a:ext cx="1320443" cy="660221"/>
      </dsp:txXfrm>
    </dsp:sp>
    <dsp:sp modelId="{4C524C19-3D72-A847-A908-593FBFCF20FC}">
      <dsp:nvSpPr>
        <dsp:cNvPr id="0" name=""/>
        <dsp:cNvSpPr/>
      </dsp:nvSpPr>
      <dsp:spPr>
        <a:xfrm>
          <a:off x="3196133" y="1554418"/>
          <a:ext cx="1320443" cy="66022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zh-CN" sz="1000" kern="1200" dirty="0"/>
            <a:t>Used neighborhood-based median imputation for availability and pricing data</a:t>
          </a:r>
          <a:endParaRPr lang="en-US" sz="1000" kern="1200" dirty="0"/>
        </a:p>
      </dsp:txBody>
      <dsp:txXfrm>
        <a:off x="3196133" y="1554418"/>
        <a:ext cx="1320443" cy="660221"/>
      </dsp:txXfrm>
    </dsp:sp>
    <dsp:sp modelId="{D632B79A-55BD-E946-845C-57BB27F641F2}">
      <dsp:nvSpPr>
        <dsp:cNvPr id="0" name=""/>
        <dsp:cNvSpPr/>
      </dsp:nvSpPr>
      <dsp:spPr>
        <a:xfrm>
          <a:off x="4793870" y="1554418"/>
          <a:ext cx="1320443" cy="66022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zh-CN" sz="1000" kern="1200" dirty="0"/>
            <a:t>Filled categorical variables with mode values by neighborhood groups</a:t>
          </a:r>
          <a:endParaRPr lang="en-US" sz="1000" kern="1200" dirty="0"/>
        </a:p>
      </dsp:txBody>
      <dsp:txXfrm>
        <a:off x="4793870" y="1554418"/>
        <a:ext cx="1320443" cy="660221"/>
      </dsp:txXfrm>
    </dsp:sp>
    <dsp:sp modelId="{981175E7-BB86-264E-9240-21BA79B63D9B}">
      <dsp:nvSpPr>
        <dsp:cNvPr id="0" name=""/>
        <dsp:cNvSpPr/>
      </dsp:nvSpPr>
      <dsp:spPr>
        <a:xfrm>
          <a:off x="6391607" y="1554418"/>
          <a:ext cx="1320443" cy="66022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zh-CN" sz="1000" kern="1200" dirty="0"/>
            <a:t>Applied median imputation for remaining numeric variables</a:t>
          </a:r>
          <a:endParaRPr lang="en-US" sz="1000" kern="1200" dirty="0"/>
        </a:p>
      </dsp:txBody>
      <dsp:txXfrm>
        <a:off x="6391607" y="1554418"/>
        <a:ext cx="1320443" cy="660221"/>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2024/12/8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3A7A4E5-3461-47CD-8351-C5E59F91E682}" type="slidenum">
              <a:rPr lang="zh-CN" altLang="en-US" smtClean="0"/>
              <a:t>3</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tags" Target="../tags/tag8.xml"/><Relationship Id="rId5" Type="http://schemas.openxmlformats.org/officeDocument/2006/relationships/slideMaster" Target="../slideMasters/slideMaster1.xml"/><Relationship Id="rId4" Type="http://schemas.openxmlformats.org/officeDocument/2006/relationships/tags" Target="../tags/tag1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14.xml"/><Relationship Id="rId7" Type="http://schemas.openxmlformats.org/officeDocument/2006/relationships/slideMaster" Target="../slideMasters/slideMaster2.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tags" Target="../tags/tag17.xml"/><Relationship Id="rId5" Type="http://schemas.openxmlformats.org/officeDocument/2006/relationships/tags" Target="../tags/tag16.xml"/><Relationship Id="rId4" Type="http://schemas.openxmlformats.org/officeDocument/2006/relationships/tags" Target="../tags/tag15.xml"/></Relationships>
</file>

<file path=ppt/slideLayouts/_rels/slideLayout14.xml.rels><?xml version="1.0" encoding="UTF-8" standalone="yes"?>
<Relationships xmlns="http://schemas.openxmlformats.org/package/2006/relationships"><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tags" Target="../tags/tag18.xml"/><Relationship Id="rId5" Type="http://schemas.openxmlformats.org/officeDocument/2006/relationships/slideMaster" Target="../slideMasters/slideMaster2.xml"/><Relationship Id="rId4" Type="http://schemas.openxmlformats.org/officeDocument/2006/relationships/tags" Target="../tags/tag21.xml"/></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24.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slideMaster" Target="../slideMasters/slideMaster2.xml"/><Relationship Id="rId5" Type="http://schemas.openxmlformats.org/officeDocument/2006/relationships/tags" Target="../tags/tag26.xml"/><Relationship Id="rId4" Type="http://schemas.openxmlformats.org/officeDocument/2006/relationships/tags" Target="../tags/tag2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330" y="608330"/>
            <a:ext cx="10968990" cy="600075"/>
          </a:xfrm>
        </p:spPr>
        <p:txBody>
          <a:bodyPr wrap="square">
            <a:normAutofit/>
          </a:bodyPr>
          <a:lstStyle>
            <a:lvl1pPr algn="ctr">
              <a:defRPr sz="3200">
                <a:solidFill>
                  <a:schemeClr val="tx1"/>
                </a:solidFill>
                <a:latin typeface="+mj-ea"/>
                <a:ea typeface="+mj-ea"/>
                <a:cs typeface="+mj-ea"/>
                <a:sym typeface="+mj-ea"/>
              </a:defRPr>
            </a:lvl1pPr>
          </a:lstStyle>
          <a:p>
            <a:r>
              <a:rPr lang="zh-CN" altLang="en-US"/>
              <a:t>单击此处编辑母版标题样式</a:t>
            </a:r>
          </a:p>
        </p:txBody>
      </p:sp>
      <p:sp>
        <p:nvSpPr>
          <p:cNvPr id="3" name="日期占位符 2"/>
          <p:cNvSpPr>
            <a:spLocks noGrp="1"/>
          </p:cNvSpPr>
          <p:nvPr>
            <p:ph type="dt" sz="half" idx="10"/>
            <p:custDataLst>
              <p:tags r:id="rId2"/>
            </p:custDataLst>
          </p:nvPr>
        </p:nvSpPr>
        <p:spPr/>
        <p:txBody>
          <a:bodyPr wrap="square">
            <a:normAutofit/>
          </a:bodyPr>
          <a:lstStyle>
            <a:lvl1pPr>
              <a:defRPr>
                <a:latin typeface="+mn-ea"/>
                <a:ea typeface="+mn-ea"/>
                <a:cs typeface="+mn-ea"/>
                <a:sym typeface="+mn-ea"/>
              </a:defRPr>
            </a:lvl1pPr>
          </a:lstStyle>
          <a:p>
            <a:fld id="{760FBDFE-C587-4B4C-A407-44438C67B59E}" type="datetimeFigureOut">
              <a:rPr lang="zh-CN" altLang="en-US" smtClean="0"/>
              <a:t>2024/12/8</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dirty="0"/>
          </a:p>
        </p:txBody>
      </p:sp>
      <p:sp>
        <p:nvSpPr>
          <p:cNvPr id="5" name="灯片编号占位符 4"/>
          <p:cNvSpPr>
            <a:spLocks noGrp="1"/>
          </p:cNvSpPr>
          <p:nvPr>
            <p:ph type="sldNum" sz="quarter" idx="12"/>
            <p:custDataLst>
              <p:tags r:id="rId4"/>
            </p:custDataLst>
          </p:nvPr>
        </p:nvSpPr>
        <p:spPr/>
        <p:txBody>
          <a:bodyPr wrap="square">
            <a:normAutofit/>
          </a:bodyPr>
          <a:lstStyle>
            <a:lvl1pPr>
              <a:defRPr>
                <a:latin typeface="+mn-ea"/>
                <a:ea typeface="+mn-ea"/>
                <a:cs typeface="+mn-ea"/>
                <a:sym typeface="+mn-ea"/>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760FBDFE-C587-4B4C-A407-44438C67B59E}" type="datetimeFigureOut">
              <a:rPr lang="zh-CN" altLang="en-US" smtClean="0"/>
              <a:t>2024/12/8</a:t>
            </a:fld>
            <a:endParaRPr lang="zh-CN" altLang="en-US"/>
          </a:p>
        </p:txBody>
      </p:sp>
      <p:sp>
        <p:nvSpPr>
          <p:cNvPr id="5" name="Footer Placeholder 4"/>
          <p:cNvSpPr>
            <a:spLocks noGrp="1"/>
          </p:cNvSpPr>
          <p:nvPr>
            <p:ph type="ftr" sz="quarter" idx="11"/>
          </p:nvPr>
        </p:nvSpPr>
        <p:spPr/>
        <p:txBody>
          <a:bodyPr/>
          <a:lstStyle/>
          <a:p>
            <a:endParaRPr lang="zh-CN" altLang="en-US" dirty="0"/>
          </a:p>
        </p:txBody>
      </p:sp>
      <p:sp>
        <p:nvSpPr>
          <p:cNvPr id="6" name="Slide Number Placeholder 5"/>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extLst>
      <p:ext uri="{BB962C8B-B14F-4D97-AF65-F5344CB8AC3E}">
        <p14:creationId xmlns:p14="http://schemas.microsoft.com/office/powerpoint/2010/main" val="26431010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760FBDFE-C587-4B4C-A407-44438C67B59E}" type="datetimeFigureOut">
              <a:rPr lang="zh-CN" altLang="en-US" smtClean="0"/>
              <a:t>2024/12/8</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28236317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760FBDFE-C587-4B4C-A407-44438C67B59E}" type="datetimeFigureOut">
              <a:rPr lang="zh-CN" altLang="en-US" smtClean="0"/>
              <a:t>2024/12/8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21421766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8" name="Date Placeholder 7"/>
          <p:cNvSpPr>
            <a:spLocks noGrp="1"/>
          </p:cNvSpPr>
          <p:nvPr>
            <p:ph type="dt" sz="half" idx="10"/>
          </p:nvPr>
        </p:nvSpPr>
        <p:spPr/>
        <p:txBody>
          <a:bodyPr/>
          <a:lstStyle/>
          <a:p>
            <a:fld id="{760FBDFE-C587-4B4C-A407-44438C67B59E}" type="datetimeFigureOut">
              <a:rPr lang="zh-CN" altLang="en-US" smtClean="0"/>
              <a:t>2024/12/8</a:t>
            </a:fld>
            <a:endParaRPr lang="zh-CN" altLang="en-US"/>
          </a:p>
        </p:txBody>
      </p:sp>
      <p:sp>
        <p:nvSpPr>
          <p:cNvPr id="9" name="Footer Placeholder 8"/>
          <p:cNvSpPr>
            <a:spLocks noGrp="1"/>
          </p:cNvSpPr>
          <p:nvPr>
            <p:ph type="ftr" sz="quarter" idx="11"/>
          </p:nvPr>
        </p:nvSpPr>
        <p:spPr/>
        <p:txBody>
          <a:bodyPr/>
          <a:lstStyle/>
          <a:p>
            <a:endParaRPr lang="zh-CN" altLang="en-US"/>
          </a:p>
        </p:txBody>
      </p:sp>
      <p:sp>
        <p:nvSpPr>
          <p:cNvPr id="10" name="Slide Number Placeholder 9"/>
          <p:cNvSpPr>
            <a:spLocks noGrp="1"/>
          </p:cNvSpPr>
          <p:nvPr>
            <p:ph type="sldNum" sz="quarter" idx="12"/>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40874943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1583436" y="3143250"/>
            <a:ext cx="4270248" cy="2596776"/>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7" name="Date Placeholder 6"/>
          <p:cNvSpPr>
            <a:spLocks noGrp="1"/>
          </p:cNvSpPr>
          <p:nvPr>
            <p:ph type="dt" sz="half" idx="10"/>
          </p:nvPr>
        </p:nvSpPr>
        <p:spPr/>
        <p:txBody>
          <a:bodyPr/>
          <a:lstStyle/>
          <a:p>
            <a:fld id="{760FBDFE-C587-4B4C-A407-44438C67B59E}" type="datetimeFigureOut">
              <a:rPr lang="zh-CN" altLang="en-US" smtClean="0"/>
              <a:t>2024/12/8</a:t>
            </a:fld>
            <a:endParaRPr lang="zh-CN" altLang="en-US"/>
          </a:p>
        </p:txBody>
      </p:sp>
      <p:sp>
        <p:nvSpPr>
          <p:cNvPr id="8" name="Footer Placeholder 7"/>
          <p:cNvSpPr>
            <a:spLocks noGrp="1"/>
          </p:cNvSpPr>
          <p:nvPr>
            <p:ph type="ftr" sz="quarter" idx="11"/>
          </p:nvPr>
        </p:nvSpPr>
        <p:spPr/>
        <p:txBody>
          <a:bodyPr/>
          <a:lstStyle/>
          <a:p>
            <a:endParaRPr lang="zh-CN" altLang="en-US" dirty="0"/>
          </a:p>
        </p:txBody>
      </p:sp>
      <p:sp>
        <p:nvSpPr>
          <p:cNvPr id="9" name="Slide Number Placeholder 8"/>
          <p:cNvSpPr>
            <a:spLocks noGrp="1"/>
          </p:cNvSpPr>
          <p:nvPr>
            <p:ph type="sldNum" sz="quarter" idx="12"/>
          </p:nvPr>
        </p:nvSpPr>
        <p:spPr/>
        <p:txBody>
          <a:bodyPr/>
          <a:lstStyle/>
          <a:p>
            <a:fld id="{49AE70B2-8BF9-45C0-BB95-33D1B9D3A854}" type="slidenum">
              <a:rPr lang="zh-CN" altLang="en-US" smtClean="0"/>
              <a:t>‹#›</a:t>
            </a:fld>
            <a:endParaRPr lang="zh-CN" altLang="en-US" dirty="0"/>
          </a:p>
        </p:txBody>
      </p:sp>
      <p:sp>
        <p:nvSpPr>
          <p:cNvPr id="10" name="Title 9"/>
          <p:cNvSpPr>
            <a:spLocks noGrp="1"/>
          </p:cNvSpPr>
          <p:nvPr>
            <p:ph type="title"/>
          </p:nvPr>
        </p:nvSpPr>
        <p:spPr/>
        <p:txBody>
          <a:bodyPr/>
          <a:lstStyle/>
          <a:p>
            <a:r>
              <a:rPr lang="zh-CN" altLang="en-US"/>
              <a:t>单击此处编辑母版标题样式</a:t>
            </a:r>
            <a:endParaRPr lang="en-US" dirty="0"/>
          </a:p>
        </p:txBody>
      </p:sp>
    </p:spTree>
    <p:extLst>
      <p:ext uri="{BB962C8B-B14F-4D97-AF65-F5344CB8AC3E}">
        <p14:creationId xmlns:p14="http://schemas.microsoft.com/office/powerpoint/2010/main" val="22591519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760FBDFE-C587-4B4C-A407-44438C67B59E}" type="datetimeFigureOut">
              <a:rPr lang="zh-CN" altLang="en-US" smtClean="0"/>
              <a:t>2024/12/8</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22843363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0FBDFE-C587-4B4C-A407-44438C67B59E}" type="datetimeFigureOut">
              <a:rPr lang="zh-CN" altLang="en-US" smtClean="0"/>
              <a:t>2024/12/8</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15518929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6" name="Rectangle 25"/>
          <p:cNvSpPr/>
          <p:nvPr/>
        </p:nvSpPr>
        <p:spPr>
          <a:xfrm>
            <a:off x="6096000" y="0"/>
            <a:ext cx="6096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zh-CN" altLang="en-US"/>
              <a:t>单击此处编辑母版标题样式</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9" name="Date Placeholder 8"/>
          <p:cNvSpPr>
            <a:spLocks noGrp="1"/>
          </p:cNvSpPr>
          <p:nvPr>
            <p:ph type="dt" sz="half" idx="10"/>
          </p:nvPr>
        </p:nvSpPr>
        <p:spPr/>
        <p:txBody>
          <a:bodyPr/>
          <a:lstStyle/>
          <a:p>
            <a:fld id="{760FBDFE-C587-4B4C-A407-44438C67B59E}" type="datetimeFigureOut">
              <a:rPr lang="zh-CN" altLang="en-US" smtClean="0"/>
              <a:t>2024/12/8</a:t>
            </a:fld>
            <a:endParaRPr lang="zh-CN" altLang="en-US"/>
          </a:p>
        </p:txBody>
      </p:sp>
      <p:sp>
        <p:nvSpPr>
          <p:cNvPr id="10" name="Footer Placeholder 9"/>
          <p:cNvSpPr>
            <a:spLocks noGrp="1"/>
          </p:cNvSpPr>
          <p:nvPr>
            <p:ph type="ftr" sz="quarter" idx="11"/>
          </p:nvPr>
        </p:nvSpPr>
        <p:spPr>
          <a:xfrm>
            <a:off x="804672" y="6236208"/>
            <a:ext cx="5124797" cy="320040"/>
          </a:xfrm>
        </p:spPr>
        <p:txBody>
          <a:bodyPr/>
          <a:lstStyle>
            <a:lvl1pPr>
              <a:defRPr>
                <a:solidFill>
                  <a:schemeClr val="tx1">
                    <a:alpha val="70000"/>
                  </a:schemeClr>
                </a:solidFill>
              </a:defRPr>
            </a:lvl1pPr>
          </a:lstStyle>
          <a:p>
            <a:endParaRPr lang="zh-CN" altLang="en-US" dirty="0"/>
          </a:p>
        </p:txBody>
      </p:sp>
      <p:sp>
        <p:nvSpPr>
          <p:cNvPr id="11" name="Slide Number Placeholder 10"/>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extLst>
      <p:ext uri="{BB962C8B-B14F-4D97-AF65-F5344CB8AC3E}">
        <p14:creationId xmlns:p14="http://schemas.microsoft.com/office/powerpoint/2010/main" val="30045112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85000"/>
            </a:schemeClr>
          </a:solidFill>
        </p:spPr>
        <p:txBody>
          <a:bodyPr anchor="t"/>
          <a:lstStyle>
            <a:lvl1pPr marL="0" indent="0">
              <a:buNone/>
              <a:defRPr sz="3200">
                <a:solidFill>
                  <a:schemeClr val="bg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760FBDFE-C587-4B4C-A407-44438C67B59E}" type="datetimeFigureOut">
              <a:rPr lang="zh-CN" altLang="en-US" smtClean="0"/>
              <a:t>2024/12/8</a:t>
            </a:fld>
            <a:endParaRPr lang="zh-CN" altLang="en-US"/>
          </a:p>
        </p:txBody>
      </p:sp>
      <p:sp>
        <p:nvSpPr>
          <p:cNvPr id="9" name="Footer Placeholder 8"/>
          <p:cNvSpPr>
            <a:spLocks noGrp="1"/>
          </p:cNvSpPr>
          <p:nvPr>
            <p:ph type="ftr" sz="quarter" idx="11"/>
          </p:nvPr>
        </p:nvSpPr>
        <p:spPr>
          <a:xfrm>
            <a:off x="804672" y="6236208"/>
            <a:ext cx="5124797" cy="320040"/>
          </a:xfrm>
        </p:spPr>
        <p:txBody>
          <a:bodyPr/>
          <a:lstStyle>
            <a:lvl1pPr>
              <a:defRPr>
                <a:solidFill>
                  <a:schemeClr val="tx1">
                    <a:alpha val="70000"/>
                  </a:schemeClr>
                </a:solidFill>
              </a:defRPr>
            </a:lvl1pPr>
          </a:lstStyle>
          <a:p>
            <a:endParaRPr lang="zh-CN" altLang="en-US" dirty="0"/>
          </a:p>
        </p:txBody>
      </p:sp>
      <p:sp>
        <p:nvSpPr>
          <p:cNvPr id="10" name="Slide Number Placeholder 9"/>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extLst>
      <p:ext uri="{BB962C8B-B14F-4D97-AF65-F5344CB8AC3E}">
        <p14:creationId xmlns:p14="http://schemas.microsoft.com/office/powerpoint/2010/main" val="3769292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760FBDFE-C587-4B4C-A407-44438C67B59E}" type="datetimeFigureOut">
              <a:rPr lang="zh-CN" altLang="en-US" smtClean="0"/>
              <a:t>2024/12/8</a:t>
            </a:fld>
            <a:endParaRPr lang="zh-CN" altLang="en-US"/>
          </a:p>
        </p:txBody>
      </p:sp>
      <p:sp>
        <p:nvSpPr>
          <p:cNvPr id="5" name="Footer Placeholder 4"/>
          <p:cNvSpPr>
            <a:spLocks noGrp="1"/>
          </p:cNvSpPr>
          <p:nvPr>
            <p:ph type="ftr" sz="quarter" idx="11"/>
          </p:nvPr>
        </p:nvSpPr>
        <p:spPr/>
        <p:txBody>
          <a:bodyPr/>
          <a:lstStyle/>
          <a:p>
            <a:endParaRPr lang="zh-CN" altLang="en-US" dirty="0"/>
          </a:p>
        </p:txBody>
      </p:sp>
      <p:sp>
        <p:nvSpPr>
          <p:cNvPr id="6" name="Slide Number Placeholder 5"/>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extLst>
      <p:ext uri="{BB962C8B-B14F-4D97-AF65-F5344CB8AC3E}">
        <p14:creationId xmlns:p14="http://schemas.microsoft.com/office/powerpoint/2010/main" val="4479642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760FBDFE-C587-4B4C-A407-44438C67B59E}" type="datetimeFigureOut">
              <a:rPr lang="zh-CN" altLang="en-US" smtClean="0"/>
              <a:t>2024/12/8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16650151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a:t>单击此处编辑母版文本样式</a:t>
            </a:r>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2024/12/8</a:t>
            </a:fld>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2024/12/8</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08400" y="774000"/>
            <a:ext cx="10972800" cy="5482800"/>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2024/12/8</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a:t>单击此处编辑标题</a:t>
            </a:r>
          </a:p>
        </p:txBody>
      </p:sp>
      <p:sp>
        <p:nvSpPr>
          <p:cNvPr id="7" name="文本占位符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7.xml"/><Relationship Id="rId3" Type="http://schemas.openxmlformats.org/officeDocument/2006/relationships/tags" Target="../tags/tag2.xml"/><Relationship Id="rId7" Type="http://schemas.openxmlformats.org/officeDocument/2006/relationships/tags" Target="../tags/tag6.xml"/><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theme" Target="../theme/theme2.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3"/>
            </p:custDataLst>
          </p:nvPr>
        </p:nvSpPr>
        <p:spPr>
          <a:xfrm>
            <a:off x="608400" y="608400"/>
            <a:ext cx="10969200" cy="705600"/>
          </a:xfrm>
          <a:prstGeom prst="rect">
            <a:avLst/>
          </a:prstGeom>
        </p:spPr>
        <p:txBody>
          <a:bodyPr vert="horz" wrap="square"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4"/>
            </p:custDataLst>
          </p:nvPr>
        </p:nvSpPr>
        <p:spPr>
          <a:xfrm>
            <a:off x="608400" y="1490400"/>
            <a:ext cx="10969200" cy="4759200"/>
          </a:xfrm>
          <a:prstGeom prst="rect">
            <a:avLst/>
          </a:prstGeom>
        </p:spPr>
        <p:txBody>
          <a:bodyPr vert="horz" wrap="square"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5"/>
            </p:custDataLst>
          </p:nvPr>
        </p:nvSpPr>
        <p:spPr>
          <a:xfrm>
            <a:off x="612000" y="6314400"/>
            <a:ext cx="2700000" cy="316800"/>
          </a:xfrm>
          <a:prstGeom prst="rect">
            <a:avLst/>
          </a:prstGeom>
        </p:spPr>
        <p:txBody>
          <a:bodyPr vert="horz" wrap="square" lIns="91440" tIns="45720" rIns="91440" bIns="45720" rtlCol="0" anchor="ctr">
            <a:normAutofit/>
          </a:bodyPr>
          <a:lstStyle>
            <a:lvl1pPr algn="l">
              <a:defRPr sz="1000" baseline="0">
                <a:solidFill>
                  <a:schemeClr val="tx1">
                    <a:tint val="75000"/>
                  </a:schemeClr>
                </a:solidFill>
                <a:latin typeface="Arial" panose="020B0604020202020204" pitchFamily="34" charset="0"/>
                <a:ea typeface="微软雅黑" panose="020B0503020204020204" charset="-122"/>
              </a:defRPr>
            </a:lvl1pPr>
          </a:lstStyle>
          <a:p>
            <a:fld id="{760FBDFE-C587-4B4C-A407-44438C67B59E}" type="datetimeFigureOut">
              <a:rPr lang="zh-CN" altLang="en-US" smtClean="0"/>
              <a:t>2024/12/8</a:t>
            </a:fld>
            <a:endParaRPr lang="zh-CN" altLang="en-US"/>
          </a:p>
        </p:txBody>
      </p:sp>
      <p:sp>
        <p:nvSpPr>
          <p:cNvPr id="5" name="页脚占位符 4"/>
          <p:cNvSpPr>
            <a:spLocks noGrp="1"/>
          </p:cNvSpPr>
          <p:nvPr>
            <p:ph type="ftr" sz="quarter" idx="3"/>
            <p:custDataLst>
              <p:tags r:id="rId6"/>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Arial" panose="020B0604020202020204" pitchFamily="34" charset="0"/>
                <a:ea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7"/>
            </p:custDataLst>
          </p:nvPr>
        </p:nvSpPr>
        <p:spPr>
          <a:xfrm>
            <a:off x="8877600" y="6314400"/>
            <a:ext cx="2700000" cy="316800"/>
          </a:xfrm>
          <a:prstGeom prst="rect">
            <a:avLst/>
          </a:prstGeom>
        </p:spPr>
        <p:txBody>
          <a:bodyPr vert="horz" wrap="square" lIns="91440" tIns="45720" rIns="91440" bIns="45720" rtlCol="0" anchor="ctr">
            <a:normAutofit/>
          </a:bodyPr>
          <a:lstStyle>
            <a:lvl1pPr algn="r">
              <a:defRPr sz="1000" baseline="0">
                <a:solidFill>
                  <a:schemeClr val="tx1">
                    <a:tint val="75000"/>
                  </a:schemeClr>
                </a:solidFill>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8" name="KSO_TEMPLATE" hidden="1"/>
          <p:cNvSpPr/>
          <p:nvPr userDrawn="1">
            <p:custDataLst>
              <p:tags r:id="rId8"/>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solidFill>
          <a:uFillTx/>
          <a:latin typeface="Arial" panose="020B0604020202020204" pitchFamily="34" charset="0"/>
          <a:ea typeface="微软雅黑" panose="020B050302020402020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31136" y="964692"/>
            <a:ext cx="7729728" cy="1188720"/>
          </a:xfrm>
          <a:prstGeom prst="rect">
            <a:avLst/>
          </a:prstGeom>
          <a:solidFill>
            <a:schemeClr val="bg1"/>
          </a:solidFill>
          <a:ln w="31750" cap="sq">
            <a:solidFill>
              <a:schemeClr val="tx1">
                <a:lumMod val="75000"/>
                <a:lumOff val="25000"/>
              </a:schemeClr>
            </a:solidFill>
            <a:miter lim="800000"/>
          </a:ln>
        </p:spPr>
        <p:txBody>
          <a:bodyPr vert="horz" lIns="182880" tIns="182880" rIns="182880" bIns="18288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760FBDFE-C587-4B4C-A407-44438C67B59E}" type="datetimeFigureOut">
              <a:rPr lang="zh-CN" altLang="en-US" smtClean="0"/>
              <a:t>2024/12/8</a:t>
            </a:fld>
            <a:endParaRPr lang="zh-CN" altLang="en-US"/>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zh-CN" alt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49AE70B2-8BF9-45C0-BB95-33D1B9D3A854}" type="slidenum">
              <a:rPr lang="zh-CN" altLang="en-US" smtClean="0"/>
              <a:t>‹#›</a:t>
            </a:fld>
            <a:endParaRPr lang="zh-CN" altLang="en-US" dirty="0"/>
          </a:p>
        </p:txBody>
      </p:sp>
    </p:spTree>
    <p:extLst>
      <p:ext uri="{BB962C8B-B14F-4D97-AF65-F5344CB8AC3E}">
        <p14:creationId xmlns:p14="http://schemas.microsoft.com/office/powerpoint/2010/main" val="1220747954"/>
      </p:ext>
    </p:extLst>
  </p:cSld>
  <p:clrMap bg1="lt1" tx1="dk1" bg2="lt2" tx2="dk2" accent1="accent1" accent2="accent2" accent3="accent3" accent4="accent4" accent5="accent5" accent6="accent6" hlink="hlink" folHlink="folHlink"/>
  <p:sldLayoutIdLst>
    <p:sldLayoutId id="2147483931" r:id="rId1"/>
    <p:sldLayoutId id="2147483932" r:id="rId2"/>
    <p:sldLayoutId id="2147483933" r:id="rId3"/>
    <p:sldLayoutId id="2147483934" r:id="rId4"/>
    <p:sldLayoutId id="2147483935" r:id="rId5"/>
    <p:sldLayoutId id="2147483936" r:id="rId6"/>
    <p:sldLayoutId id="2147483937" r:id="rId7"/>
    <p:sldLayoutId id="2147483938" r:id="rId8"/>
    <p:sldLayoutId id="2147483939" r:id="rId9"/>
    <p:sldLayoutId id="2147483940" r:id="rId10"/>
    <p:sldLayoutId id="2147483941" r:id="rId11"/>
    <p:sldLayoutId id="2147483656" r:id="rId12"/>
    <p:sldLayoutId id="2147483658" r:id="rId13"/>
    <p:sldLayoutId id="2147483659" r:id="rId14"/>
  </p:sldLayoutIdLst>
  <p:txStyles>
    <p:titleStyle>
      <a:lvl1pPr algn="ctr" defTabSz="914400" rtl="0" eaLnBrk="1" latinLnBrk="0" hangingPunct="1">
        <a:lnSpc>
          <a:spcPct val="90000"/>
        </a:lnSpc>
        <a:spcBef>
          <a:spcPct val="0"/>
        </a:spcBef>
        <a:buNone/>
        <a:defRPr sz="2800" kern="1200" cap="all" spc="200" baseline="0">
          <a:solidFill>
            <a:schemeClr val="tx1">
              <a:lumMod val="85000"/>
              <a:lumOff val="15000"/>
            </a:schemeClr>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27.xml"/></Relationships>
</file>

<file path=ppt/slides/_rels/slide2.xml.rels><?xml version="1.0" encoding="UTF-8" standalone="yes"?>
<Relationships xmlns="http://schemas.openxmlformats.org/package/2006/relationships"><Relationship Id="rId8" Type="http://schemas.openxmlformats.org/officeDocument/2006/relationships/slideLayout" Target="../slideLayouts/slideLayout2.xml"/><Relationship Id="rId13" Type="http://schemas.microsoft.com/office/2007/relationships/diagramDrawing" Target="../diagrams/drawing1.xml"/><Relationship Id="rId3" Type="http://schemas.openxmlformats.org/officeDocument/2006/relationships/tags" Target="../tags/tag30.xml"/><Relationship Id="rId7" Type="http://schemas.openxmlformats.org/officeDocument/2006/relationships/tags" Target="../tags/tag34.xml"/><Relationship Id="rId12" Type="http://schemas.openxmlformats.org/officeDocument/2006/relationships/diagramColors" Target="../diagrams/colors1.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tags" Target="../tags/tag33.xml"/><Relationship Id="rId11" Type="http://schemas.openxmlformats.org/officeDocument/2006/relationships/diagramQuickStyle" Target="../diagrams/quickStyle1.xml"/><Relationship Id="rId5" Type="http://schemas.openxmlformats.org/officeDocument/2006/relationships/tags" Target="../tags/tag32.xml"/><Relationship Id="rId10" Type="http://schemas.openxmlformats.org/officeDocument/2006/relationships/diagramLayout" Target="../diagrams/layout1.xml"/><Relationship Id="rId4" Type="http://schemas.openxmlformats.org/officeDocument/2006/relationships/tags" Target="../tags/tag31.xml"/><Relationship Id="rId9"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8" Type="http://schemas.openxmlformats.org/officeDocument/2006/relationships/tags" Target="../tags/tag42.xml"/><Relationship Id="rId3" Type="http://schemas.openxmlformats.org/officeDocument/2006/relationships/tags" Target="../tags/tag37.xml"/><Relationship Id="rId7" Type="http://schemas.openxmlformats.org/officeDocument/2006/relationships/tags" Target="../tags/tag41.xml"/><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tags" Target="../tags/tag40.xml"/><Relationship Id="rId11" Type="http://schemas.openxmlformats.org/officeDocument/2006/relationships/notesSlide" Target="../notesSlides/notesSlide1.xml"/><Relationship Id="rId5" Type="http://schemas.openxmlformats.org/officeDocument/2006/relationships/tags" Target="../tags/tag39.xml"/><Relationship Id="rId10" Type="http://schemas.openxmlformats.org/officeDocument/2006/relationships/slideLayout" Target="../slideLayouts/slideLayout1.xml"/><Relationship Id="rId4" Type="http://schemas.openxmlformats.org/officeDocument/2006/relationships/tags" Target="../tags/tag38.xml"/><Relationship Id="rId9" Type="http://schemas.openxmlformats.org/officeDocument/2006/relationships/tags" Target="../tags/tag43.xml"/></Relationships>
</file>

<file path=ppt/slides/_rels/slide4.xml.rels><?xml version="1.0" encoding="UTF-8" standalone="yes"?>
<Relationships xmlns="http://schemas.openxmlformats.org/package/2006/relationships"><Relationship Id="rId3" Type="http://schemas.openxmlformats.org/officeDocument/2006/relationships/tags" Target="../tags/tag46.xml"/><Relationship Id="rId2" Type="http://schemas.openxmlformats.org/officeDocument/2006/relationships/tags" Target="../tags/tag45.xml"/><Relationship Id="rId1" Type="http://schemas.openxmlformats.org/officeDocument/2006/relationships/tags" Target="../tags/tag44.xml"/><Relationship Id="rId4"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12.png"/><Relationship Id="rId7" Type="http://schemas.openxmlformats.org/officeDocument/2006/relationships/diagramColors" Target="../diagrams/colors2.xml"/><Relationship Id="rId2" Type="http://schemas.openxmlformats.org/officeDocument/2006/relationships/slideLayout" Target="../slideLayouts/slideLayout2.xml"/><Relationship Id="rId1" Type="http://schemas.openxmlformats.org/officeDocument/2006/relationships/tags" Target="../tags/tag47.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3.xml"/><Relationship Id="rId1" Type="http://schemas.openxmlformats.org/officeDocument/2006/relationships/tags" Target="../tags/tag48.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2.xml"/><Relationship Id="rId1" Type="http://schemas.openxmlformats.org/officeDocument/2006/relationships/tags" Target="../tags/tag49.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slideLayout" Target="../slideLayouts/slideLayout2.xml"/><Relationship Id="rId1" Type="http://schemas.openxmlformats.org/officeDocument/2006/relationships/tags" Target="../tags/tag50.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2.xml"/><Relationship Id="rId1" Type="http://schemas.openxmlformats.org/officeDocument/2006/relationships/tags" Target="../tags/tag51.xml"/></Relationships>
</file>

<file path=ppt/slides/_rels/slide10.xml.rels><?xml version="1.0" encoding="UTF-8" standalone="yes"?>
<Relationships xmlns="http://schemas.openxmlformats.org/package/2006/relationships"><Relationship Id="rId8" Type="http://schemas.openxmlformats.org/officeDocument/2006/relationships/tags" Target="../tags/tag59.xml"/><Relationship Id="rId3" Type="http://schemas.openxmlformats.org/officeDocument/2006/relationships/tags" Target="../tags/tag54.xml"/><Relationship Id="rId7" Type="http://schemas.openxmlformats.org/officeDocument/2006/relationships/tags" Target="../tags/tag58.xml"/><Relationship Id="rId2" Type="http://schemas.openxmlformats.org/officeDocument/2006/relationships/tags" Target="../tags/tag53.xml"/><Relationship Id="rId1" Type="http://schemas.openxmlformats.org/officeDocument/2006/relationships/tags" Target="../tags/tag52.xml"/><Relationship Id="rId6" Type="http://schemas.openxmlformats.org/officeDocument/2006/relationships/tags" Target="../tags/tag57.xml"/><Relationship Id="rId5" Type="http://schemas.openxmlformats.org/officeDocument/2006/relationships/tags" Target="../tags/tag56.xml"/><Relationship Id="rId10" Type="http://schemas.openxmlformats.org/officeDocument/2006/relationships/slideLayout" Target="../slideLayouts/slideLayout2.xml"/><Relationship Id="rId4" Type="http://schemas.openxmlformats.org/officeDocument/2006/relationships/tags" Target="../tags/tag55.xml"/><Relationship Id="rId9" Type="http://schemas.openxmlformats.org/officeDocument/2006/relationships/tags" Target="../tags/tag60.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2.xml"/><Relationship Id="rId7" Type="http://schemas.openxmlformats.org/officeDocument/2006/relationships/image" Target="../media/image24.png"/><Relationship Id="rId2" Type="http://schemas.openxmlformats.org/officeDocument/2006/relationships/slideLayout" Target="../slideLayouts/slideLayout2.xml"/><Relationship Id="rId1" Type="http://schemas.openxmlformats.org/officeDocument/2006/relationships/tags" Target="../tags/tag6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8" Type="http://schemas.openxmlformats.org/officeDocument/2006/relationships/tags" Target="../tags/tag69.xml"/><Relationship Id="rId3" Type="http://schemas.openxmlformats.org/officeDocument/2006/relationships/tags" Target="../tags/tag64.xml"/><Relationship Id="rId7" Type="http://schemas.openxmlformats.org/officeDocument/2006/relationships/tags" Target="../tags/tag68.xml"/><Relationship Id="rId2" Type="http://schemas.openxmlformats.org/officeDocument/2006/relationships/tags" Target="../tags/tag63.xml"/><Relationship Id="rId1" Type="http://schemas.openxmlformats.org/officeDocument/2006/relationships/tags" Target="../tags/tag62.xml"/><Relationship Id="rId6" Type="http://schemas.openxmlformats.org/officeDocument/2006/relationships/tags" Target="../tags/tag67.xml"/><Relationship Id="rId5" Type="http://schemas.openxmlformats.org/officeDocument/2006/relationships/tags" Target="../tags/tag66.xml"/><Relationship Id="rId10" Type="http://schemas.openxmlformats.org/officeDocument/2006/relationships/slideLayout" Target="../slideLayouts/slideLayout2.xml"/><Relationship Id="rId4" Type="http://schemas.openxmlformats.org/officeDocument/2006/relationships/tags" Target="../tags/tag65.xml"/><Relationship Id="rId9" Type="http://schemas.openxmlformats.org/officeDocument/2006/relationships/tags" Target="../tags/tag7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slideLayout" Target="../slideLayouts/slideLayout3.xml"/><Relationship Id="rId1" Type="http://schemas.openxmlformats.org/officeDocument/2006/relationships/tags" Target="../tags/tag71.xml"/></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slideLayout" Target="../slideLayouts/slideLayout3.xml"/><Relationship Id="rId1" Type="http://schemas.openxmlformats.org/officeDocument/2006/relationships/tags" Target="../tags/tag72.xml"/><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slideLayout" Target="../slideLayouts/slideLayout3.xml"/><Relationship Id="rId1" Type="http://schemas.openxmlformats.org/officeDocument/2006/relationships/tags" Target="../tags/tag73.xml"/></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slideLayout" Target="../slideLayouts/slideLayout3.xml"/><Relationship Id="rId1" Type="http://schemas.openxmlformats.org/officeDocument/2006/relationships/tags" Target="../tags/tag74.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75.xml"/></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slideLayout" Target="../slideLayouts/slideLayout3.xml"/><Relationship Id="rId1" Type="http://schemas.openxmlformats.org/officeDocument/2006/relationships/tags" Target="../tags/tag76.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tags" Target="../tags/tag77.xml"/><Relationship Id="rId5" Type="http://schemas.openxmlformats.org/officeDocument/2006/relationships/image" Target="../media/image33.png"/><Relationship Id="rId4" Type="http://schemas.openxmlformats.org/officeDocument/2006/relationships/image" Target="../media/image32.png"/></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slideLayout" Target="../slideLayouts/slideLayout3.xml"/><Relationship Id="rId1" Type="http://schemas.openxmlformats.org/officeDocument/2006/relationships/tags" Target="../tags/tag78.xml"/></Relationships>
</file>

<file path=ppt/slides/_rels/slide2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slideLayout" Target="../slideLayouts/slideLayout3.xml"/><Relationship Id="rId1" Type="http://schemas.openxmlformats.org/officeDocument/2006/relationships/tags" Target="../tags/tag79.xml"/></Relationships>
</file>

<file path=ppt/slides/_rels/slide2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slideLayout" Target="../slideLayouts/slideLayout3.xml"/><Relationship Id="rId1" Type="http://schemas.openxmlformats.org/officeDocument/2006/relationships/tags" Target="../tags/tag80.xml"/><Relationship Id="rId4" Type="http://schemas.openxmlformats.org/officeDocument/2006/relationships/image" Target="../media/image37.png"/></Relationships>
</file>

<file path=ppt/slides/_rels/slide2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slideLayout" Target="../slideLayouts/slideLayout3.xml"/><Relationship Id="rId1" Type="http://schemas.openxmlformats.org/officeDocument/2006/relationships/tags" Target="../tags/tag81.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8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8F8D43DF-C126-691C-B278-17CF0A1357E7}"/>
              </a:ext>
            </a:extLst>
          </p:cNvPr>
          <p:cNvPicPr>
            <a:picLocks noChangeAspect="1"/>
          </p:cNvPicPr>
          <p:nvPr/>
        </p:nvPicPr>
        <p:blipFill>
          <a:blip r:embed="rId3"/>
          <a:srcRect l="17176" r="12755"/>
          <a:stretch/>
        </p:blipFill>
        <p:spPr>
          <a:xfrm>
            <a:off x="20" y="10"/>
            <a:ext cx="7537684" cy="6857990"/>
          </a:xfrm>
          <a:prstGeom prst="rect">
            <a:avLst/>
          </a:prstGeom>
        </p:spPr>
      </p:pic>
      <p:sp>
        <p:nvSpPr>
          <p:cNvPr id="6" name="文本框 5">
            <a:extLst>
              <a:ext uri="{FF2B5EF4-FFF2-40B4-BE49-F238E27FC236}">
                <a16:creationId xmlns:a16="http://schemas.microsoft.com/office/drawing/2014/main" id="{94AF7FF1-6313-7AC5-DDA7-EA90C1EAF5DE}"/>
              </a:ext>
            </a:extLst>
          </p:cNvPr>
          <p:cNvSpPr txBox="1"/>
          <p:nvPr/>
        </p:nvSpPr>
        <p:spPr>
          <a:xfrm>
            <a:off x="0" y="379240"/>
            <a:ext cx="7537703" cy="1188720"/>
          </a:xfrm>
          <a:prstGeom prst="rect">
            <a:avLst/>
          </a:prstGeom>
          <a:solidFill>
            <a:schemeClr val="bg1">
              <a:alpha val="80000"/>
            </a:schemeClr>
          </a:solidFill>
        </p:spPr>
        <p:txBody>
          <a:bodyPr vert="horz" lIns="182880" tIns="182880" rIns="182880" bIns="182880" rtlCol="0" anchor="ctr">
            <a:normAutofit/>
          </a:bodyPr>
          <a:lstStyle/>
          <a:p>
            <a:pPr algn="ctr">
              <a:lnSpc>
                <a:spcPct val="90000"/>
              </a:lnSpc>
              <a:spcBef>
                <a:spcPct val="0"/>
              </a:spcBef>
              <a:spcAft>
                <a:spcPts val="600"/>
              </a:spcAft>
            </a:pPr>
            <a:r>
              <a:rPr lang="en-US" altLang="zh-CN" cap="all" spc="200" dirty="0">
                <a:solidFill>
                  <a:schemeClr val="tx1">
                    <a:lumMod val="85000"/>
                    <a:lumOff val="15000"/>
                  </a:schemeClr>
                </a:solidFill>
                <a:latin typeface="Times New Roman" panose="02020603050405020304" pitchFamily="18" charset="0"/>
                <a:ea typeface="+mj-ea"/>
                <a:cs typeface="Times New Roman" panose="02020603050405020304" pitchFamily="18" charset="0"/>
              </a:rPr>
              <a:t>MGMT 68700 Final Project</a:t>
            </a:r>
          </a:p>
          <a:p>
            <a:pPr algn="ctr">
              <a:lnSpc>
                <a:spcPct val="90000"/>
              </a:lnSpc>
              <a:spcBef>
                <a:spcPct val="0"/>
              </a:spcBef>
              <a:spcAft>
                <a:spcPts val="600"/>
              </a:spcAft>
            </a:pPr>
            <a:r>
              <a:rPr lang="en-US" altLang="zh-CN" cap="all" spc="200" dirty="0">
                <a:solidFill>
                  <a:schemeClr val="tx1">
                    <a:lumMod val="85000"/>
                    <a:lumOff val="15000"/>
                  </a:schemeClr>
                </a:solidFill>
                <a:latin typeface="Times New Roman" panose="02020603050405020304" pitchFamily="18" charset="0"/>
                <a:ea typeface="+mj-ea"/>
                <a:cs typeface="Times New Roman" panose="02020603050405020304" pitchFamily="18" charset="0"/>
              </a:rPr>
              <a:t>Airbnb Revenue Forecast and Influencing Factors Analysis</a:t>
            </a:r>
          </a:p>
        </p:txBody>
      </p:sp>
      <p:sp>
        <p:nvSpPr>
          <p:cNvPr id="7" name="文本框 6">
            <a:extLst>
              <a:ext uri="{FF2B5EF4-FFF2-40B4-BE49-F238E27FC236}">
                <a16:creationId xmlns:a16="http://schemas.microsoft.com/office/drawing/2014/main" id="{A4047DFD-87D1-E6B6-5238-D34FF061320C}"/>
              </a:ext>
            </a:extLst>
          </p:cNvPr>
          <p:cNvSpPr txBox="1"/>
          <p:nvPr/>
        </p:nvSpPr>
        <p:spPr>
          <a:xfrm>
            <a:off x="8242273" y="973600"/>
            <a:ext cx="3374136" cy="4924280"/>
          </a:xfrm>
          <a:prstGeom prst="rect">
            <a:avLst/>
          </a:prstGeom>
        </p:spPr>
        <p:txBody>
          <a:bodyPr vert="horz" lIns="91440" tIns="45720" rIns="91440" bIns="45720" rtlCol="0" anchor="ctr">
            <a:normAutofit/>
          </a:bodyPr>
          <a:lstStyle/>
          <a:p>
            <a:pPr indent="-228600">
              <a:spcBef>
                <a:spcPts val="1000"/>
              </a:spcBef>
              <a:buClr>
                <a:schemeClr val="accent2"/>
              </a:buClr>
              <a:buFont typeface="Arial" panose="020B0604020202020204" pitchFamily="34" charset="0"/>
              <a:buChar char="•"/>
            </a:pPr>
            <a:r>
              <a:rPr lang="en-US" altLang="zh-CN" dirty="0">
                <a:solidFill>
                  <a:schemeClr val="bg1">
                    <a:lumMod val="85000"/>
                    <a:lumOff val="15000"/>
                  </a:schemeClr>
                </a:solidFill>
                <a:latin typeface="Times New Roman" panose="02020603050405020304" pitchFamily="18" charset="0"/>
                <a:cs typeface="Times New Roman" panose="02020603050405020304" pitchFamily="18" charset="0"/>
              </a:rPr>
              <a:t>Team Information:</a:t>
            </a:r>
          </a:p>
          <a:p>
            <a:pPr indent="-228600">
              <a:spcBef>
                <a:spcPts val="1000"/>
              </a:spcBef>
              <a:buClr>
                <a:schemeClr val="accent2"/>
              </a:buClr>
              <a:buFont typeface="Arial" panose="020B0604020202020204" pitchFamily="34" charset="0"/>
              <a:buChar char="•"/>
            </a:pPr>
            <a:r>
              <a:rPr lang="en-US" altLang="zh-CN" dirty="0">
                <a:solidFill>
                  <a:schemeClr val="bg1">
                    <a:lumMod val="85000"/>
                    <a:lumOff val="15000"/>
                  </a:schemeClr>
                </a:solidFill>
                <a:latin typeface="Times New Roman" panose="02020603050405020304" pitchFamily="18" charset="0"/>
                <a:cs typeface="Times New Roman" panose="02020603050405020304" pitchFamily="18" charset="0"/>
              </a:rPr>
              <a:t>Huangkun Chen </a:t>
            </a:r>
          </a:p>
          <a:p>
            <a:pPr indent="-228600">
              <a:spcBef>
                <a:spcPts val="1000"/>
              </a:spcBef>
              <a:buClr>
                <a:schemeClr val="accent2"/>
              </a:buClr>
              <a:buFont typeface="Arial" panose="020B0604020202020204" pitchFamily="34" charset="0"/>
              <a:buChar char="•"/>
            </a:pPr>
            <a:r>
              <a:rPr lang="en-US" altLang="zh-CN" dirty="0" err="1">
                <a:solidFill>
                  <a:schemeClr val="bg1">
                    <a:lumMod val="85000"/>
                    <a:lumOff val="15000"/>
                  </a:schemeClr>
                </a:solidFill>
                <a:latin typeface="Times New Roman" panose="02020603050405020304" pitchFamily="18" charset="0"/>
                <a:cs typeface="Times New Roman" panose="02020603050405020304" pitchFamily="18" charset="0"/>
              </a:rPr>
              <a:t>Yingtong</a:t>
            </a:r>
            <a:r>
              <a:rPr lang="en-US" altLang="zh-CN" dirty="0">
                <a:solidFill>
                  <a:schemeClr val="bg1">
                    <a:lumMod val="85000"/>
                    <a:lumOff val="15000"/>
                  </a:schemeClr>
                </a:solidFill>
                <a:latin typeface="Times New Roman" panose="02020603050405020304" pitchFamily="18" charset="0"/>
                <a:cs typeface="Times New Roman" panose="02020603050405020304" pitchFamily="18" charset="0"/>
              </a:rPr>
              <a:t> Wang </a:t>
            </a: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175259" y="128905"/>
            <a:ext cx="2662277" cy="461665"/>
          </a:xfrm>
          <a:prstGeom prst="rect">
            <a:avLst/>
          </a:prstGeom>
          <a:noFill/>
        </p:spPr>
        <p:txBody>
          <a:bodyPr wrap="square" rtlCol="0" anchor="t">
            <a:spAutoFit/>
          </a:bodyPr>
          <a:lstStyle/>
          <a:p>
            <a:r>
              <a:rPr lang="en-US" altLang="zh-CN" sz="2400" b="1" dirty="0">
                <a:latin typeface="Times New Roman" panose="02020603050405020304" charset="0"/>
                <a:cs typeface="Times New Roman" panose="02020603050405020304" charset="0"/>
              </a:rPr>
              <a:t>SUMMARY</a:t>
            </a:r>
            <a:endParaRPr lang="zh-CN" altLang="en-US" sz="2400" b="1" dirty="0">
              <a:latin typeface="Times New Roman" panose="02020603050405020304" charset="0"/>
              <a:cs typeface="Times New Roman" panose="02020603050405020304" charset="0"/>
            </a:endParaRPr>
          </a:p>
        </p:txBody>
      </p:sp>
      <p:sp>
        <p:nvSpPr>
          <p:cNvPr id="2" name="矩形 1"/>
          <p:cNvSpPr/>
          <p:nvPr>
            <p:custDataLst>
              <p:tags r:id="rId2"/>
            </p:custDataLst>
          </p:nvPr>
        </p:nvSpPr>
        <p:spPr>
          <a:xfrm>
            <a:off x="2052955" y="1383665"/>
            <a:ext cx="2624455" cy="496931"/>
          </a:xfrm>
          <a:prstGeom prst="rect">
            <a:avLst/>
          </a:prstGeom>
        </p:spPr>
        <p:txBody>
          <a:bodyPr vert="horz" wrap="square">
            <a:spAutoFit/>
          </a:bodyPr>
          <a:lstStyle/>
          <a:p>
            <a:pPr algn="ctr">
              <a:lnSpc>
                <a:spcPct val="150000"/>
              </a:lnSpc>
            </a:pPr>
            <a:r>
              <a:rPr lang="zh-CN" altLang="en-US" sz="2000" dirty="0">
                <a:solidFill>
                  <a:srgbClr val="4874CB"/>
                </a:solidFill>
                <a:latin typeface="Times New Roman" panose="02020603050405020304" pitchFamily="18" charset="0"/>
                <a:cs typeface="Times New Roman" panose="02020603050405020304" pitchFamily="18" charset="0"/>
                <a:sym typeface="+mn-ea"/>
              </a:rPr>
              <a:t>Research </a:t>
            </a:r>
            <a:r>
              <a:rPr lang="en-US" altLang="zh-CN" sz="2000" dirty="0">
                <a:solidFill>
                  <a:srgbClr val="4874CB"/>
                </a:solidFill>
                <a:latin typeface="Times New Roman" panose="02020603050405020304" pitchFamily="18" charset="0"/>
                <a:cs typeface="Times New Roman" panose="02020603050405020304" pitchFamily="18" charset="0"/>
                <a:sym typeface="+mn-ea"/>
              </a:rPr>
              <a:t>O</a:t>
            </a:r>
            <a:r>
              <a:rPr lang="zh-CN" altLang="en-US" sz="2000" dirty="0">
                <a:solidFill>
                  <a:srgbClr val="4874CB"/>
                </a:solidFill>
                <a:latin typeface="Times New Roman" panose="02020603050405020304" pitchFamily="18" charset="0"/>
                <a:cs typeface="Times New Roman" panose="02020603050405020304" pitchFamily="18" charset="0"/>
                <a:sym typeface="+mn-ea"/>
              </a:rPr>
              <a:t>bjectives</a:t>
            </a:r>
          </a:p>
        </p:txBody>
      </p:sp>
      <p:cxnSp>
        <p:nvCxnSpPr>
          <p:cNvPr id="3" name="直接连接符 2"/>
          <p:cNvCxnSpPr/>
          <p:nvPr>
            <p:custDataLst>
              <p:tags r:id="rId3"/>
            </p:custDataLst>
          </p:nvPr>
        </p:nvCxnSpPr>
        <p:spPr>
          <a:xfrm flipH="1">
            <a:off x="3181465" y="1334682"/>
            <a:ext cx="396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矩形 3"/>
          <p:cNvSpPr/>
          <p:nvPr>
            <p:custDataLst>
              <p:tags r:id="rId4"/>
            </p:custDataLst>
          </p:nvPr>
        </p:nvSpPr>
        <p:spPr>
          <a:xfrm>
            <a:off x="7751883" y="1337920"/>
            <a:ext cx="2387498" cy="496931"/>
          </a:xfrm>
          <a:prstGeom prst="rect">
            <a:avLst/>
          </a:prstGeom>
        </p:spPr>
        <p:txBody>
          <a:bodyPr vert="horz" wrap="square">
            <a:spAutoFit/>
          </a:bodyPr>
          <a:lstStyle/>
          <a:p>
            <a:pPr algn="ctr">
              <a:lnSpc>
                <a:spcPct val="150000"/>
              </a:lnSpc>
              <a:buClrTx/>
              <a:buSzTx/>
              <a:buFontTx/>
            </a:pPr>
            <a:r>
              <a:rPr lang="zh-CN" altLang="en-US" sz="2000" dirty="0">
                <a:solidFill>
                  <a:srgbClr val="4874CB"/>
                </a:solidFill>
                <a:latin typeface="Times New Roman" panose="02020603050405020304" pitchFamily="18" charset="0"/>
                <a:cs typeface="Times New Roman" panose="02020603050405020304" pitchFamily="18" charset="0"/>
              </a:rPr>
              <a:t>Main </a:t>
            </a:r>
            <a:r>
              <a:rPr lang="en-US" altLang="zh-CN" sz="2000" dirty="0">
                <a:solidFill>
                  <a:srgbClr val="4874CB"/>
                </a:solidFill>
                <a:latin typeface="Times New Roman" panose="02020603050405020304" pitchFamily="18" charset="0"/>
                <a:cs typeface="Times New Roman" panose="02020603050405020304" pitchFamily="18" charset="0"/>
              </a:rPr>
              <a:t>F</a:t>
            </a:r>
            <a:r>
              <a:rPr lang="zh-CN" altLang="en-US" sz="2000" dirty="0">
                <a:solidFill>
                  <a:srgbClr val="4874CB"/>
                </a:solidFill>
                <a:latin typeface="Times New Roman" panose="02020603050405020304" pitchFamily="18" charset="0"/>
                <a:cs typeface="Times New Roman" panose="02020603050405020304" pitchFamily="18" charset="0"/>
              </a:rPr>
              <a:t>indings</a:t>
            </a:r>
          </a:p>
        </p:txBody>
      </p:sp>
      <p:cxnSp>
        <p:nvCxnSpPr>
          <p:cNvPr id="5" name="直接连接符 4"/>
          <p:cNvCxnSpPr/>
          <p:nvPr>
            <p:custDataLst>
              <p:tags r:id="rId5"/>
            </p:custDataLst>
          </p:nvPr>
        </p:nvCxnSpPr>
        <p:spPr>
          <a:xfrm flipH="1">
            <a:off x="8754721" y="1288962"/>
            <a:ext cx="396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矩形 5"/>
          <p:cNvSpPr/>
          <p:nvPr>
            <p:custDataLst>
              <p:tags r:id="rId6"/>
            </p:custDataLst>
          </p:nvPr>
        </p:nvSpPr>
        <p:spPr>
          <a:xfrm>
            <a:off x="2970530" y="716688"/>
            <a:ext cx="817662" cy="523220"/>
          </a:xfrm>
          <a:prstGeom prst="rect">
            <a:avLst/>
          </a:prstGeom>
          <a:noFill/>
        </p:spPr>
        <p:txBody>
          <a:bodyPr vert="horz" wrap="square">
            <a:spAutoFit/>
          </a:bodyPr>
          <a:lstStyle/>
          <a:p>
            <a:pPr algn="ctr"/>
            <a:r>
              <a:rPr lang="en-US" altLang="zh-CN" sz="2800" dirty="0">
                <a:solidFill>
                  <a:schemeClr val="accent1"/>
                </a:solidFill>
                <a:latin typeface="思源宋体 CN" panose="02020700000000000000" pitchFamily="18" charset="-122"/>
                <a:ea typeface="思源宋体 CN" panose="02020700000000000000" pitchFamily="18" charset="-122"/>
              </a:rPr>
              <a:t>01</a:t>
            </a:r>
            <a:endParaRPr lang="zh-CN" altLang="en-US" sz="2800" dirty="0">
              <a:solidFill>
                <a:schemeClr val="accent1"/>
              </a:solidFill>
              <a:latin typeface="Calibri Light" panose="020F0302020204030204" pitchFamily="34" charset="0"/>
              <a:cs typeface="Calibri Light" panose="020F0302020204030204" pitchFamily="34" charset="0"/>
            </a:endParaRPr>
          </a:p>
        </p:txBody>
      </p:sp>
      <p:sp>
        <p:nvSpPr>
          <p:cNvPr id="7" name="矩形 6"/>
          <p:cNvSpPr/>
          <p:nvPr>
            <p:custDataLst>
              <p:tags r:id="rId7"/>
            </p:custDataLst>
          </p:nvPr>
        </p:nvSpPr>
        <p:spPr>
          <a:xfrm>
            <a:off x="8536801" y="670968"/>
            <a:ext cx="817662" cy="523220"/>
          </a:xfrm>
          <a:prstGeom prst="rect">
            <a:avLst/>
          </a:prstGeom>
          <a:noFill/>
        </p:spPr>
        <p:txBody>
          <a:bodyPr vert="horz" wrap="square">
            <a:spAutoFit/>
          </a:bodyPr>
          <a:lstStyle/>
          <a:p>
            <a:pPr algn="ctr"/>
            <a:r>
              <a:rPr lang="en-US" altLang="zh-CN" sz="2800" dirty="0">
                <a:solidFill>
                  <a:schemeClr val="accent1"/>
                </a:solidFill>
                <a:latin typeface="思源宋体 CN" panose="02020700000000000000" pitchFamily="18" charset="-122"/>
                <a:ea typeface="思源宋体 CN" panose="02020700000000000000" pitchFamily="18" charset="-122"/>
              </a:rPr>
              <a:t>02</a:t>
            </a:r>
            <a:endParaRPr lang="zh-CN" altLang="en-US" sz="2800" dirty="0">
              <a:solidFill>
                <a:schemeClr val="accent1"/>
              </a:solidFill>
              <a:latin typeface="Calibri Light" panose="020F0302020204030204" pitchFamily="34" charset="0"/>
              <a:cs typeface="Calibri Light" panose="020F0302020204030204" pitchFamily="34" charset="0"/>
            </a:endParaRPr>
          </a:p>
        </p:txBody>
      </p:sp>
      <p:sp>
        <p:nvSpPr>
          <p:cNvPr id="10" name="文本框 9"/>
          <p:cNvSpPr txBox="1"/>
          <p:nvPr/>
        </p:nvSpPr>
        <p:spPr>
          <a:xfrm>
            <a:off x="696595" y="2034540"/>
            <a:ext cx="5004435" cy="2308324"/>
          </a:xfrm>
          <a:prstGeom prst="rect">
            <a:avLst/>
          </a:prstGeom>
          <a:noFill/>
        </p:spPr>
        <p:txBody>
          <a:bodyPr wrap="square" rtlCol="0" anchor="t">
            <a:spAutoFit/>
          </a:bodyPr>
          <a:lstStyle/>
          <a:p>
            <a:pPr marL="285750" indent="-285750" algn="just">
              <a:buFont typeface="Wingdings" panose="05000000000000000000" charset="0"/>
              <a:buChar char="l"/>
            </a:pPr>
            <a:r>
              <a:rPr lang="zh-CN" altLang="en-US" dirty="0">
                <a:latin typeface="Times New Roman" panose="02020603050405020304" pitchFamily="18" charset="0"/>
                <a:cs typeface="Times New Roman" panose="02020603050405020304" pitchFamily="18" charset="0"/>
              </a:rPr>
              <a:t>Identify and quantify the key drivers of Airbnb listing revenue</a:t>
            </a:r>
          </a:p>
          <a:p>
            <a:pPr marL="285750" indent="-285750" algn="just">
              <a:buFont typeface="Wingdings" panose="05000000000000000000" charset="0"/>
              <a:buChar char="l"/>
            </a:pPr>
            <a:r>
              <a:rPr lang="zh-CN" altLang="en-US" dirty="0">
                <a:latin typeface="Times New Roman" panose="02020603050405020304" pitchFamily="18" charset="0"/>
                <a:cs typeface="Times New Roman" panose="02020603050405020304" pitchFamily="18" charset="0"/>
              </a:rPr>
              <a:t>In-depth analysis of regional differences in housing income in the Washington area</a:t>
            </a:r>
          </a:p>
          <a:p>
            <a:pPr marL="285750" indent="-285750" algn="just">
              <a:buFont typeface="Wingdings" panose="05000000000000000000" charset="0"/>
              <a:buChar char="l"/>
            </a:pPr>
            <a:r>
              <a:rPr lang="zh-CN" altLang="en-US" dirty="0">
                <a:latin typeface="Times New Roman" panose="02020603050405020304" pitchFamily="18" charset="0"/>
                <a:cs typeface="Times New Roman" panose="02020603050405020304" pitchFamily="18" charset="0"/>
              </a:rPr>
              <a:t>Build a predictive model to assess the impact of factors on listing revenue</a:t>
            </a:r>
          </a:p>
          <a:p>
            <a:pPr marL="285750" indent="-285750" algn="just">
              <a:buFont typeface="Wingdings" panose="05000000000000000000" charset="0"/>
              <a:buChar char="l"/>
            </a:pPr>
            <a:r>
              <a:rPr lang="zh-CN" altLang="en-US" dirty="0">
                <a:latin typeface="Times New Roman" panose="02020603050405020304" pitchFamily="18" charset="0"/>
                <a:cs typeface="Times New Roman" panose="02020603050405020304" pitchFamily="18" charset="0"/>
              </a:rPr>
              <a:t>Provide data-based revenue optimization recommendations to landlords</a:t>
            </a:r>
          </a:p>
        </p:txBody>
      </p:sp>
      <p:graphicFrame>
        <p:nvGraphicFramePr>
          <p:cNvPr id="14" name="文本框 11">
            <a:extLst>
              <a:ext uri="{FF2B5EF4-FFF2-40B4-BE49-F238E27FC236}">
                <a16:creationId xmlns:a16="http://schemas.microsoft.com/office/drawing/2014/main" id="{5C1BB2B3-785B-1046-2C79-DB94C1683BF1}"/>
              </a:ext>
            </a:extLst>
          </p:cNvPr>
          <p:cNvGraphicFramePr/>
          <p:nvPr>
            <p:extLst>
              <p:ext uri="{D42A27DB-BD31-4B8C-83A1-F6EECF244321}">
                <p14:modId xmlns:p14="http://schemas.microsoft.com/office/powerpoint/2010/main" val="1686723330"/>
              </p:ext>
            </p:extLst>
          </p:nvPr>
        </p:nvGraphicFramePr>
        <p:xfrm>
          <a:off x="6230620" y="1939925"/>
          <a:ext cx="5628640" cy="3785652"/>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装饰"/>
          <p:cNvSpPr/>
          <p:nvPr>
            <p:custDataLst>
              <p:tags r:id="rId2"/>
            </p:custDataLst>
          </p:nvPr>
        </p:nvSpPr>
        <p:spPr>
          <a:xfrm>
            <a:off x="142875" y="1061720"/>
            <a:ext cx="2901950" cy="5166995"/>
          </a:xfrm>
          <a:custGeom>
            <a:avLst/>
            <a:gdLst>
              <a:gd name="adj" fmla="val 9036"/>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3903" h="4881">
                <a:moveTo>
                  <a:pt x="339" y="0"/>
                </a:moveTo>
                <a:lnTo>
                  <a:pt x="3414" y="0"/>
                </a:lnTo>
                <a:cubicBezTo>
                  <a:pt x="3601" y="0"/>
                  <a:pt x="3753" y="152"/>
                  <a:pt x="3753" y="339"/>
                </a:cubicBezTo>
                <a:lnTo>
                  <a:pt x="3753" y="2298"/>
                </a:lnTo>
                <a:lnTo>
                  <a:pt x="3903" y="2440"/>
                </a:lnTo>
                <a:lnTo>
                  <a:pt x="3753" y="2582"/>
                </a:lnTo>
                <a:lnTo>
                  <a:pt x="3753" y="4542"/>
                </a:lnTo>
                <a:cubicBezTo>
                  <a:pt x="3753" y="4729"/>
                  <a:pt x="3601" y="4881"/>
                  <a:pt x="3414" y="4881"/>
                </a:cubicBezTo>
                <a:lnTo>
                  <a:pt x="339" y="4881"/>
                </a:lnTo>
                <a:cubicBezTo>
                  <a:pt x="152" y="4881"/>
                  <a:pt x="0" y="4729"/>
                  <a:pt x="0" y="4542"/>
                </a:cubicBezTo>
                <a:lnTo>
                  <a:pt x="0" y="339"/>
                </a:lnTo>
                <a:cubicBezTo>
                  <a:pt x="0" y="152"/>
                  <a:pt x="152" y="0"/>
                  <a:pt x="339" y="0"/>
                </a:cubicBezTo>
                <a:close/>
              </a:path>
            </a:pathLst>
          </a:custGeom>
          <a:gradFill>
            <a:gsLst>
              <a:gs pos="0">
                <a:schemeClr val="accent1"/>
              </a:gs>
              <a:gs pos="100000">
                <a:schemeClr val="accent1">
                  <a:alpha val="60000"/>
                </a:schemeClr>
              </a:gs>
            </a:gsLst>
            <a:lin ang="27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417942" tIns="463889" rIns="331037" bIns="820760" rtlCol="0" anchor="ctr">
            <a:noAutofit/>
          </a:bodyPr>
          <a:lstStyle/>
          <a:p>
            <a:pPr marL="285750" indent="-285750" algn="l">
              <a:buClrTx/>
              <a:buSzTx/>
              <a:buFont typeface="Wingdings" panose="05000000000000000000" charset="0"/>
              <a:buChar char="l"/>
            </a:pPr>
            <a:r>
              <a:rPr lang="zh-CN" altLang="en-US">
                <a:sym typeface="+mn-ea"/>
              </a:rPr>
              <a:t>How to set the best price in a competitive market</a:t>
            </a:r>
            <a:endParaRPr lang="zh-CN" altLang="en-US"/>
          </a:p>
          <a:p>
            <a:pPr marL="285750" indent="-285750" algn="l">
              <a:buClrTx/>
              <a:buSzTx/>
              <a:buFont typeface="Wingdings" panose="05000000000000000000" charset="0"/>
              <a:buChar char="l"/>
            </a:pPr>
            <a:r>
              <a:rPr lang="zh-CN" altLang="en-US">
                <a:sym typeface="+mn-ea"/>
              </a:rPr>
              <a:t>The </a:t>
            </a:r>
            <a:r>
              <a:rPr lang="en-US" altLang="zh-CN">
                <a:sym typeface="+mn-ea"/>
              </a:rPr>
              <a:t>a</a:t>
            </a:r>
            <a:r>
              <a:rPr lang="zh-CN" altLang="en-US">
                <a:sym typeface="+mn-ea"/>
              </a:rPr>
              <a:t>matching degree between house pricing and regional market</a:t>
            </a:r>
            <a:endParaRPr lang="zh-CN" altLang="en-US"/>
          </a:p>
          <a:p>
            <a:pPr marL="285750" indent="-285750" algn="l">
              <a:buClrTx/>
              <a:buSzTx/>
              <a:buFont typeface="Wingdings" panose="05000000000000000000" charset="0"/>
              <a:buChar char="l"/>
            </a:pPr>
            <a:r>
              <a:rPr lang="zh-CN" altLang="en-US">
                <a:sym typeface="+mn-ea"/>
              </a:rPr>
              <a:t>The reasonable setting of additional fees such as cleaning fees</a:t>
            </a:r>
            <a:endParaRPr lang="zh-CN" altLang="en-US" dirty="0">
              <a:solidFill>
                <a:srgbClr val="FFFFFF"/>
              </a:solidFill>
              <a:latin typeface="+mn-ea"/>
              <a:cs typeface="+mn-ea"/>
              <a:sym typeface="+mn-ea"/>
            </a:endParaRPr>
          </a:p>
        </p:txBody>
      </p:sp>
      <p:sp>
        <p:nvSpPr>
          <p:cNvPr id="4" name="序号"/>
          <p:cNvSpPr/>
          <p:nvPr>
            <p:custDataLst>
              <p:tags r:id="rId3"/>
            </p:custDataLst>
          </p:nvPr>
        </p:nvSpPr>
        <p:spPr>
          <a:xfrm>
            <a:off x="231183" y="5397413"/>
            <a:ext cx="697443" cy="646122"/>
          </a:xfrm>
          <a:prstGeom prst="rect">
            <a:avLst/>
          </a:prstGeom>
          <a:effectLst>
            <a:outerShdw blurRad="177800" dist="76200" dir="2700000" algn="tl" rotWithShape="0">
              <a:schemeClr val="accent1">
                <a:lumMod val="75000"/>
                <a:alpha val="40000"/>
              </a:schemeClr>
            </a:outerShdw>
          </a:effectLst>
        </p:spPr>
        <p:txBody>
          <a:bodyPr wrap="none" lIns="0" tIns="0" rIns="0" bIns="0" anchor="ctr">
            <a:noAutofit/>
          </a:bodyPr>
          <a:lstStyle/>
          <a:p>
            <a:pPr lvl="0" algn="ctr">
              <a:spcBef>
                <a:spcPct val="0"/>
              </a:spcBef>
              <a:spcAft>
                <a:spcPct val="0"/>
              </a:spcAft>
              <a:buClrTx/>
              <a:buSzTx/>
              <a:buFontTx/>
            </a:pPr>
            <a:r>
              <a:rPr lang="en-US" sz="3600" b="1" dirty="0">
                <a:solidFill>
                  <a:srgbClr val="FFFFFF"/>
                </a:solidFill>
                <a:latin typeface="+mn-ea"/>
                <a:cs typeface="+mn-ea"/>
                <a:sym typeface="+mn-ea"/>
              </a:rPr>
              <a:t>01</a:t>
            </a:r>
          </a:p>
        </p:txBody>
      </p:sp>
      <p:sp>
        <p:nvSpPr>
          <p:cNvPr id="5" name="装饰"/>
          <p:cNvSpPr/>
          <p:nvPr>
            <p:custDataLst>
              <p:tags r:id="rId4"/>
            </p:custDataLst>
          </p:nvPr>
        </p:nvSpPr>
        <p:spPr>
          <a:xfrm>
            <a:off x="3171825" y="1061720"/>
            <a:ext cx="2901950" cy="5166995"/>
          </a:xfrm>
          <a:custGeom>
            <a:avLst/>
            <a:gdLst>
              <a:gd name="adj" fmla="val 9036"/>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3903" h="4881">
                <a:moveTo>
                  <a:pt x="339" y="0"/>
                </a:moveTo>
                <a:lnTo>
                  <a:pt x="3414" y="0"/>
                </a:lnTo>
                <a:cubicBezTo>
                  <a:pt x="3601" y="0"/>
                  <a:pt x="3753" y="152"/>
                  <a:pt x="3753" y="339"/>
                </a:cubicBezTo>
                <a:lnTo>
                  <a:pt x="3753" y="2298"/>
                </a:lnTo>
                <a:lnTo>
                  <a:pt x="3903" y="2440"/>
                </a:lnTo>
                <a:lnTo>
                  <a:pt x="3753" y="2582"/>
                </a:lnTo>
                <a:lnTo>
                  <a:pt x="3753" y="4542"/>
                </a:lnTo>
                <a:cubicBezTo>
                  <a:pt x="3753" y="4729"/>
                  <a:pt x="3601" y="4881"/>
                  <a:pt x="3414" y="4881"/>
                </a:cubicBezTo>
                <a:lnTo>
                  <a:pt x="339" y="4881"/>
                </a:lnTo>
                <a:cubicBezTo>
                  <a:pt x="152" y="4881"/>
                  <a:pt x="0" y="4729"/>
                  <a:pt x="0" y="4542"/>
                </a:cubicBezTo>
                <a:lnTo>
                  <a:pt x="0" y="339"/>
                </a:lnTo>
                <a:cubicBezTo>
                  <a:pt x="0" y="152"/>
                  <a:pt x="152" y="0"/>
                  <a:pt x="339" y="0"/>
                </a:cubicBezTo>
                <a:close/>
              </a:path>
            </a:pathLst>
          </a:cu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417942" tIns="463889" rIns="331037" bIns="820760" rtlCol="0" anchor="ctr">
            <a:noAutofit/>
          </a:bodyPr>
          <a:lstStyle/>
          <a:p>
            <a:pPr marL="285750" indent="-285750" algn="l">
              <a:buClrTx/>
              <a:buSzTx/>
              <a:buFont typeface="Wingdings" panose="05000000000000000000" charset="0"/>
              <a:buChar char="l"/>
            </a:pPr>
            <a:r>
              <a:rPr lang="zh-CN" altLang="en-US">
                <a:sym typeface="+mn-ea"/>
              </a:rPr>
              <a:t>Room for improving room booking rate</a:t>
            </a:r>
          </a:p>
          <a:p>
            <a:pPr marL="285750" indent="-285750" algn="l">
              <a:buClrTx/>
              <a:buSzTx/>
              <a:buFont typeface="Wingdings" panose="05000000000000000000" charset="0"/>
              <a:buChar char="l"/>
            </a:pPr>
            <a:r>
              <a:rPr lang="zh-CN" altLang="en-US">
                <a:sym typeface="+mn-ea"/>
              </a:rPr>
              <a:t>Management of income fluctuations during off-season and peak-season</a:t>
            </a:r>
          </a:p>
          <a:p>
            <a:pPr marL="285750" indent="-285750" algn="l">
              <a:buClrTx/>
              <a:buSzTx/>
              <a:buFont typeface="Wingdings" panose="05000000000000000000" charset="0"/>
              <a:buChar char="l"/>
            </a:pPr>
            <a:r>
              <a:rPr lang="zh-CN" altLang="en-US">
                <a:sym typeface="+mn-ea"/>
              </a:rPr>
              <a:t>Demand for optimizing booking cycle</a:t>
            </a:r>
          </a:p>
        </p:txBody>
      </p:sp>
      <p:sp>
        <p:nvSpPr>
          <p:cNvPr id="8" name="装饰"/>
          <p:cNvSpPr/>
          <p:nvPr>
            <p:custDataLst>
              <p:tags r:id="rId5"/>
            </p:custDataLst>
          </p:nvPr>
        </p:nvSpPr>
        <p:spPr>
          <a:xfrm>
            <a:off x="6200775" y="1061720"/>
            <a:ext cx="2901950" cy="5166995"/>
          </a:xfrm>
          <a:custGeom>
            <a:avLst/>
            <a:gdLst>
              <a:gd name="adj" fmla="val 9036"/>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3903" h="4881">
                <a:moveTo>
                  <a:pt x="339" y="0"/>
                </a:moveTo>
                <a:lnTo>
                  <a:pt x="3414" y="0"/>
                </a:lnTo>
                <a:cubicBezTo>
                  <a:pt x="3601" y="0"/>
                  <a:pt x="3753" y="152"/>
                  <a:pt x="3753" y="339"/>
                </a:cubicBezTo>
                <a:lnTo>
                  <a:pt x="3753" y="2298"/>
                </a:lnTo>
                <a:lnTo>
                  <a:pt x="3903" y="2440"/>
                </a:lnTo>
                <a:lnTo>
                  <a:pt x="3753" y="2582"/>
                </a:lnTo>
                <a:lnTo>
                  <a:pt x="3753" y="4542"/>
                </a:lnTo>
                <a:cubicBezTo>
                  <a:pt x="3753" y="4729"/>
                  <a:pt x="3601" y="4881"/>
                  <a:pt x="3414" y="4881"/>
                </a:cubicBezTo>
                <a:lnTo>
                  <a:pt x="339" y="4881"/>
                </a:lnTo>
                <a:cubicBezTo>
                  <a:pt x="152" y="4881"/>
                  <a:pt x="0" y="4729"/>
                  <a:pt x="0" y="4542"/>
                </a:cubicBezTo>
                <a:lnTo>
                  <a:pt x="0" y="339"/>
                </a:lnTo>
                <a:cubicBezTo>
                  <a:pt x="0" y="152"/>
                  <a:pt x="152" y="0"/>
                  <a:pt x="339" y="0"/>
                </a:cubicBezTo>
                <a:close/>
              </a:path>
            </a:pathLst>
          </a:custGeom>
          <a:gradFill>
            <a:gsLst>
              <a:gs pos="0">
                <a:schemeClr val="accent1"/>
              </a:gs>
              <a:gs pos="100000">
                <a:schemeClr val="accent1">
                  <a:alpha val="60000"/>
                </a:schemeClr>
              </a:gs>
            </a:gsLst>
            <a:lin ang="27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417942" tIns="463889" rIns="331037" bIns="820760" rtlCol="0" anchor="ctr">
            <a:noAutofit/>
          </a:bodyPr>
          <a:lstStyle/>
          <a:p>
            <a:pPr marL="285750" indent="-285750" algn="l">
              <a:buClrTx/>
              <a:buSzTx/>
              <a:buFont typeface="Wingdings" panose="05000000000000000000" charset="0"/>
              <a:buChar char="l"/>
            </a:pPr>
            <a:r>
              <a:rPr lang="zh-CN" altLang="en-US">
                <a:sym typeface="+mn-ea"/>
              </a:rPr>
              <a:t>The impact of the user evaluation system on income</a:t>
            </a:r>
          </a:p>
          <a:p>
            <a:pPr marL="285750" indent="-285750" algn="l">
              <a:buClrTx/>
              <a:buSzTx/>
              <a:buFont typeface="Wingdings" panose="05000000000000000000" charset="0"/>
              <a:buChar char="l"/>
            </a:pPr>
            <a:r>
              <a:rPr lang="zh-CN" altLang="en-US">
                <a:sym typeface="+mn-ea"/>
              </a:rPr>
              <a:t>Quantitative indicators of landlord service level</a:t>
            </a:r>
          </a:p>
          <a:p>
            <a:pPr marL="285750" indent="-285750" algn="l">
              <a:buClrTx/>
              <a:buSzTx/>
              <a:buFont typeface="Wingdings" panose="05000000000000000000" charset="0"/>
              <a:buChar char="l"/>
            </a:pPr>
            <a:r>
              <a:rPr lang="zh-CN" altLang="en-US">
                <a:sym typeface="+mn-ea"/>
              </a:rPr>
              <a:t>Value assessment of super landlord certification</a:t>
            </a:r>
          </a:p>
        </p:txBody>
      </p:sp>
      <p:sp>
        <p:nvSpPr>
          <p:cNvPr id="10" name="装饰"/>
          <p:cNvSpPr/>
          <p:nvPr>
            <p:custDataLst>
              <p:tags r:id="rId6"/>
            </p:custDataLst>
          </p:nvPr>
        </p:nvSpPr>
        <p:spPr>
          <a:xfrm>
            <a:off x="9229725" y="1061720"/>
            <a:ext cx="2901950" cy="5166995"/>
          </a:xfrm>
          <a:custGeom>
            <a:avLst/>
            <a:gdLst>
              <a:gd name="adj" fmla="val 9036"/>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3903" h="4881">
                <a:moveTo>
                  <a:pt x="339" y="0"/>
                </a:moveTo>
                <a:lnTo>
                  <a:pt x="3414" y="0"/>
                </a:lnTo>
                <a:cubicBezTo>
                  <a:pt x="3601" y="0"/>
                  <a:pt x="3753" y="152"/>
                  <a:pt x="3753" y="339"/>
                </a:cubicBezTo>
                <a:lnTo>
                  <a:pt x="3753" y="2298"/>
                </a:lnTo>
                <a:lnTo>
                  <a:pt x="3903" y="2440"/>
                </a:lnTo>
                <a:lnTo>
                  <a:pt x="3753" y="2582"/>
                </a:lnTo>
                <a:lnTo>
                  <a:pt x="3753" y="4542"/>
                </a:lnTo>
                <a:cubicBezTo>
                  <a:pt x="3753" y="4729"/>
                  <a:pt x="3601" y="4881"/>
                  <a:pt x="3414" y="4881"/>
                </a:cubicBezTo>
                <a:lnTo>
                  <a:pt x="339" y="4881"/>
                </a:lnTo>
                <a:cubicBezTo>
                  <a:pt x="152" y="4881"/>
                  <a:pt x="0" y="4729"/>
                  <a:pt x="0" y="4542"/>
                </a:cubicBezTo>
                <a:lnTo>
                  <a:pt x="0" y="339"/>
                </a:lnTo>
                <a:cubicBezTo>
                  <a:pt x="0" y="152"/>
                  <a:pt x="152" y="0"/>
                  <a:pt x="339" y="0"/>
                </a:cubicBezTo>
                <a:close/>
              </a:path>
            </a:pathLst>
          </a:cu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417942" tIns="463889" rIns="331037" bIns="820760" rtlCol="0" anchor="ctr">
            <a:noAutofit/>
          </a:bodyPr>
          <a:lstStyle/>
          <a:p>
            <a:pPr marL="285750" indent="-285750" algn="l">
              <a:buClrTx/>
              <a:buSzTx/>
              <a:buFont typeface="Wingdings" panose="05000000000000000000" charset="0"/>
              <a:buChar char="l"/>
            </a:pPr>
            <a:r>
              <a:rPr lang="zh-CN" altLang="en-US">
                <a:sym typeface="+mn-ea"/>
              </a:rPr>
              <a:t>Reasons for income differences between different communities</a:t>
            </a:r>
          </a:p>
          <a:p>
            <a:pPr marL="285750" indent="-285750" algn="l">
              <a:buClrTx/>
              <a:buSzTx/>
              <a:buFont typeface="Wingdings" panose="05000000000000000000" charset="0"/>
              <a:buChar char="l"/>
            </a:pPr>
            <a:r>
              <a:rPr lang="zh-CN" altLang="en-US">
                <a:sym typeface="+mn-ea"/>
              </a:rPr>
              <a:t>Matching degree between housing characteristics and target customer groups</a:t>
            </a:r>
          </a:p>
          <a:p>
            <a:pPr marL="285750" indent="-285750" algn="l">
              <a:buClrTx/>
              <a:buSzTx/>
              <a:buFont typeface="Wingdings" panose="05000000000000000000" charset="0"/>
              <a:buChar char="l"/>
            </a:pPr>
            <a:r>
              <a:rPr lang="zh-CN" altLang="en-US">
                <a:sym typeface="+mn-ea"/>
              </a:rPr>
              <a:t>Assessment of regional market competitiveness</a:t>
            </a:r>
          </a:p>
        </p:txBody>
      </p:sp>
      <p:sp>
        <p:nvSpPr>
          <p:cNvPr id="11" name="序号"/>
          <p:cNvSpPr/>
          <p:nvPr>
            <p:custDataLst>
              <p:tags r:id="rId7"/>
            </p:custDataLst>
          </p:nvPr>
        </p:nvSpPr>
        <p:spPr>
          <a:xfrm>
            <a:off x="3260768" y="5397413"/>
            <a:ext cx="697443" cy="646122"/>
          </a:xfrm>
          <a:prstGeom prst="rect">
            <a:avLst/>
          </a:prstGeom>
          <a:effectLst>
            <a:outerShdw blurRad="177800" dist="76200" dir="2700000" algn="tl" rotWithShape="0">
              <a:schemeClr val="accent1">
                <a:lumMod val="75000"/>
                <a:alpha val="40000"/>
              </a:schemeClr>
            </a:outerShdw>
          </a:effectLst>
        </p:spPr>
        <p:txBody>
          <a:bodyPr wrap="none" lIns="0" tIns="0" rIns="0" bIns="0" anchor="ctr">
            <a:noAutofit/>
          </a:bodyPr>
          <a:lstStyle/>
          <a:p>
            <a:pPr lvl="0" algn="ctr">
              <a:spcBef>
                <a:spcPct val="0"/>
              </a:spcBef>
              <a:spcAft>
                <a:spcPct val="0"/>
              </a:spcAft>
              <a:buClrTx/>
              <a:buSzTx/>
              <a:buFontTx/>
            </a:pPr>
            <a:r>
              <a:rPr lang="en-US" sz="3600" b="1" dirty="0">
                <a:solidFill>
                  <a:srgbClr val="FFFFFF"/>
                </a:solidFill>
                <a:latin typeface="+mn-ea"/>
                <a:cs typeface="+mn-ea"/>
                <a:sym typeface="+mn-ea"/>
              </a:rPr>
              <a:t>02</a:t>
            </a:r>
          </a:p>
        </p:txBody>
      </p:sp>
      <p:sp>
        <p:nvSpPr>
          <p:cNvPr id="12" name="序号"/>
          <p:cNvSpPr/>
          <p:nvPr>
            <p:custDataLst>
              <p:tags r:id="rId8"/>
            </p:custDataLst>
          </p:nvPr>
        </p:nvSpPr>
        <p:spPr>
          <a:xfrm>
            <a:off x="6290353" y="5397413"/>
            <a:ext cx="697443" cy="646122"/>
          </a:xfrm>
          <a:prstGeom prst="rect">
            <a:avLst/>
          </a:prstGeom>
          <a:effectLst>
            <a:outerShdw blurRad="177800" dist="76200" dir="2700000" algn="tl" rotWithShape="0">
              <a:schemeClr val="accent1">
                <a:lumMod val="75000"/>
                <a:alpha val="40000"/>
              </a:schemeClr>
            </a:outerShdw>
          </a:effectLst>
        </p:spPr>
        <p:txBody>
          <a:bodyPr wrap="none" lIns="0" tIns="0" rIns="0" bIns="0" anchor="ctr">
            <a:noAutofit/>
          </a:bodyPr>
          <a:lstStyle/>
          <a:p>
            <a:pPr lvl="0" algn="ctr">
              <a:spcBef>
                <a:spcPct val="0"/>
              </a:spcBef>
              <a:spcAft>
                <a:spcPct val="0"/>
              </a:spcAft>
              <a:buClrTx/>
              <a:buSzTx/>
              <a:buFontTx/>
            </a:pPr>
            <a:r>
              <a:rPr lang="en-US" sz="3600" b="1" dirty="0">
                <a:solidFill>
                  <a:srgbClr val="FFFFFF"/>
                </a:solidFill>
                <a:latin typeface="+mn-ea"/>
                <a:cs typeface="+mn-ea"/>
                <a:sym typeface="+mn-ea"/>
              </a:rPr>
              <a:t>03</a:t>
            </a:r>
          </a:p>
        </p:txBody>
      </p:sp>
      <p:sp>
        <p:nvSpPr>
          <p:cNvPr id="13" name="序号"/>
          <p:cNvSpPr/>
          <p:nvPr>
            <p:custDataLst>
              <p:tags r:id="rId9"/>
            </p:custDataLst>
          </p:nvPr>
        </p:nvSpPr>
        <p:spPr>
          <a:xfrm>
            <a:off x="9229768" y="5397413"/>
            <a:ext cx="697443" cy="646122"/>
          </a:xfrm>
          <a:prstGeom prst="rect">
            <a:avLst/>
          </a:prstGeom>
          <a:effectLst>
            <a:outerShdw blurRad="177800" dist="76200" dir="2700000" algn="tl" rotWithShape="0">
              <a:schemeClr val="accent1">
                <a:lumMod val="75000"/>
                <a:alpha val="40000"/>
              </a:schemeClr>
            </a:outerShdw>
          </a:effectLst>
        </p:spPr>
        <p:txBody>
          <a:bodyPr wrap="none" lIns="0" tIns="0" rIns="0" bIns="0" anchor="ctr">
            <a:noAutofit/>
          </a:bodyPr>
          <a:lstStyle/>
          <a:p>
            <a:pPr lvl="0" algn="ctr">
              <a:spcBef>
                <a:spcPct val="0"/>
              </a:spcBef>
              <a:spcAft>
                <a:spcPct val="0"/>
              </a:spcAft>
              <a:buClrTx/>
              <a:buSzTx/>
              <a:buFontTx/>
            </a:pPr>
            <a:r>
              <a:rPr lang="en-US" sz="3600" b="1" dirty="0">
                <a:solidFill>
                  <a:srgbClr val="FFFFFF"/>
                </a:solidFill>
                <a:latin typeface="+mn-ea"/>
                <a:cs typeface="+mn-ea"/>
                <a:sym typeface="+mn-ea"/>
              </a:rPr>
              <a:t>04</a:t>
            </a:r>
          </a:p>
        </p:txBody>
      </p:sp>
      <p:sp>
        <p:nvSpPr>
          <p:cNvPr id="14" name="文本框 13"/>
          <p:cNvSpPr txBox="1"/>
          <p:nvPr/>
        </p:nvSpPr>
        <p:spPr>
          <a:xfrm>
            <a:off x="778510" y="5536565"/>
            <a:ext cx="1972310" cy="337185"/>
          </a:xfrm>
          <a:prstGeom prst="rect">
            <a:avLst/>
          </a:prstGeom>
          <a:noFill/>
        </p:spPr>
        <p:txBody>
          <a:bodyPr wrap="square" rtlCol="0" anchor="t">
            <a:spAutoFit/>
          </a:bodyPr>
          <a:lstStyle/>
          <a:p>
            <a:r>
              <a:rPr lang="zh-CN" altLang="en-US" sz="1600">
                <a:solidFill>
                  <a:schemeClr val="bg1"/>
                </a:solidFill>
              </a:rPr>
              <a:t>Pricing challenges</a:t>
            </a:r>
          </a:p>
        </p:txBody>
      </p:sp>
      <p:sp>
        <p:nvSpPr>
          <p:cNvPr id="15" name="文本框 14"/>
          <p:cNvSpPr txBox="1"/>
          <p:nvPr/>
        </p:nvSpPr>
        <p:spPr>
          <a:xfrm>
            <a:off x="3858895" y="5536565"/>
            <a:ext cx="2214880" cy="337185"/>
          </a:xfrm>
          <a:prstGeom prst="rect">
            <a:avLst/>
          </a:prstGeom>
          <a:noFill/>
        </p:spPr>
        <p:txBody>
          <a:bodyPr wrap="square" rtlCol="0" anchor="t">
            <a:spAutoFit/>
          </a:bodyPr>
          <a:lstStyle/>
          <a:p>
            <a:r>
              <a:rPr lang="zh-CN" altLang="en-US" sz="1600">
                <a:solidFill>
                  <a:schemeClr val="bg1"/>
                </a:solidFill>
              </a:rPr>
              <a:t>Operational efficiency</a:t>
            </a:r>
          </a:p>
        </p:txBody>
      </p:sp>
      <p:sp>
        <p:nvSpPr>
          <p:cNvPr id="16" name="文本框 15"/>
          <p:cNvSpPr txBox="1"/>
          <p:nvPr/>
        </p:nvSpPr>
        <p:spPr>
          <a:xfrm>
            <a:off x="6887845" y="5536565"/>
            <a:ext cx="1972310" cy="337185"/>
          </a:xfrm>
          <a:prstGeom prst="rect">
            <a:avLst/>
          </a:prstGeom>
          <a:noFill/>
        </p:spPr>
        <p:txBody>
          <a:bodyPr wrap="square" rtlCol="0" anchor="t">
            <a:spAutoFit/>
          </a:bodyPr>
          <a:lstStyle/>
          <a:p>
            <a:r>
              <a:rPr lang="zh-CN" altLang="en-US" sz="1600">
                <a:solidFill>
                  <a:schemeClr val="bg1"/>
                </a:solidFill>
              </a:rPr>
              <a:t>Service quality</a:t>
            </a:r>
          </a:p>
        </p:txBody>
      </p:sp>
      <p:sp>
        <p:nvSpPr>
          <p:cNvPr id="17" name="文本框 16"/>
          <p:cNvSpPr txBox="1"/>
          <p:nvPr/>
        </p:nvSpPr>
        <p:spPr>
          <a:xfrm>
            <a:off x="9802495" y="5536565"/>
            <a:ext cx="1972310" cy="337185"/>
          </a:xfrm>
          <a:prstGeom prst="rect">
            <a:avLst/>
          </a:prstGeom>
          <a:noFill/>
        </p:spPr>
        <p:txBody>
          <a:bodyPr wrap="square" rtlCol="0" anchor="t">
            <a:spAutoFit/>
          </a:bodyPr>
          <a:lstStyle/>
          <a:p>
            <a:r>
              <a:rPr lang="zh-CN" altLang="en-US" sz="1600">
                <a:solidFill>
                  <a:schemeClr val="bg1"/>
                </a:solidFill>
              </a:rPr>
              <a:t>Market positioning</a:t>
            </a:r>
          </a:p>
        </p:txBody>
      </p:sp>
      <p:sp>
        <p:nvSpPr>
          <p:cNvPr id="18" name="文本框 17"/>
          <p:cNvSpPr txBox="1"/>
          <p:nvPr/>
        </p:nvSpPr>
        <p:spPr>
          <a:xfrm>
            <a:off x="175260" y="128905"/>
            <a:ext cx="4072255" cy="460375"/>
          </a:xfrm>
          <a:prstGeom prst="rect">
            <a:avLst/>
          </a:prstGeom>
          <a:noFill/>
        </p:spPr>
        <p:txBody>
          <a:bodyPr wrap="square" rtlCol="0" anchor="t">
            <a:spAutoFit/>
          </a:bodyPr>
          <a:lstStyle/>
          <a:p>
            <a:r>
              <a:rPr lang="zh-CN" altLang="en-US" sz="2400" b="1" dirty="0">
                <a:latin typeface="Times New Roman" panose="02020603050405020304" pitchFamily="18" charset="0"/>
                <a:cs typeface="Times New Roman" panose="02020603050405020304" pitchFamily="18" charset="0"/>
              </a:rPr>
              <a:t>Business Problem Description</a:t>
            </a:r>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175260" y="128905"/>
            <a:ext cx="2361565" cy="460375"/>
          </a:xfrm>
          <a:prstGeom prst="rect">
            <a:avLst/>
          </a:prstGeom>
          <a:noFill/>
        </p:spPr>
        <p:txBody>
          <a:bodyPr wrap="square" rtlCol="0" anchor="t">
            <a:spAutoFit/>
          </a:bodyPr>
          <a:lstStyle/>
          <a:p>
            <a:r>
              <a:rPr lang="zh-CN" altLang="en-US" sz="2400" b="1" dirty="0">
                <a:latin typeface="Times New Roman" panose="02020603050405020304" pitchFamily="18" charset="0"/>
                <a:cs typeface="Times New Roman" panose="02020603050405020304" pitchFamily="18" charset="0"/>
              </a:rPr>
              <a:t>Data Overview</a:t>
            </a:r>
          </a:p>
        </p:txBody>
      </p:sp>
      <p:sp>
        <p:nvSpPr>
          <p:cNvPr id="2" name="文本框 1"/>
          <p:cNvSpPr txBox="1"/>
          <p:nvPr/>
        </p:nvSpPr>
        <p:spPr>
          <a:xfrm>
            <a:off x="175260" y="709930"/>
            <a:ext cx="6096000" cy="1476375"/>
          </a:xfrm>
          <a:prstGeom prst="rect">
            <a:avLst/>
          </a:prstGeom>
          <a:noFill/>
        </p:spPr>
        <p:txBody>
          <a:bodyPr wrap="square" rtlCol="0" anchor="t">
            <a:spAutoFit/>
          </a:bodyPr>
          <a:lstStyle/>
          <a:p>
            <a:r>
              <a:rPr lang="zh-CN" altLang="en-US"/>
              <a:t>Source: Airbnb Washington Public Dataset</a:t>
            </a:r>
          </a:p>
          <a:p>
            <a:r>
              <a:rPr lang="zh-CN" altLang="en-US"/>
              <a:t>Time Range: 2016-2018</a:t>
            </a:r>
          </a:p>
          <a:p>
            <a:r>
              <a:rPr lang="zh-CN" altLang="en-US"/>
              <a:t>Geographic Coverage: Washington, DC and surrounding areas</a:t>
            </a:r>
          </a:p>
          <a:p>
            <a:r>
              <a:rPr lang="zh-CN" altLang="en-US"/>
              <a:t>Sample Size: 133,741 records</a:t>
            </a:r>
          </a:p>
        </p:txBody>
      </p:sp>
      <p:graphicFrame>
        <p:nvGraphicFramePr>
          <p:cNvPr id="3" name="表格 2"/>
          <p:cNvGraphicFramePr/>
          <p:nvPr>
            <p:custDataLst>
              <p:tags r:id="rId2"/>
            </p:custDataLst>
          </p:nvPr>
        </p:nvGraphicFramePr>
        <p:xfrm>
          <a:off x="6195060" y="621665"/>
          <a:ext cx="5711825" cy="1978025"/>
        </p:xfrm>
        <a:graphic>
          <a:graphicData uri="http://schemas.openxmlformats.org/drawingml/2006/table">
            <a:tbl>
              <a:tblPr firstRow="1" bandRow="1">
                <a:tableStyleId>{5C22544A-7EE6-4342-B048-85BDC9FD1C3A}</a:tableStyleId>
              </a:tblPr>
              <a:tblGrid>
                <a:gridCol w="2680335">
                  <a:extLst>
                    <a:ext uri="{9D8B030D-6E8A-4147-A177-3AD203B41FA5}">
                      <a16:colId xmlns:a16="http://schemas.microsoft.com/office/drawing/2014/main" val="20000"/>
                    </a:ext>
                  </a:extLst>
                </a:gridCol>
                <a:gridCol w="3031490">
                  <a:extLst>
                    <a:ext uri="{9D8B030D-6E8A-4147-A177-3AD203B41FA5}">
                      <a16:colId xmlns:a16="http://schemas.microsoft.com/office/drawing/2014/main" val="20001"/>
                    </a:ext>
                  </a:extLst>
                </a:gridCol>
              </a:tblGrid>
              <a:tr h="395605">
                <a:tc>
                  <a:txBody>
                    <a:bodyPr/>
                    <a:lstStyle/>
                    <a:p>
                      <a:pPr algn="just">
                        <a:buClrTx/>
                        <a:buSzTx/>
                        <a:buFontTx/>
                      </a:pPr>
                      <a:r>
                        <a:rPr sz="2000">
                          <a:solidFill>
                            <a:schemeClr val="tx1"/>
                          </a:solidFill>
                          <a:latin typeface="Calibri" panose="020F0502020204030204"/>
                          <a:ea typeface="宋体" panose="02010600030101010101" pitchFamily="2" charset="-122"/>
                        </a:rPr>
                        <a:t>Category</a:t>
                      </a:r>
                    </a:p>
                  </a:txBody>
                  <a:tcPr marL="68580" marR="68580" marT="0" marB="0"/>
                </a:tc>
                <a:tc>
                  <a:txBody>
                    <a:bodyPr/>
                    <a:lstStyle/>
                    <a:p>
                      <a:pPr marL="0" algn="just">
                        <a:buClrTx/>
                        <a:buSzTx/>
                        <a:buFontTx/>
                      </a:pPr>
                      <a:r>
                        <a:rPr sz="2000">
                          <a:solidFill>
                            <a:schemeClr val="tx1"/>
                          </a:solidFill>
                          <a:latin typeface="Calibri" panose="020F0502020204030204"/>
                          <a:ea typeface="宋体" panose="02010600030101010101" pitchFamily="2" charset="-122"/>
                        </a:rPr>
                        <a:t> Description</a:t>
                      </a:r>
                    </a:p>
                  </a:txBody>
                  <a:tcPr marL="68580" marR="68580" marT="0" marB="0"/>
                </a:tc>
                <a:extLst>
                  <a:ext uri="{0D108BD9-81ED-4DB2-BD59-A6C34878D82A}">
                    <a16:rowId xmlns:a16="http://schemas.microsoft.com/office/drawing/2014/main" val="10000"/>
                  </a:ext>
                </a:extLst>
              </a:tr>
              <a:tr h="395605">
                <a:tc>
                  <a:txBody>
                    <a:bodyPr/>
                    <a:lstStyle/>
                    <a:p>
                      <a:pPr marL="0" algn="just">
                        <a:buClrTx/>
                        <a:buSzTx/>
                        <a:buFontTx/>
                      </a:pPr>
                      <a:r>
                        <a:rPr sz="2000" b="1">
                          <a:solidFill>
                            <a:schemeClr val="tx1"/>
                          </a:solidFill>
                          <a:latin typeface="Calibri" panose="020F0502020204030204"/>
                          <a:ea typeface="宋体" panose="02010600030101010101" pitchFamily="2" charset="-122"/>
                        </a:rPr>
                        <a:t> Total Features</a:t>
                      </a:r>
                    </a:p>
                  </a:txBody>
                  <a:tcPr marL="68580" marR="68580" marT="0" marB="0"/>
                </a:tc>
                <a:tc>
                  <a:txBody>
                    <a:bodyPr/>
                    <a:lstStyle/>
                    <a:p>
                      <a:pPr marL="0" algn="just">
                        <a:buClrTx/>
                        <a:buSzTx/>
                        <a:buFontTx/>
                      </a:pPr>
                      <a:r>
                        <a:rPr sz="2000" b="1">
                          <a:solidFill>
                            <a:schemeClr val="tx1"/>
                          </a:solidFill>
                          <a:latin typeface="Calibri" panose="020F0502020204030204"/>
                          <a:ea typeface="宋体" panose="02010600030101010101" pitchFamily="2" charset="-122"/>
                        </a:rPr>
                        <a:t> 111 variables</a:t>
                      </a:r>
                    </a:p>
                  </a:txBody>
                  <a:tcPr marL="68580" marR="68580" marT="0" marB="0"/>
                </a:tc>
                <a:extLst>
                  <a:ext uri="{0D108BD9-81ED-4DB2-BD59-A6C34878D82A}">
                    <a16:rowId xmlns:a16="http://schemas.microsoft.com/office/drawing/2014/main" val="10001"/>
                  </a:ext>
                </a:extLst>
              </a:tr>
              <a:tr h="395605">
                <a:tc>
                  <a:txBody>
                    <a:bodyPr/>
                    <a:lstStyle/>
                    <a:p>
                      <a:pPr marL="0" algn="just">
                        <a:buClrTx/>
                        <a:buSzTx/>
                        <a:buFontTx/>
                      </a:pPr>
                      <a:r>
                        <a:rPr sz="2000" b="1">
                          <a:solidFill>
                            <a:schemeClr val="tx1"/>
                          </a:solidFill>
                          <a:latin typeface="Calibri" panose="020F0502020204030204"/>
                          <a:ea typeface="宋体" panose="02010600030101010101" pitchFamily="2" charset="-122"/>
                        </a:rPr>
                        <a:t> Numeric Variables</a:t>
                      </a:r>
                    </a:p>
                  </a:txBody>
                  <a:tcPr marL="68580" marR="68580" marT="0" marB="0"/>
                </a:tc>
                <a:tc>
                  <a:txBody>
                    <a:bodyPr/>
                    <a:lstStyle/>
                    <a:p>
                      <a:pPr marL="0" algn="just">
                        <a:buClrTx/>
                        <a:buSzTx/>
                        <a:buFontTx/>
                      </a:pPr>
                      <a:r>
                        <a:rPr sz="2000" b="1">
                          <a:solidFill>
                            <a:schemeClr val="tx1"/>
                          </a:solidFill>
                          <a:latin typeface="Calibri" panose="020F0502020204030204"/>
                          <a:ea typeface="宋体" panose="02010600030101010101" pitchFamily="2" charset="-122"/>
                        </a:rPr>
                        <a:t> 102 (float64: 96, int64: 6)</a:t>
                      </a:r>
                    </a:p>
                  </a:txBody>
                  <a:tcPr marL="68580" marR="68580" marT="0" marB="0"/>
                </a:tc>
                <a:extLst>
                  <a:ext uri="{0D108BD9-81ED-4DB2-BD59-A6C34878D82A}">
                    <a16:rowId xmlns:a16="http://schemas.microsoft.com/office/drawing/2014/main" val="10002"/>
                  </a:ext>
                </a:extLst>
              </a:tr>
              <a:tr h="395605">
                <a:tc>
                  <a:txBody>
                    <a:bodyPr/>
                    <a:lstStyle/>
                    <a:p>
                      <a:pPr marL="0" algn="just">
                        <a:buClrTx/>
                        <a:buSzTx/>
                        <a:buFontTx/>
                      </a:pPr>
                      <a:r>
                        <a:rPr sz="2000" b="1">
                          <a:solidFill>
                            <a:schemeClr val="tx1"/>
                          </a:solidFill>
                          <a:latin typeface="Calibri" panose="020F0502020204030204"/>
                          <a:ea typeface="宋体" panose="02010600030101010101" pitchFamily="2" charset="-122"/>
                        </a:rPr>
                        <a:t> Categorical Variables</a:t>
                      </a:r>
                    </a:p>
                  </a:txBody>
                  <a:tcPr marL="68580" marR="68580" marT="0" marB="0"/>
                </a:tc>
                <a:tc>
                  <a:txBody>
                    <a:bodyPr/>
                    <a:lstStyle/>
                    <a:p>
                      <a:pPr marL="0" algn="just">
                        <a:buClrTx/>
                        <a:buSzTx/>
                        <a:buFontTx/>
                      </a:pPr>
                      <a:r>
                        <a:rPr sz="2000" b="1">
                          <a:solidFill>
                            <a:schemeClr val="tx1"/>
                          </a:solidFill>
                          <a:latin typeface="Calibri" panose="020F0502020204030204"/>
                          <a:ea typeface="宋体" panose="02010600030101010101" pitchFamily="2" charset="-122"/>
                        </a:rPr>
                        <a:t> 8</a:t>
                      </a:r>
                    </a:p>
                  </a:txBody>
                  <a:tcPr marL="68580" marR="68580" marT="0" marB="0"/>
                </a:tc>
                <a:extLst>
                  <a:ext uri="{0D108BD9-81ED-4DB2-BD59-A6C34878D82A}">
                    <a16:rowId xmlns:a16="http://schemas.microsoft.com/office/drawing/2014/main" val="10003"/>
                  </a:ext>
                </a:extLst>
              </a:tr>
              <a:tr h="395605">
                <a:tc>
                  <a:txBody>
                    <a:bodyPr/>
                    <a:lstStyle/>
                    <a:p>
                      <a:pPr marL="0" algn="just">
                        <a:buClrTx/>
                        <a:buSzTx/>
                        <a:buFontTx/>
                      </a:pPr>
                      <a:r>
                        <a:rPr sz="2000" b="1">
                          <a:solidFill>
                            <a:schemeClr val="tx1"/>
                          </a:solidFill>
                          <a:latin typeface="Calibri" panose="020F0502020204030204"/>
                          <a:ea typeface="宋体" panose="02010600030101010101" pitchFamily="2" charset="-122"/>
                        </a:rPr>
                        <a:t> Boolean Variables</a:t>
                      </a:r>
                    </a:p>
                  </a:txBody>
                  <a:tcPr marL="68580" marR="68580" marT="0" marB="0"/>
                </a:tc>
                <a:tc>
                  <a:txBody>
                    <a:bodyPr/>
                    <a:lstStyle/>
                    <a:p>
                      <a:pPr algn="just">
                        <a:buClrTx/>
                        <a:buSzTx/>
                        <a:buFontTx/>
                      </a:pPr>
                      <a:r>
                        <a:rPr sz="2000" b="1">
                          <a:solidFill>
                            <a:schemeClr val="tx1"/>
                          </a:solidFill>
                          <a:latin typeface="Calibri" panose="020F0502020204030204"/>
                          <a:ea typeface="宋体" panose="02010600030101010101" pitchFamily="2" charset="-122"/>
                        </a:rPr>
                        <a:t>1</a:t>
                      </a:r>
                    </a:p>
                  </a:txBody>
                  <a:tcPr marL="68580" marR="68580" marT="0" marB="0"/>
                </a:tc>
                <a:extLst>
                  <a:ext uri="{0D108BD9-81ED-4DB2-BD59-A6C34878D82A}">
                    <a16:rowId xmlns:a16="http://schemas.microsoft.com/office/drawing/2014/main" val="10004"/>
                  </a:ext>
                </a:extLst>
              </a:tr>
            </a:tbl>
          </a:graphicData>
        </a:graphic>
      </p:graphicFrame>
      <p:graphicFrame>
        <p:nvGraphicFramePr>
          <p:cNvPr id="6" name="表格 5"/>
          <p:cNvGraphicFramePr/>
          <p:nvPr>
            <p:custDataLst>
              <p:tags r:id="rId3"/>
            </p:custDataLst>
          </p:nvPr>
        </p:nvGraphicFramePr>
        <p:xfrm>
          <a:off x="346075" y="2890520"/>
          <a:ext cx="11587480" cy="3843655"/>
        </p:xfrm>
        <a:graphic>
          <a:graphicData uri="http://schemas.openxmlformats.org/drawingml/2006/table">
            <a:tbl>
              <a:tblPr firstRow="1" bandRow="1">
                <a:tableStyleId>{5C22544A-7EE6-4342-B048-85BDC9FD1C3A}</a:tableStyleId>
              </a:tblPr>
              <a:tblGrid>
                <a:gridCol w="3106420">
                  <a:extLst>
                    <a:ext uri="{9D8B030D-6E8A-4147-A177-3AD203B41FA5}">
                      <a16:colId xmlns:a16="http://schemas.microsoft.com/office/drawing/2014/main" val="20000"/>
                    </a:ext>
                  </a:extLst>
                </a:gridCol>
                <a:gridCol w="6747510">
                  <a:extLst>
                    <a:ext uri="{9D8B030D-6E8A-4147-A177-3AD203B41FA5}">
                      <a16:colId xmlns:a16="http://schemas.microsoft.com/office/drawing/2014/main" val="20001"/>
                    </a:ext>
                  </a:extLst>
                </a:gridCol>
                <a:gridCol w="1733550">
                  <a:extLst>
                    <a:ext uri="{9D8B030D-6E8A-4147-A177-3AD203B41FA5}">
                      <a16:colId xmlns:a16="http://schemas.microsoft.com/office/drawing/2014/main" val="20002"/>
                    </a:ext>
                  </a:extLst>
                </a:gridCol>
              </a:tblGrid>
              <a:tr h="510540">
                <a:tc>
                  <a:txBody>
                    <a:bodyPr/>
                    <a:lstStyle/>
                    <a:p>
                      <a:pPr algn="just">
                        <a:buClrTx/>
                        <a:buSzTx/>
                        <a:buFontTx/>
                      </a:pPr>
                      <a:r>
                        <a:rPr sz="2400">
                          <a:solidFill>
                            <a:schemeClr val="tx1"/>
                          </a:solidFill>
                          <a:latin typeface="Calibri" panose="020F0502020204030204"/>
                          <a:ea typeface="宋体" panose="02010600030101010101" pitchFamily="2" charset="-122"/>
                        </a:rPr>
                        <a:t>Variable Type</a:t>
                      </a:r>
                    </a:p>
                  </a:txBody>
                  <a:tcPr marL="68580" marR="68580" marT="0" marB="0"/>
                </a:tc>
                <a:tc>
                  <a:txBody>
                    <a:bodyPr/>
                    <a:lstStyle/>
                    <a:p>
                      <a:pPr marL="0" algn="just">
                        <a:buClrTx/>
                        <a:buSzTx/>
                        <a:buFontTx/>
                      </a:pPr>
                      <a:r>
                        <a:rPr sz="2400">
                          <a:solidFill>
                            <a:schemeClr val="tx1"/>
                          </a:solidFill>
                          <a:latin typeface="Calibri" panose="020F0502020204030204"/>
                          <a:ea typeface="宋体" panose="02010600030101010101" pitchFamily="2" charset="-122"/>
                        </a:rPr>
                        <a:t>Representative Indicators</a:t>
                      </a:r>
                    </a:p>
                  </a:txBody>
                  <a:tcPr marL="68580" marR="68580" marT="0" marB="0"/>
                </a:tc>
                <a:tc>
                  <a:txBody>
                    <a:bodyPr/>
                    <a:lstStyle/>
                    <a:p>
                      <a:pPr marL="0" algn="just">
                        <a:buClrTx/>
                        <a:buSzTx/>
                        <a:buFontTx/>
                        <a:buNone/>
                      </a:pPr>
                      <a:r>
                        <a:rPr sz="2400">
                          <a:solidFill>
                            <a:schemeClr val="tx1"/>
                          </a:solidFill>
                          <a:latin typeface="Calibri" panose="020F0502020204030204"/>
                          <a:ea typeface="宋体" panose="02010600030101010101" pitchFamily="2" charset="-122"/>
                        </a:rPr>
                        <a:t>Count</a:t>
                      </a:r>
                    </a:p>
                  </a:txBody>
                  <a:tcPr marL="68580" marR="68580" marT="0" marB="0"/>
                </a:tc>
                <a:extLst>
                  <a:ext uri="{0D108BD9-81ED-4DB2-BD59-A6C34878D82A}">
                    <a16:rowId xmlns:a16="http://schemas.microsoft.com/office/drawing/2014/main" val="10000"/>
                  </a:ext>
                </a:extLst>
              </a:tr>
              <a:tr h="548640">
                <a:tc>
                  <a:txBody>
                    <a:bodyPr/>
                    <a:lstStyle/>
                    <a:p>
                      <a:pPr marL="0" algn="just">
                        <a:buClrTx/>
                        <a:buSzTx/>
                        <a:buFontTx/>
                      </a:pPr>
                      <a:r>
                        <a:rPr sz="2400" b="1">
                          <a:solidFill>
                            <a:schemeClr val="tx1"/>
                          </a:solidFill>
                          <a:latin typeface="Calibri" panose="020F0502020204030204"/>
                          <a:ea typeface="宋体" panose="02010600030101010101" pitchFamily="2" charset="-122"/>
                        </a:rPr>
                        <a:t>Price Related</a:t>
                      </a:r>
                    </a:p>
                  </a:txBody>
                  <a:tcPr marL="68580" marR="68580" marT="0" marB="0"/>
                </a:tc>
                <a:tc>
                  <a:txBody>
                    <a:bodyPr/>
                    <a:lstStyle/>
                    <a:p>
                      <a:pPr marL="0" algn="just">
                        <a:buClrTx/>
                        <a:buSzTx/>
                        <a:buFontTx/>
                      </a:pPr>
                      <a:r>
                        <a:rPr sz="2400" b="1">
                          <a:solidFill>
                            <a:schemeClr val="tx1"/>
                          </a:solidFill>
                          <a:latin typeface="Calibri" panose="020F0502020204030204"/>
                          <a:ea typeface="宋体" panose="02010600030101010101" pitchFamily="2" charset="-122"/>
                        </a:rPr>
                        <a:t> Nightly Rate, Cleaning Fee, Revenue</a:t>
                      </a:r>
                    </a:p>
                  </a:txBody>
                  <a:tcPr marL="68580" marR="68580" marT="0" marB="0"/>
                </a:tc>
                <a:tc>
                  <a:txBody>
                    <a:bodyPr/>
                    <a:lstStyle/>
                    <a:p>
                      <a:pPr marL="0" algn="just">
                        <a:buClrTx/>
                        <a:buSzTx/>
                        <a:buFontTx/>
                        <a:buNone/>
                      </a:pPr>
                      <a:r>
                        <a:rPr lang="en-US" sz="2400" b="1">
                          <a:solidFill>
                            <a:schemeClr val="tx1"/>
                          </a:solidFill>
                          <a:latin typeface="Calibri" panose="020F0502020204030204"/>
                          <a:ea typeface="宋体" panose="02010600030101010101" pitchFamily="2" charset="-122"/>
                        </a:rPr>
                        <a:t>15</a:t>
                      </a:r>
                    </a:p>
                  </a:txBody>
                  <a:tcPr marL="68580" marR="68580" marT="0" marB="0"/>
                </a:tc>
                <a:extLst>
                  <a:ext uri="{0D108BD9-81ED-4DB2-BD59-A6C34878D82A}">
                    <a16:rowId xmlns:a16="http://schemas.microsoft.com/office/drawing/2014/main" val="10001"/>
                  </a:ext>
                </a:extLst>
              </a:tr>
              <a:tr h="548640">
                <a:tc>
                  <a:txBody>
                    <a:bodyPr/>
                    <a:lstStyle/>
                    <a:p>
                      <a:pPr marL="0" algn="just">
                        <a:buClrTx/>
                        <a:buSzTx/>
                        <a:buFontTx/>
                      </a:pPr>
                      <a:r>
                        <a:rPr sz="2400" b="1">
                          <a:solidFill>
                            <a:schemeClr val="tx1"/>
                          </a:solidFill>
                          <a:latin typeface="Calibri" panose="020F0502020204030204"/>
                          <a:ea typeface="宋体" panose="02010600030101010101" pitchFamily="2" charset="-122"/>
                        </a:rPr>
                        <a:t>Property Features</a:t>
                      </a:r>
                    </a:p>
                  </a:txBody>
                  <a:tcPr marL="68580" marR="68580" marT="0" marB="0"/>
                </a:tc>
                <a:tc>
                  <a:txBody>
                    <a:bodyPr/>
                    <a:lstStyle/>
                    <a:p>
                      <a:pPr marL="0" algn="just">
                        <a:buClrTx/>
                        <a:buSzTx/>
                        <a:buFontTx/>
                      </a:pPr>
                      <a:r>
                        <a:rPr sz="2400" b="1">
                          <a:solidFill>
                            <a:schemeClr val="tx1"/>
                          </a:solidFill>
                          <a:latin typeface="Calibri" panose="020F0502020204030204"/>
                          <a:ea typeface="宋体" panose="02010600030101010101" pitchFamily="2" charset="-122"/>
                        </a:rPr>
                        <a:t>Bedrooms, Property Type, Max Guests</a:t>
                      </a:r>
                    </a:p>
                  </a:txBody>
                  <a:tcPr marL="68580" marR="68580" marT="0" marB="0"/>
                </a:tc>
                <a:tc>
                  <a:txBody>
                    <a:bodyPr/>
                    <a:lstStyle/>
                    <a:p>
                      <a:pPr marL="0" algn="just">
                        <a:buClrTx/>
                        <a:buSzTx/>
                        <a:buFontTx/>
                        <a:buNone/>
                      </a:pPr>
                      <a:r>
                        <a:rPr lang="en-US" sz="2400" b="1">
                          <a:solidFill>
                            <a:schemeClr val="tx1"/>
                          </a:solidFill>
                          <a:latin typeface="Calibri" panose="020F0502020204030204"/>
                          <a:ea typeface="宋体" panose="02010600030101010101" pitchFamily="2" charset="-122"/>
                        </a:rPr>
                        <a:t>12</a:t>
                      </a:r>
                    </a:p>
                  </a:txBody>
                  <a:tcPr marL="68580" marR="68580" marT="0" marB="0"/>
                </a:tc>
                <a:extLst>
                  <a:ext uri="{0D108BD9-81ED-4DB2-BD59-A6C34878D82A}">
                    <a16:rowId xmlns:a16="http://schemas.microsoft.com/office/drawing/2014/main" val="10002"/>
                  </a:ext>
                </a:extLst>
              </a:tr>
              <a:tr h="548640">
                <a:tc>
                  <a:txBody>
                    <a:bodyPr/>
                    <a:lstStyle/>
                    <a:p>
                      <a:pPr marL="0" algn="just">
                        <a:buClrTx/>
                        <a:buSzTx/>
                        <a:buFontTx/>
                      </a:pPr>
                      <a:r>
                        <a:rPr sz="2400" b="1">
                          <a:solidFill>
                            <a:schemeClr val="tx1"/>
                          </a:solidFill>
                          <a:latin typeface="Calibri" panose="020F0502020204030204"/>
                          <a:ea typeface="宋体" panose="02010600030101010101" pitchFamily="2" charset="-122"/>
                        </a:rPr>
                        <a:t>Location Info</a:t>
                      </a:r>
                    </a:p>
                  </a:txBody>
                  <a:tcPr marL="68580" marR="68580" marT="0" marB="0"/>
                </a:tc>
                <a:tc>
                  <a:txBody>
                    <a:bodyPr/>
                    <a:lstStyle/>
                    <a:p>
                      <a:pPr marL="0" algn="just">
                        <a:buClrTx/>
                        <a:buSzTx/>
                        <a:buFontTx/>
                      </a:pPr>
                      <a:r>
                        <a:rPr sz="2400" b="1">
                          <a:solidFill>
                            <a:schemeClr val="tx1"/>
                          </a:solidFill>
                          <a:latin typeface="Calibri" panose="020F0502020204030204"/>
                          <a:ea typeface="宋体" panose="02010600030101010101" pitchFamily="2" charset="-122"/>
                        </a:rPr>
                        <a:t> Neighborhood, Zipcode, Coordinates</a:t>
                      </a:r>
                    </a:p>
                  </a:txBody>
                  <a:tcPr marL="68580" marR="68580" marT="0" marB="0"/>
                </a:tc>
                <a:tc>
                  <a:txBody>
                    <a:bodyPr/>
                    <a:lstStyle/>
                    <a:p>
                      <a:pPr marL="0" algn="just">
                        <a:buClrTx/>
                        <a:buSzTx/>
                        <a:buFontTx/>
                        <a:buNone/>
                      </a:pPr>
                      <a:r>
                        <a:rPr lang="en-US" sz="2400" b="1">
                          <a:solidFill>
                            <a:schemeClr val="tx1"/>
                          </a:solidFill>
                          <a:latin typeface="Calibri" panose="020F0502020204030204"/>
                          <a:ea typeface="宋体" panose="02010600030101010101" pitchFamily="2" charset="-122"/>
                        </a:rPr>
                        <a:t>8</a:t>
                      </a:r>
                    </a:p>
                  </a:txBody>
                  <a:tcPr marL="68580" marR="68580" marT="0" marB="0"/>
                </a:tc>
                <a:extLst>
                  <a:ext uri="{0D108BD9-81ED-4DB2-BD59-A6C34878D82A}">
                    <a16:rowId xmlns:a16="http://schemas.microsoft.com/office/drawing/2014/main" val="10003"/>
                  </a:ext>
                </a:extLst>
              </a:tr>
              <a:tr h="683895">
                <a:tc>
                  <a:txBody>
                    <a:bodyPr/>
                    <a:lstStyle/>
                    <a:p>
                      <a:pPr marL="0" algn="just">
                        <a:buClrTx/>
                        <a:buSzTx/>
                        <a:buFontTx/>
                      </a:pPr>
                      <a:r>
                        <a:rPr sz="2400" b="1">
                          <a:solidFill>
                            <a:schemeClr val="tx1"/>
                          </a:solidFill>
                          <a:latin typeface="Calibri" panose="020F0502020204030204"/>
                          <a:ea typeface="宋体" panose="02010600030101010101" pitchFamily="2" charset="-122"/>
                        </a:rPr>
                        <a:t>Rating Metrics</a:t>
                      </a:r>
                    </a:p>
                  </a:txBody>
                  <a:tcPr marL="68580" marR="68580" marT="0" marB="0"/>
                </a:tc>
                <a:tc>
                  <a:txBody>
                    <a:bodyPr/>
                    <a:lstStyle/>
                    <a:p>
                      <a:pPr algn="just">
                        <a:buClrTx/>
                        <a:buSzTx/>
                        <a:buFontTx/>
                      </a:pPr>
                      <a:r>
                        <a:rPr sz="2400" b="1">
                          <a:solidFill>
                            <a:schemeClr val="tx1"/>
                          </a:solidFill>
                          <a:latin typeface="Calibri" panose="020F0502020204030204"/>
                          <a:ea typeface="宋体" panose="02010600030101010101" pitchFamily="2" charset="-122"/>
                        </a:rPr>
                        <a:t>Overall Rating, Review Count, Five-star Reviews</a:t>
                      </a:r>
                    </a:p>
                  </a:txBody>
                  <a:tcPr marL="68580" marR="68580" marT="0" marB="0"/>
                </a:tc>
                <a:tc>
                  <a:txBody>
                    <a:bodyPr/>
                    <a:lstStyle/>
                    <a:p>
                      <a:pPr algn="just">
                        <a:buClrTx/>
                        <a:buSzTx/>
                        <a:buFontTx/>
                        <a:buNone/>
                      </a:pPr>
                      <a:r>
                        <a:rPr lang="en-US" sz="2400" b="1">
                          <a:solidFill>
                            <a:schemeClr val="tx1"/>
                          </a:solidFill>
                          <a:latin typeface="Calibri" panose="020F0502020204030204"/>
                          <a:ea typeface="宋体" panose="02010600030101010101" pitchFamily="2" charset="-122"/>
                        </a:rPr>
                        <a:t>18</a:t>
                      </a:r>
                    </a:p>
                  </a:txBody>
                  <a:tcPr marL="68580" marR="68580" marT="0" marB="0"/>
                </a:tc>
                <a:extLst>
                  <a:ext uri="{0D108BD9-81ED-4DB2-BD59-A6C34878D82A}">
                    <a16:rowId xmlns:a16="http://schemas.microsoft.com/office/drawing/2014/main" val="10004"/>
                  </a:ext>
                </a:extLst>
              </a:tr>
              <a:tr h="501015">
                <a:tc>
                  <a:txBody>
                    <a:bodyPr/>
                    <a:lstStyle/>
                    <a:p>
                      <a:pPr marL="0" algn="just">
                        <a:buClrTx/>
                        <a:buSzTx/>
                        <a:buFontTx/>
                        <a:buNone/>
                      </a:pPr>
                      <a:r>
                        <a:rPr lang="zh-CN" altLang="en-US" sz="2400" b="1">
                          <a:solidFill>
                            <a:schemeClr val="tx1"/>
                          </a:solidFill>
                          <a:latin typeface="Calibri" panose="020F0502020204030204"/>
                          <a:ea typeface="宋体" panose="02010600030101010101" pitchFamily="2" charset="-122"/>
                        </a:rPr>
                        <a:t>Host Attributes</a:t>
                      </a:r>
                    </a:p>
                  </a:txBody>
                  <a:tcPr marL="68580" marR="68580" marT="0" marB="0"/>
                </a:tc>
                <a:tc>
                  <a:txBody>
                    <a:bodyPr/>
                    <a:lstStyle/>
                    <a:p>
                      <a:pPr algn="just">
                        <a:buClrTx/>
                        <a:buSzTx/>
                        <a:buFontTx/>
                        <a:buNone/>
                      </a:pPr>
                      <a:r>
                        <a:rPr lang="zh-CN" altLang="en-US" sz="2400" b="1">
                          <a:solidFill>
                            <a:schemeClr val="tx1"/>
                          </a:solidFill>
                          <a:latin typeface="Calibri" panose="020F0502020204030204"/>
                          <a:ea typeface="宋体" panose="02010600030101010101" pitchFamily="2" charset="-122"/>
                        </a:rPr>
                        <a:t>Response Rate, Superhost Status</a:t>
                      </a:r>
                    </a:p>
                  </a:txBody>
                  <a:tcPr marL="68580" marR="68580" marT="0" marB="0"/>
                </a:tc>
                <a:tc>
                  <a:txBody>
                    <a:bodyPr/>
                    <a:lstStyle/>
                    <a:p>
                      <a:pPr algn="just">
                        <a:buClrTx/>
                        <a:buSzTx/>
                        <a:buFontTx/>
                        <a:buNone/>
                      </a:pPr>
                      <a:r>
                        <a:rPr lang="en-US" altLang="zh-CN" sz="2400" b="1">
                          <a:solidFill>
                            <a:schemeClr val="tx1"/>
                          </a:solidFill>
                          <a:latin typeface="Calibri" panose="020F0502020204030204"/>
                          <a:ea typeface="宋体" panose="02010600030101010101" pitchFamily="2" charset="-122"/>
                        </a:rPr>
                        <a:t>10</a:t>
                      </a:r>
                    </a:p>
                  </a:txBody>
                  <a:tcPr marL="68580" marR="68580" marT="0" marB="0"/>
                </a:tc>
                <a:extLst>
                  <a:ext uri="{0D108BD9-81ED-4DB2-BD59-A6C34878D82A}">
                    <a16:rowId xmlns:a16="http://schemas.microsoft.com/office/drawing/2014/main" val="10005"/>
                  </a:ext>
                </a:extLst>
              </a:tr>
              <a:tr h="502285">
                <a:tc>
                  <a:txBody>
                    <a:bodyPr/>
                    <a:lstStyle/>
                    <a:p>
                      <a:pPr marL="0" algn="just">
                        <a:buClrTx/>
                        <a:buSzTx/>
                        <a:buFontTx/>
                        <a:buNone/>
                      </a:pPr>
                      <a:r>
                        <a:rPr lang="zh-CN" altLang="en-US" sz="2400" b="1">
                          <a:solidFill>
                            <a:schemeClr val="tx1"/>
                          </a:solidFill>
                          <a:latin typeface="Calibri" panose="020F0502020204030204"/>
                          <a:ea typeface="宋体" panose="02010600030101010101" pitchFamily="2" charset="-122"/>
                        </a:rPr>
                        <a:t>Booking Data</a:t>
                      </a:r>
                    </a:p>
                  </a:txBody>
                  <a:tcPr marL="68580" marR="68580" marT="0" marB="0"/>
                </a:tc>
                <a:tc>
                  <a:txBody>
                    <a:bodyPr/>
                    <a:lstStyle/>
                    <a:p>
                      <a:pPr algn="just">
                        <a:buClrTx/>
                        <a:buSzTx/>
                        <a:buFontTx/>
                        <a:buNone/>
                      </a:pPr>
                      <a:r>
                        <a:rPr lang="zh-CN" altLang="en-US" sz="2400" b="1">
                          <a:solidFill>
                            <a:schemeClr val="tx1"/>
                          </a:solidFill>
                          <a:latin typeface="Calibri" panose="020F0502020204030204"/>
                          <a:ea typeface="宋体" panose="02010600030101010101" pitchFamily="2" charset="-122"/>
                        </a:rPr>
                        <a:t>Reserved Days, Available Days</a:t>
                      </a:r>
                    </a:p>
                  </a:txBody>
                  <a:tcPr marL="68580" marR="68580" marT="0" marB="0"/>
                </a:tc>
                <a:tc>
                  <a:txBody>
                    <a:bodyPr/>
                    <a:lstStyle/>
                    <a:p>
                      <a:pPr algn="just">
                        <a:buClrTx/>
                        <a:buSzTx/>
                        <a:buFontTx/>
                        <a:buNone/>
                      </a:pPr>
                      <a:r>
                        <a:rPr lang="en-US" altLang="zh-CN" sz="2400" b="1">
                          <a:solidFill>
                            <a:schemeClr val="tx1"/>
                          </a:solidFill>
                          <a:latin typeface="Calibri" panose="020F0502020204030204"/>
                          <a:ea typeface="宋体" panose="02010600030101010101" pitchFamily="2" charset="-122"/>
                        </a:rPr>
                        <a:t>14</a:t>
                      </a:r>
                    </a:p>
                  </a:txBody>
                  <a:tcPr marL="68580" marR="68580" marT="0" marB="0"/>
                </a:tc>
                <a:extLst>
                  <a:ext uri="{0D108BD9-81ED-4DB2-BD59-A6C34878D82A}">
                    <a16:rowId xmlns:a16="http://schemas.microsoft.com/office/drawing/2014/main" val="10006"/>
                  </a:ext>
                </a:extLst>
              </a:tr>
            </a:tbl>
          </a:graphicData>
        </a:graphic>
      </p:graphicFrame>
      <p:sp>
        <p:nvSpPr>
          <p:cNvPr id="7" name="文本框 6"/>
          <p:cNvSpPr txBox="1"/>
          <p:nvPr/>
        </p:nvSpPr>
        <p:spPr>
          <a:xfrm>
            <a:off x="6195060" y="101600"/>
            <a:ext cx="1904365" cy="368300"/>
          </a:xfrm>
          <a:prstGeom prst="rect">
            <a:avLst/>
          </a:prstGeom>
          <a:noFill/>
        </p:spPr>
        <p:txBody>
          <a:bodyPr wrap="square" rtlCol="0" anchor="t">
            <a:spAutoFit/>
          </a:bodyPr>
          <a:lstStyle/>
          <a:p>
            <a:r>
              <a:rPr lang="zh-CN" altLang="en-US" b="1" dirty="0">
                <a:latin typeface="Times New Roman" panose="02020603050405020304" pitchFamily="18" charset="0"/>
                <a:cs typeface="Times New Roman" panose="02020603050405020304" pitchFamily="18" charset="0"/>
              </a:rPr>
              <a:t>Data Structure</a:t>
            </a:r>
          </a:p>
        </p:txBody>
      </p:sp>
      <p:sp>
        <p:nvSpPr>
          <p:cNvPr id="10" name="文本框 9"/>
          <p:cNvSpPr txBox="1"/>
          <p:nvPr/>
        </p:nvSpPr>
        <p:spPr>
          <a:xfrm>
            <a:off x="319405" y="2186305"/>
            <a:ext cx="3644265" cy="398780"/>
          </a:xfrm>
          <a:prstGeom prst="rect">
            <a:avLst/>
          </a:prstGeom>
          <a:noFill/>
        </p:spPr>
        <p:txBody>
          <a:bodyPr wrap="square" rtlCol="0" anchor="t">
            <a:spAutoFit/>
          </a:bodyPr>
          <a:lstStyle/>
          <a:p>
            <a:r>
              <a:rPr lang="zh-CN" altLang="en-US" sz="2000" b="1" dirty="0">
                <a:latin typeface="Times New Roman" panose="02020603050405020304" pitchFamily="18" charset="0"/>
                <a:cs typeface="Times New Roman" panose="02020603050405020304" pitchFamily="18" charset="0"/>
              </a:rPr>
              <a:t>Key </a:t>
            </a:r>
            <a:r>
              <a:rPr lang="en-US" altLang="zh-CN" sz="2000" b="1" dirty="0">
                <a:latin typeface="Times New Roman" panose="02020603050405020304" pitchFamily="18" charset="0"/>
                <a:cs typeface="Times New Roman" panose="02020603050405020304" pitchFamily="18" charset="0"/>
              </a:rPr>
              <a:t>V</a:t>
            </a:r>
            <a:r>
              <a:rPr lang="zh-CN" altLang="en-US" sz="2000" b="1" dirty="0">
                <a:latin typeface="Times New Roman" panose="02020603050405020304" pitchFamily="18" charset="0"/>
                <a:cs typeface="Times New Roman" panose="02020603050405020304" pitchFamily="18" charset="0"/>
              </a:rPr>
              <a:t>ariable </a:t>
            </a:r>
            <a:r>
              <a:rPr lang="en-US" altLang="zh-CN" sz="2000" b="1" dirty="0">
                <a:latin typeface="Times New Roman" panose="02020603050405020304" pitchFamily="18" charset="0"/>
                <a:cs typeface="Times New Roman" panose="02020603050405020304" pitchFamily="18" charset="0"/>
              </a:rPr>
              <a:t>C</a:t>
            </a:r>
            <a:r>
              <a:rPr lang="zh-CN" altLang="en-US" sz="2000" b="1" dirty="0">
                <a:latin typeface="Times New Roman" panose="02020603050405020304" pitchFamily="18" charset="0"/>
                <a:cs typeface="Times New Roman" panose="02020603050405020304" pitchFamily="18" charset="0"/>
              </a:rPr>
              <a:t>ategories</a:t>
            </a: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175260" y="128905"/>
            <a:ext cx="5722620" cy="460375"/>
          </a:xfrm>
          <a:prstGeom prst="rect">
            <a:avLst/>
          </a:prstGeom>
          <a:noFill/>
        </p:spPr>
        <p:txBody>
          <a:bodyPr wrap="square" rtlCol="0" anchor="t">
            <a:spAutoFit/>
          </a:bodyPr>
          <a:lstStyle/>
          <a:p>
            <a:r>
              <a:rPr lang="zh-CN" altLang="en-US" sz="2400" b="1" dirty="0">
                <a:latin typeface="Times New Roman" panose="02020603050405020304" pitchFamily="18" charset="0"/>
                <a:cs typeface="Times New Roman" panose="02020603050405020304" pitchFamily="18" charset="0"/>
              </a:rPr>
              <a:t>Data </a:t>
            </a:r>
            <a:r>
              <a:rPr lang="en-US" altLang="zh-CN" sz="2400" b="1" dirty="0">
                <a:latin typeface="Times New Roman" panose="02020603050405020304" pitchFamily="18" charset="0"/>
                <a:cs typeface="Times New Roman" panose="02020603050405020304" pitchFamily="18" charset="0"/>
              </a:rPr>
              <a:t>P</a:t>
            </a:r>
            <a:r>
              <a:rPr lang="zh-CN" altLang="en-US" sz="2400" b="1" dirty="0">
                <a:latin typeface="Times New Roman" panose="02020603050405020304" pitchFamily="18" charset="0"/>
                <a:cs typeface="Times New Roman" panose="02020603050405020304" pitchFamily="18" charset="0"/>
              </a:rPr>
              <a:t>rocessing and </a:t>
            </a:r>
            <a:r>
              <a:rPr lang="en-US" altLang="zh-CN" sz="2400" b="1" dirty="0">
                <a:latin typeface="Times New Roman" panose="02020603050405020304" pitchFamily="18" charset="0"/>
                <a:cs typeface="Times New Roman" panose="02020603050405020304" pitchFamily="18" charset="0"/>
              </a:rPr>
              <a:t>F</a:t>
            </a:r>
            <a:r>
              <a:rPr lang="zh-CN" altLang="en-US" sz="2400" b="1" dirty="0">
                <a:latin typeface="Times New Roman" panose="02020603050405020304" pitchFamily="18" charset="0"/>
                <a:cs typeface="Times New Roman" panose="02020603050405020304" pitchFamily="18" charset="0"/>
              </a:rPr>
              <a:t>eature </a:t>
            </a:r>
            <a:r>
              <a:rPr lang="en-US" altLang="zh-CN" sz="2400" b="1" dirty="0">
                <a:latin typeface="Times New Roman" panose="02020603050405020304" pitchFamily="18" charset="0"/>
                <a:cs typeface="Times New Roman" panose="02020603050405020304" pitchFamily="18" charset="0"/>
              </a:rPr>
              <a:t>E</a:t>
            </a:r>
            <a:r>
              <a:rPr lang="zh-CN" altLang="en-US" sz="2400" b="1" dirty="0">
                <a:latin typeface="Times New Roman" panose="02020603050405020304" pitchFamily="18" charset="0"/>
                <a:cs typeface="Times New Roman" panose="02020603050405020304" pitchFamily="18" charset="0"/>
              </a:rPr>
              <a:t>ngineering</a:t>
            </a:r>
          </a:p>
        </p:txBody>
      </p:sp>
      <p:pic>
        <p:nvPicPr>
          <p:cNvPr id="8" name="图片 7"/>
          <p:cNvPicPr>
            <a:picLocks noChangeAspect="1"/>
          </p:cNvPicPr>
          <p:nvPr/>
        </p:nvPicPr>
        <p:blipFill>
          <a:blip r:embed="rId3"/>
          <a:stretch>
            <a:fillRect/>
          </a:stretch>
        </p:blipFill>
        <p:spPr>
          <a:xfrm>
            <a:off x="80010" y="1225550"/>
            <a:ext cx="3931920" cy="4406265"/>
          </a:xfrm>
          <a:prstGeom prst="rect">
            <a:avLst/>
          </a:prstGeom>
        </p:spPr>
      </p:pic>
      <p:sp>
        <p:nvSpPr>
          <p:cNvPr id="13" name="文本框 12"/>
          <p:cNvSpPr txBox="1"/>
          <p:nvPr/>
        </p:nvSpPr>
        <p:spPr>
          <a:xfrm>
            <a:off x="4091305" y="3608705"/>
            <a:ext cx="7548245" cy="3170099"/>
          </a:xfrm>
          <a:prstGeom prst="rect">
            <a:avLst/>
          </a:prstGeom>
          <a:noFill/>
        </p:spPr>
        <p:txBody>
          <a:bodyPr wrap="square" rtlCol="0" anchor="t">
            <a:spAutoFit/>
          </a:bodyPr>
          <a:lstStyle/>
          <a:p>
            <a:pPr indent="0">
              <a:buFont typeface="Arial" panose="020B0604020202020204" pitchFamily="34" charset="0"/>
              <a:buNone/>
            </a:pPr>
            <a:r>
              <a:rPr lang="zh-CN" altLang="en-US" sz="2000" dirty="0">
                <a:latin typeface="Times New Roman" panose="02020603050405020304" pitchFamily="18" charset="0"/>
                <a:cs typeface="Times New Roman" panose="02020603050405020304" pitchFamily="18" charset="0"/>
              </a:rPr>
              <a:t>Feature Engineering</a:t>
            </a:r>
          </a:p>
          <a:p>
            <a:pPr marL="285750" indent="-285750">
              <a:buFont typeface="Arial" panose="020B0604020202020204" pitchFamily="34" charset="0"/>
              <a:buChar char="•"/>
            </a:pPr>
            <a:r>
              <a:rPr lang="zh-CN" altLang="en-US" sz="2000" dirty="0">
                <a:latin typeface="Times New Roman" panose="02020603050405020304" pitchFamily="18" charset="0"/>
                <a:cs typeface="Times New Roman" panose="02020603050405020304" pitchFamily="18" charset="0"/>
              </a:rPr>
              <a:t>Created price fluctuation indicator by comparing nightly rate with average listed price</a:t>
            </a:r>
          </a:p>
          <a:p>
            <a:pPr marL="285750" indent="-285750">
              <a:buFont typeface="Arial" panose="020B0604020202020204" pitchFamily="34" charset="0"/>
              <a:buChar char="•"/>
            </a:pPr>
            <a:r>
              <a:rPr lang="zh-CN" altLang="en-US" sz="2000" dirty="0">
                <a:latin typeface="Times New Roman" panose="02020603050405020304" pitchFamily="18" charset="0"/>
                <a:cs typeface="Times New Roman" panose="02020603050405020304" pitchFamily="18" charset="0"/>
              </a:rPr>
              <a:t>Developd host response score combining response rate and instant booking status</a:t>
            </a:r>
          </a:p>
          <a:p>
            <a:pPr marL="285750" indent="-285750">
              <a:buFont typeface="Arial" panose="020B0604020202020204" pitchFamily="34" charset="0"/>
              <a:buChar char="•"/>
            </a:pPr>
            <a:r>
              <a:rPr lang="zh-CN" altLang="en-US" sz="2000" dirty="0">
                <a:latin typeface="Times New Roman" panose="02020603050405020304" pitchFamily="18" charset="0"/>
                <a:cs typeface="Times New Roman" panose="02020603050405020304" pitchFamily="18" charset="0"/>
              </a:rPr>
              <a:t>Generated seasonal occupancy ratio from reserved days and available days</a:t>
            </a:r>
          </a:p>
          <a:p>
            <a:pPr marL="285750" indent="-285750">
              <a:buFont typeface="Arial" panose="020B0604020202020204" pitchFamily="34" charset="0"/>
              <a:buChar char="•"/>
            </a:pPr>
            <a:r>
              <a:rPr lang="zh-CN" altLang="en-US" sz="2000" dirty="0">
                <a:latin typeface="Times New Roman" panose="02020603050405020304" pitchFamily="18" charset="0"/>
                <a:cs typeface="Times New Roman" panose="02020603050405020304" pitchFamily="18" charset="0"/>
              </a:rPr>
              <a:t>Added price quartile features for neighborhood comparison</a:t>
            </a:r>
          </a:p>
          <a:p>
            <a:pPr marL="285750" indent="-285750">
              <a:buFont typeface="Arial" panose="020B0604020202020204" pitchFamily="34" charset="0"/>
              <a:buChar char="•"/>
            </a:pPr>
            <a:r>
              <a:rPr lang="zh-CN" altLang="en-US" sz="2000" dirty="0">
                <a:latin typeface="Times New Roman" panose="02020603050405020304" pitchFamily="18" charset="0"/>
                <a:cs typeface="Times New Roman" panose="02020603050405020304" pitchFamily="18" charset="0"/>
              </a:rPr>
              <a:t>Combined superhost status with review metrics for service quality measurement</a:t>
            </a:r>
          </a:p>
        </p:txBody>
      </p:sp>
      <p:graphicFrame>
        <p:nvGraphicFramePr>
          <p:cNvPr id="15" name="文本框 10">
            <a:extLst>
              <a:ext uri="{FF2B5EF4-FFF2-40B4-BE49-F238E27FC236}">
                <a16:creationId xmlns:a16="http://schemas.microsoft.com/office/drawing/2014/main" id="{6FAF7937-1B8A-DE20-493C-4850DE65EDCF}"/>
              </a:ext>
            </a:extLst>
          </p:cNvPr>
          <p:cNvGraphicFramePr/>
          <p:nvPr/>
        </p:nvGraphicFramePr>
        <p:xfrm>
          <a:off x="4089400" y="788670"/>
          <a:ext cx="7712710" cy="283154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B822261D-5E02-5C6E-DB06-7DD6A2625CA7}"/>
              </a:ext>
            </a:extLst>
          </p:cNvPr>
          <p:cNvSpPr>
            <a:spLocks noGrp="1"/>
          </p:cNvSpPr>
          <p:nvPr>
            <p:ph type="title"/>
          </p:nvPr>
        </p:nvSpPr>
        <p:spPr>
          <a:xfrm>
            <a:off x="2231136" y="352097"/>
            <a:ext cx="7729728" cy="1188720"/>
          </a:xfrm>
        </p:spPr>
        <p:txBody>
          <a:bodyPr/>
          <a:lstStyle/>
          <a:p>
            <a:r>
              <a:rPr lang="en-US" altLang="zh-CN" dirty="0">
                <a:effectLst/>
                <a:latin typeface="Times New Roman" panose="02020603050405020304" pitchFamily="18" charset="0"/>
                <a:cs typeface="Times New Roman" panose="02020603050405020304" pitchFamily="18" charset="0"/>
              </a:rPr>
              <a:t>Airbnb Revenue Analysis</a:t>
            </a:r>
            <a:endParaRPr lang="zh-CN" altLang="en-US" dirty="0"/>
          </a:p>
        </p:txBody>
      </p:sp>
      <p:pic>
        <p:nvPicPr>
          <p:cNvPr id="6" name="内容占位符 5" descr="图表&#10;&#10;描述已自动生成">
            <a:extLst>
              <a:ext uri="{FF2B5EF4-FFF2-40B4-BE49-F238E27FC236}">
                <a16:creationId xmlns:a16="http://schemas.microsoft.com/office/drawing/2014/main" id="{7A84E2D6-A87B-8F18-1C0F-A5FC6C2AC7F4}"/>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230438" y="2700733"/>
            <a:ext cx="7731125" cy="2977358"/>
          </a:xfrm>
        </p:spPr>
      </p:pic>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175260" y="128905"/>
            <a:ext cx="4229735" cy="460375"/>
          </a:xfrm>
          <a:prstGeom prst="rect">
            <a:avLst/>
          </a:prstGeom>
          <a:noFill/>
        </p:spPr>
        <p:txBody>
          <a:bodyPr wrap="square" rtlCol="0" anchor="t">
            <a:spAutoFit/>
          </a:bodyPr>
          <a:lstStyle/>
          <a:p>
            <a:r>
              <a:rPr lang="en-US" altLang="zh-CN" sz="2400" b="1" dirty="0">
                <a:latin typeface="Times New Roman" panose="02020603050405020304" pitchFamily="18" charset="0"/>
                <a:cs typeface="Times New Roman" panose="02020603050405020304" pitchFamily="18" charset="0"/>
                <a:sym typeface="+mn-ea"/>
              </a:rPr>
              <a:t>VISUAL  ANALYSIS</a:t>
            </a:r>
            <a:endParaRPr lang="zh-CN" altLang="en-US" sz="2400" b="1" dirty="0">
              <a:latin typeface="Times New Roman" panose="02020603050405020304" pitchFamily="18" charset="0"/>
              <a:cs typeface="Times New Roman" panose="02020603050405020304" pitchFamily="18" charset="0"/>
              <a:sym typeface="+mn-ea"/>
            </a:endParaRPr>
          </a:p>
        </p:txBody>
      </p:sp>
      <p:pic>
        <p:nvPicPr>
          <p:cNvPr id="2" name="图片 1"/>
          <p:cNvPicPr>
            <a:picLocks noChangeAspect="1"/>
          </p:cNvPicPr>
          <p:nvPr/>
        </p:nvPicPr>
        <p:blipFill>
          <a:blip r:embed="rId3"/>
          <a:stretch>
            <a:fillRect/>
          </a:stretch>
        </p:blipFill>
        <p:spPr>
          <a:xfrm>
            <a:off x="175260" y="1174750"/>
            <a:ext cx="11838940" cy="4332605"/>
          </a:xfrm>
          <a:prstGeom prst="rect">
            <a:avLst/>
          </a:prstGeom>
        </p:spPr>
      </p:pic>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175260" y="128905"/>
            <a:ext cx="3845560" cy="830997"/>
          </a:xfrm>
          <a:prstGeom prst="rect">
            <a:avLst/>
          </a:prstGeom>
          <a:noFill/>
        </p:spPr>
        <p:txBody>
          <a:bodyPr wrap="square" rtlCol="0" anchor="t">
            <a:spAutoFit/>
          </a:bodyPr>
          <a:lstStyle/>
          <a:p>
            <a:r>
              <a:rPr lang="en-US" altLang="zh-CN" sz="2400" b="1" dirty="0">
                <a:latin typeface="Times New Roman" panose="02020603050405020304" pitchFamily="18" charset="0"/>
                <a:cs typeface="Times New Roman" panose="02020603050405020304" pitchFamily="18" charset="0"/>
                <a:sym typeface="+mn-ea"/>
              </a:rPr>
              <a:t>VISUAL  ANALYSIS</a:t>
            </a:r>
            <a:endParaRPr lang="zh-CN" altLang="en-US" sz="2400" b="1" dirty="0">
              <a:latin typeface="Times New Roman" panose="02020603050405020304" pitchFamily="18" charset="0"/>
              <a:cs typeface="Times New Roman" panose="02020603050405020304" pitchFamily="18" charset="0"/>
              <a:sym typeface="+mn-ea"/>
            </a:endParaRPr>
          </a:p>
          <a:p>
            <a:endParaRPr lang="zh-CN" altLang="en-US" sz="2400" b="1" dirty="0">
              <a:latin typeface="Times New Roman" panose="02020603050405020304" charset="0"/>
              <a:cs typeface="Times New Roman" panose="02020603050405020304" charset="0"/>
            </a:endParaRPr>
          </a:p>
        </p:txBody>
      </p:sp>
      <p:pic>
        <p:nvPicPr>
          <p:cNvPr id="10" name="图片 9"/>
          <p:cNvPicPr>
            <a:picLocks noChangeAspect="1"/>
          </p:cNvPicPr>
          <p:nvPr/>
        </p:nvPicPr>
        <p:blipFill>
          <a:blip r:embed="rId3"/>
          <a:stretch>
            <a:fillRect/>
          </a:stretch>
        </p:blipFill>
        <p:spPr>
          <a:xfrm>
            <a:off x="6477634" y="494665"/>
            <a:ext cx="5304790" cy="2934335"/>
          </a:xfrm>
          <a:prstGeom prst="rect">
            <a:avLst/>
          </a:prstGeom>
        </p:spPr>
      </p:pic>
      <p:pic>
        <p:nvPicPr>
          <p:cNvPr id="6" name="图片 5"/>
          <p:cNvPicPr>
            <a:picLocks noChangeAspect="1"/>
          </p:cNvPicPr>
          <p:nvPr/>
        </p:nvPicPr>
        <p:blipFill>
          <a:blip r:embed="rId4"/>
          <a:stretch>
            <a:fillRect/>
          </a:stretch>
        </p:blipFill>
        <p:spPr>
          <a:xfrm>
            <a:off x="941071" y="589280"/>
            <a:ext cx="4545646" cy="2839720"/>
          </a:xfrm>
          <a:prstGeom prst="rect">
            <a:avLst/>
          </a:prstGeom>
        </p:spPr>
      </p:pic>
      <p:pic>
        <p:nvPicPr>
          <p:cNvPr id="7" name="图片 6"/>
          <p:cNvPicPr>
            <a:picLocks noChangeAspect="1"/>
          </p:cNvPicPr>
          <p:nvPr/>
        </p:nvPicPr>
        <p:blipFill>
          <a:blip r:embed="rId5"/>
          <a:stretch>
            <a:fillRect/>
          </a:stretch>
        </p:blipFill>
        <p:spPr>
          <a:xfrm>
            <a:off x="5556977" y="561657"/>
            <a:ext cx="368300" cy="2867343"/>
          </a:xfrm>
          <a:prstGeom prst="rect">
            <a:avLst/>
          </a:prstGeom>
        </p:spPr>
      </p:pic>
      <p:pic>
        <p:nvPicPr>
          <p:cNvPr id="2" name="图片 1"/>
          <p:cNvPicPr>
            <a:picLocks noChangeAspect="1"/>
          </p:cNvPicPr>
          <p:nvPr/>
        </p:nvPicPr>
        <p:blipFill>
          <a:blip r:embed="rId6"/>
          <a:stretch>
            <a:fillRect/>
          </a:stretch>
        </p:blipFill>
        <p:spPr>
          <a:xfrm>
            <a:off x="941071" y="3534105"/>
            <a:ext cx="5077460" cy="3194990"/>
          </a:xfrm>
          <a:prstGeom prst="rect">
            <a:avLst/>
          </a:prstGeom>
        </p:spPr>
      </p:pic>
      <p:pic>
        <p:nvPicPr>
          <p:cNvPr id="3" name="图片 2"/>
          <p:cNvPicPr>
            <a:picLocks noChangeAspect="1"/>
          </p:cNvPicPr>
          <p:nvPr/>
        </p:nvPicPr>
        <p:blipFill>
          <a:blip r:embed="rId7"/>
          <a:stretch>
            <a:fillRect/>
          </a:stretch>
        </p:blipFill>
        <p:spPr>
          <a:xfrm>
            <a:off x="6477634" y="3534105"/>
            <a:ext cx="5304790" cy="3194990"/>
          </a:xfrm>
          <a:prstGeom prst="rect">
            <a:avLst/>
          </a:prstGeom>
        </p:spPr>
      </p:pic>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175260" y="128905"/>
            <a:ext cx="3845560" cy="830997"/>
          </a:xfrm>
          <a:prstGeom prst="rect">
            <a:avLst/>
          </a:prstGeom>
          <a:noFill/>
        </p:spPr>
        <p:txBody>
          <a:bodyPr wrap="square" rtlCol="0" anchor="t">
            <a:spAutoFit/>
          </a:bodyPr>
          <a:lstStyle/>
          <a:p>
            <a:r>
              <a:rPr lang="en-US" altLang="zh-CN" sz="2400" b="1" dirty="0">
                <a:latin typeface="Times New Roman" panose="02020603050405020304" pitchFamily="18" charset="0"/>
                <a:cs typeface="Times New Roman" panose="02020603050405020304" pitchFamily="18" charset="0"/>
                <a:sym typeface="+mn-ea"/>
              </a:rPr>
              <a:t>VISUAL  ANALYSIS</a:t>
            </a:r>
            <a:endParaRPr lang="zh-CN" altLang="en-US" sz="2400" b="1" dirty="0">
              <a:latin typeface="Times New Roman" panose="02020603050405020304" pitchFamily="18" charset="0"/>
              <a:cs typeface="Times New Roman" panose="02020603050405020304" pitchFamily="18" charset="0"/>
              <a:sym typeface="+mn-ea"/>
            </a:endParaRPr>
          </a:p>
          <a:p>
            <a:endParaRPr lang="zh-CN" altLang="en-US" sz="2400" b="1" dirty="0">
              <a:latin typeface="Times New Roman" panose="02020603050405020304" charset="0"/>
              <a:cs typeface="Times New Roman" panose="02020603050405020304" charset="0"/>
            </a:endParaRPr>
          </a:p>
        </p:txBody>
      </p:sp>
      <p:pic>
        <p:nvPicPr>
          <p:cNvPr id="4" name="图片 3"/>
          <p:cNvPicPr>
            <a:picLocks noChangeAspect="1"/>
          </p:cNvPicPr>
          <p:nvPr/>
        </p:nvPicPr>
        <p:blipFill>
          <a:blip r:embed="rId3"/>
          <a:stretch>
            <a:fillRect/>
          </a:stretch>
        </p:blipFill>
        <p:spPr>
          <a:xfrm>
            <a:off x="721360" y="589280"/>
            <a:ext cx="10575290" cy="6156325"/>
          </a:xfrm>
          <a:prstGeom prst="rect">
            <a:avLst/>
          </a:prstGeom>
        </p:spPr>
      </p:pic>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175260" y="128905"/>
            <a:ext cx="3845560" cy="460375"/>
          </a:xfrm>
          <a:prstGeom prst="rect">
            <a:avLst/>
          </a:prstGeom>
          <a:noFill/>
        </p:spPr>
        <p:txBody>
          <a:bodyPr wrap="square" rtlCol="0" anchor="t">
            <a:spAutoFit/>
          </a:bodyPr>
          <a:lstStyle/>
          <a:p>
            <a:r>
              <a:rPr lang="zh-CN" altLang="en-US" sz="2400" b="1" dirty="0">
                <a:latin typeface="Times New Roman" panose="02020603050405020304" charset="0"/>
                <a:cs typeface="Times New Roman" panose="02020603050405020304" charset="0"/>
              </a:rPr>
              <a:t>Model </a:t>
            </a:r>
            <a:r>
              <a:rPr lang="en-US" altLang="zh-CN" sz="2400" b="1" dirty="0">
                <a:latin typeface="Times New Roman" panose="02020603050405020304" charset="0"/>
                <a:cs typeface="Times New Roman" panose="02020603050405020304" charset="0"/>
              </a:rPr>
              <a:t>B</a:t>
            </a:r>
            <a:r>
              <a:rPr lang="zh-CN" altLang="en-US" sz="2400" b="1" dirty="0">
                <a:latin typeface="Times New Roman" panose="02020603050405020304" charset="0"/>
                <a:cs typeface="Times New Roman" panose="02020603050405020304" charset="0"/>
              </a:rPr>
              <a:t>uilding</a:t>
            </a:r>
          </a:p>
        </p:txBody>
      </p:sp>
      <p:cxnSp>
        <p:nvCxnSpPr>
          <p:cNvPr id="3" name="直接连接符 2"/>
          <p:cNvCxnSpPr/>
          <p:nvPr>
            <p:custDataLst>
              <p:tags r:id="rId2"/>
            </p:custDataLst>
          </p:nvPr>
        </p:nvCxnSpPr>
        <p:spPr>
          <a:xfrm flipH="1">
            <a:off x="3202420" y="1582332"/>
            <a:ext cx="396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矩形 5"/>
          <p:cNvSpPr/>
          <p:nvPr>
            <p:custDataLst>
              <p:tags r:id="rId3"/>
            </p:custDataLst>
          </p:nvPr>
        </p:nvSpPr>
        <p:spPr>
          <a:xfrm>
            <a:off x="1896745" y="1116330"/>
            <a:ext cx="3173095" cy="460375"/>
          </a:xfrm>
          <a:prstGeom prst="rect">
            <a:avLst/>
          </a:prstGeom>
          <a:noFill/>
        </p:spPr>
        <p:txBody>
          <a:bodyPr vert="horz" wrap="square">
            <a:spAutoFit/>
          </a:bodyPr>
          <a:lstStyle/>
          <a:p>
            <a:pPr algn="ctr"/>
            <a:r>
              <a:rPr lang="en-US" altLang="zh-CN" sz="2400" dirty="0">
                <a:solidFill>
                  <a:schemeClr val="accent1"/>
                </a:solidFill>
                <a:latin typeface="Times New Roman" panose="02020603050405020304" pitchFamily="18" charset="0"/>
                <a:ea typeface="思源宋体 CN" panose="02020700000000000000" pitchFamily="18" charset="-122"/>
                <a:cs typeface="Times New Roman" panose="02020603050405020304" pitchFamily="18" charset="0"/>
              </a:rPr>
              <a:t>Model Selection</a:t>
            </a:r>
          </a:p>
        </p:txBody>
      </p:sp>
      <p:cxnSp>
        <p:nvCxnSpPr>
          <p:cNvPr id="2" name="直接连接符 1"/>
          <p:cNvCxnSpPr/>
          <p:nvPr>
            <p:custDataLst>
              <p:tags r:id="rId4"/>
            </p:custDataLst>
          </p:nvPr>
        </p:nvCxnSpPr>
        <p:spPr>
          <a:xfrm flipH="1">
            <a:off x="8040485" y="1582332"/>
            <a:ext cx="396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矩形 4"/>
          <p:cNvSpPr/>
          <p:nvPr>
            <p:custDataLst>
              <p:tags r:id="rId5"/>
            </p:custDataLst>
          </p:nvPr>
        </p:nvSpPr>
        <p:spPr>
          <a:xfrm>
            <a:off x="5820410" y="1110615"/>
            <a:ext cx="4808220" cy="460375"/>
          </a:xfrm>
          <a:prstGeom prst="rect">
            <a:avLst/>
          </a:prstGeom>
          <a:noFill/>
        </p:spPr>
        <p:txBody>
          <a:bodyPr vert="horz" wrap="square">
            <a:spAutoFit/>
          </a:bodyPr>
          <a:lstStyle/>
          <a:p>
            <a:pPr algn="ctr"/>
            <a:r>
              <a:rPr lang="en-US" altLang="zh-CN" sz="2400" dirty="0">
                <a:solidFill>
                  <a:schemeClr val="accent1"/>
                </a:solidFill>
                <a:latin typeface="Times New Roman" panose="02020603050405020304" pitchFamily="18" charset="0"/>
                <a:ea typeface="思源宋体 CN" panose="02020700000000000000" pitchFamily="18" charset="-122"/>
                <a:cs typeface="Times New Roman" panose="02020603050405020304" pitchFamily="18" charset="0"/>
              </a:rPr>
              <a:t>Parameters Configuration</a:t>
            </a:r>
          </a:p>
        </p:txBody>
      </p:sp>
      <p:cxnSp>
        <p:nvCxnSpPr>
          <p:cNvPr id="10" name="直接连接符 9"/>
          <p:cNvCxnSpPr/>
          <p:nvPr>
            <p:custDataLst>
              <p:tags r:id="rId6"/>
            </p:custDataLst>
          </p:nvPr>
        </p:nvCxnSpPr>
        <p:spPr>
          <a:xfrm flipH="1">
            <a:off x="8040485" y="4075342"/>
            <a:ext cx="396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矩形 10"/>
          <p:cNvSpPr/>
          <p:nvPr>
            <p:custDataLst>
              <p:tags r:id="rId7"/>
            </p:custDataLst>
          </p:nvPr>
        </p:nvSpPr>
        <p:spPr>
          <a:xfrm>
            <a:off x="6202045" y="3609975"/>
            <a:ext cx="4197985" cy="460375"/>
          </a:xfrm>
          <a:prstGeom prst="rect">
            <a:avLst/>
          </a:prstGeom>
          <a:noFill/>
        </p:spPr>
        <p:txBody>
          <a:bodyPr vert="horz" wrap="square">
            <a:spAutoFit/>
          </a:bodyPr>
          <a:lstStyle/>
          <a:p>
            <a:pPr algn="ctr"/>
            <a:r>
              <a:rPr lang="en-US" altLang="zh-CN" sz="2400" dirty="0">
                <a:solidFill>
                  <a:schemeClr val="accent1"/>
                </a:solidFill>
                <a:latin typeface="Times New Roman" panose="02020603050405020304" pitchFamily="18" charset="0"/>
                <a:ea typeface="思源宋体 CN" panose="02020700000000000000" pitchFamily="18" charset="-122"/>
                <a:cs typeface="Times New Roman" panose="02020603050405020304" pitchFamily="18" charset="0"/>
              </a:rPr>
              <a:t>Model Performance</a:t>
            </a:r>
          </a:p>
        </p:txBody>
      </p:sp>
      <p:cxnSp>
        <p:nvCxnSpPr>
          <p:cNvPr id="12" name="直接连接符 11"/>
          <p:cNvCxnSpPr/>
          <p:nvPr>
            <p:custDataLst>
              <p:tags r:id="rId8"/>
            </p:custDataLst>
          </p:nvPr>
        </p:nvCxnSpPr>
        <p:spPr>
          <a:xfrm flipH="1">
            <a:off x="3202420" y="4075342"/>
            <a:ext cx="396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3" name="矩形 12"/>
          <p:cNvSpPr/>
          <p:nvPr>
            <p:custDataLst>
              <p:tags r:id="rId9"/>
            </p:custDataLst>
          </p:nvPr>
        </p:nvSpPr>
        <p:spPr>
          <a:xfrm>
            <a:off x="1814195" y="3609975"/>
            <a:ext cx="3255645" cy="460375"/>
          </a:xfrm>
          <a:prstGeom prst="rect">
            <a:avLst/>
          </a:prstGeom>
          <a:noFill/>
        </p:spPr>
        <p:txBody>
          <a:bodyPr vert="horz" wrap="square">
            <a:spAutoFit/>
          </a:bodyPr>
          <a:lstStyle/>
          <a:p>
            <a:pPr algn="ctr"/>
            <a:r>
              <a:rPr lang="en-US" altLang="zh-CN" sz="2400" dirty="0">
                <a:solidFill>
                  <a:schemeClr val="accent1"/>
                </a:solidFill>
                <a:latin typeface="Times New Roman" panose="02020603050405020304" pitchFamily="18" charset="0"/>
                <a:ea typeface="思源宋体 CN" panose="02020700000000000000" pitchFamily="18" charset="-122"/>
                <a:cs typeface="Times New Roman" panose="02020603050405020304" pitchFamily="18" charset="0"/>
              </a:rPr>
              <a:t>Training Process</a:t>
            </a:r>
          </a:p>
        </p:txBody>
      </p:sp>
      <p:sp>
        <p:nvSpPr>
          <p:cNvPr id="16" name="文本框 15"/>
          <p:cNvSpPr txBox="1"/>
          <p:nvPr/>
        </p:nvSpPr>
        <p:spPr>
          <a:xfrm>
            <a:off x="1392554" y="1588135"/>
            <a:ext cx="4311959" cy="2031325"/>
          </a:xfrm>
          <a:prstGeom prst="rect">
            <a:avLst/>
          </a:prstGeom>
          <a:noFill/>
        </p:spPr>
        <p:txBody>
          <a:bodyPr wrap="square" rtlCol="0" anchor="t">
            <a:spAutoFit/>
          </a:bodyPr>
          <a:lstStyle/>
          <a:p>
            <a:pPr algn="just"/>
            <a:r>
              <a:rPr lang="zh-CN" altLang="en-US" dirty="0">
                <a:latin typeface="Times New Roman" panose="02020603050405020304" pitchFamily="18" charset="0"/>
                <a:cs typeface="Times New Roman" panose="02020603050405020304" pitchFamily="18" charset="0"/>
              </a:rPr>
              <a:t>Selected Random Forest Regressor as primary model</a:t>
            </a:r>
          </a:p>
          <a:p>
            <a:pPr marL="285750" indent="-285750" algn="just">
              <a:buFont typeface="Arial" panose="020B0604020202020204" pitchFamily="34" charset="0"/>
              <a:buChar char="•"/>
            </a:pPr>
            <a:r>
              <a:rPr lang="zh-CN" altLang="en-US" dirty="0">
                <a:latin typeface="Times New Roman" panose="02020603050405020304" pitchFamily="18" charset="0"/>
                <a:cs typeface="Times New Roman" panose="02020603050405020304" pitchFamily="18" charset="0"/>
              </a:rPr>
              <a:t>Ability to handle non-linear relationships</a:t>
            </a:r>
          </a:p>
          <a:p>
            <a:pPr marL="285750" indent="-285750" algn="just">
              <a:buFont typeface="Arial" panose="020B0604020202020204" pitchFamily="34" charset="0"/>
              <a:buChar char="•"/>
            </a:pPr>
            <a:r>
              <a:rPr lang="zh-CN" altLang="en-US" dirty="0">
                <a:latin typeface="Times New Roman" panose="02020603050405020304" pitchFamily="18" charset="0"/>
                <a:cs typeface="Times New Roman" panose="02020603050405020304" pitchFamily="18" charset="0"/>
              </a:rPr>
              <a:t>Feature importance insights</a:t>
            </a:r>
          </a:p>
          <a:p>
            <a:pPr marL="285750" indent="-285750" algn="just">
              <a:buFont typeface="Arial" panose="020B0604020202020204" pitchFamily="34" charset="0"/>
              <a:buChar char="•"/>
            </a:pPr>
            <a:r>
              <a:rPr lang="zh-CN" altLang="en-US" dirty="0">
                <a:latin typeface="Times New Roman" panose="02020603050405020304" pitchFamily="18" charset="0"/>
                <a:cs typeface="Times New Roman" panose="02020603050405020304" pitchFamily="18" charset="0"/>
              </a:rPr>
              <a:t>Strong performance with mixed data types</a:t>
            </a:r>
          </a:p>
          <a:p>
            <a:pPr indent="0" algn="just">
              <a:buFont typeface="Arial" panose="020B0604020202020204" pitchFamily="34" charset="0"/>
              <a:buNone/>
            </a:pPr>
            <a:endParaRPr lang="zh-CN" altLang="en-US" dirty="0"/>
          </a:p>
        </p:txBody>
      </p:sp>
      <p:sp>
        <p:nvSpPr>
          <p:cNvPr id="17" name="文本框 16"/>
          <p:cNvSpPr txBox="1"/>
          <p:nvPr/>
        </p:nvSpPr>
        <p:spPr>
          <a:xfrm>
            <a:off x="6692265" y="1707515"/>
            <a:ext cx="3314065" cy="1198880"/>
          </a:xfrm>
          <a:prstGeom prst="rect">
            <a:avLst/>
          </a:prstGeom>
          <a:noFill/>
        </p:spPr>
        <p:txBody>
          <a:bodyPr wrap="square" rtlCol="0" anchor="t">
            <a:spAutoFit/>
          </a:bodyPr>
          <a:lstStyle/>
          <a:p>
            <a:pPr algn="just"/>
            <a:r>
              <a:rPr lang="zh-CN" altLang="en-US" dirty="0">
                <a:latin typeface="Times New Roman" panose="02020603050405020304" pitchFamily="18" charset="0"/>
                <a:cs typeface="Times New Roman" panose="02020603050405020304" pitchFamily="18" charset="0"/>
              </a:rPr>
              <a:t>Number of trees: 200</a:t>
            </a:r>
          </a:p>
          <a:p>
            <a:pPr algn="just"/>
            <a:r>
              <a:rPr lang="zh-CN" altLang="en-US" dirty="0">
                <a:latin typeface="Times New Roman" panose="02020603050405020304" pitchFamily="18" charset="0"/>
                <a:cs typeface="Times New Roman" panose="02020603050405020304" pitchFamily="18" charset="0"/>
              </a:rPr>
              <a:t>No maximum depth constraint</a:t>
            </a:r>
          </a:p>
          <a:p>
            <a:pPr algn="just"/>
            <a:r>
              <a:rPr lang="zh-CN" altLang="en-US" dirty="0">
                <a:latin typeface="Times New Roman" panose="02020603050405020304" pitchFamily="18" charset="0"/>
                <a:cs typeface="Times New Roman" panose="02020603050405020304" pitchFamily="18" charset="0"/>
              </a:rPr>
              <a:t>Minimum samples split: 5</a:t>
            </a:r>
          </a:p>
          <a:p>
            <a:pPr algn="just"/>
            <a:r>
              <a:rPr lang="zh-CN" altLang="en-US" dirty="0">
                <a:latin typeface="Times New Roman" panose="02020603050405020304" pitchFamily="18" charset="0"/>
                <a:cs typeface="Times New Roman" panose="02020603050405020304" pitchFamily="18" charset="0"/>
              </a:rPr>
              <a:t>Minimum samples leaf: 2</a:t>
            </a:r>
          </a:p>
        </p:txBody>
      </p:sp>
      <p:sp>
        <p:nvSpPr>
          <p:cNvPr id="18" name="文本框 17"/>
          <p:cNvSpPr txBox="1"/>
          <p:nvPr/>
        </p:nvSpPr>
        <p:spPr>
          <a:xfrm>
            <a:off x="1367155" y="4090670"/>
            <a:ext cx="4337358" cy="2031325"/>
          </a:xfrm>
          <a:prstGeom prst="rect">
            <a:avLst/>
          </a:prstGeom>
          <a:noFill/>
        </p:spPr>
        <p:txBody>
          <a:bodyPr wrap="square" rtlCol="0" anchor="t">
            <a:spAutoFit/>
          </a:bodyPr>
          <a:lstStyle/>
          <a:p>
            <a:pPr algn="just"/>
            <a:r>
              <a:rPr lang="zh-CN" altLang="en-US" dirty="0">
                <a:latin typeface="Times New Roman" panose="02020603050405020304" pitchFamily="18" charset="0"/>
                <a:cs typeface="Times New Roman" panose="02020603050405020304" pitchFamily="18" charset="0"/>
              </a:rPr>
              <a:t>Split ratio: 80% training, 20% testing</a:t>
            </a:r>
          </a:p>
          <a:p>
            <a:pPr algn="just"/>
            <a:r>
              <a:rPr lang="zh-CN" altLang="en-US" dirty="0">
                <a:latin typeface="Times New Roman" panose="02020603050405020304" pitchFamily="18" charset="0"/>
                <a:cs typeface="Times New Roman" panose="02020603050405020304" pitchFamily="18" charset="0"/>
              </a:rPr>
              <a:t>Applied 5-fold cross validation</a:t>
            </a:r>
          </a:p>
          <a:p>
            <a:pPr algn="just"/>
            <a:r>
              <a:rPr lang="zh-CN" altLang="en-US" dirty="0">
                <a:latin typeface="Times New Roman" panose="02020603050405020304" pitchFamily="18" charset="0"/>
                <a:cs typeface="Times New Roman" panose="02020603050405020304" pitchFamily="18" charset="0"/>
              </a:rPr>
              <a:t>Used standardized features</a:t>
            </a:r>
          </a:p>
          <a:p>
            <a:pPr algn="just"/>
            <a:r>
              <a:rPr lang="zh-CN" altLang="en-US" dirty="0">
                <a:latin typeface="Times New Roman" panose="02020603050405020304" pitchFamily="18" charset="0"/>
                <a:cs typeface="Times New Roman" panose="02020603050405020304" pitchFamily="18" charset="0"/>
              </a:rPr>
              <a:t>Maintained original target scale for interpretation</a:t>
            </a:r>
          </a:p>
          <a:p>
            <a:pPr algn="just"/>
            <a:r>
              <a:rPr lang="zh-CN" altLang="en-US" dirty="0">
                <a:latin typeface="Times New Roman" panose="02020603050405020304" pitchFamily="18" charset="0"/>
                <a:cs typeface="Times New Roman" panose="02020603050405020304" pitchFamily="18" charset="0"/>
              </a:rPr>
              <a:t>Implemented early stopping to prevent overfitting</a:t>
            </a:r>
          </a:p>
        </p:txBody>
      </p:sp>
      <p:sp>
        <p:nvSpPr>
          <p:cNvPr id="19" name="文本框 18"/>
          <p:cNvSpPr txBox="1"/>
          <p:nvPr/>
        </p:nvSpPr>
        <p:spPr>
          <a:xfrm>
            <a:off x="6299200" y="4214495"/>
            <a:ext cx="3877945" cy="1631216"/>
          </a:xfrm>
          <a:prstGeom prst="rect">
            <a:avLst/>
          </a:prstGeom>
          <a:noFill/>
        </p:spPr>
        <p:txBody>
          <a:bodyPr wrap="square" rtlCol="0" anchor="t">
            <a:spAutoFit/>
          </a:bodyPr>
          <a:lstStyle/>
          <a:p>
            <a:r>
              <a:rPr lang="zh-CN" altLang="en-US" sz="2000" dirty="0">
                <a:latin typeface="Times New Roman" panose="02020603050405020304" pitchFamily="18" charset="0"/>
                <a:cs typeface="Times New Roman" panose="02020603050405020304" pitchFamily="18" charset="0"/>
              </a:rPr>
              <a:t>Testing Set Performance:</a:t>
            </a:r>
          </a:p>
          <a:p>
            <a:r>
              <a:rPr lang="zh-CN" altLang="en-US" sz="2000" dirty="0">
                <a:latin typeface="Times New Roman" panose="02020603050405020304" pitchFamily="18" charset="0"/>
                <a:cs typeface="Times New Roman" panose="02020603050405020304" pitchFamily="18" charset="0"/>
              </a:rPr>
              <a:t>R² Score: 0.9942</a:t>
            </a:r>
          </a:p>
          <a:p>
            <a:r>
              <a:rPr lang="zh-CN" altLang="en-US" sz="2000" dirty="0">
                <a:latin typeface="Times New Roman" panose="02020603050405020304" pitchFamily="18" charset="0"/>
                <a:cs typeface="Times New Roman" panose="02020603050405020304" pitchFamily="18" charset="0"/>
              </a:rPr>
              <a:t>Mean Squared Error: 0.0058</a:t>
            </a:r>
          </a:p>
          <a:p>
            <a:r>
              <a:rPr lang="zh-CN" altLang="en-US" sz="2000" dirty="0">
                <a:latin typeface="Times New Roman" panose="02020603050405020304" pitchFamily="18" charset="0"/>
                <a:cs typeface="Times New Roman" panose="02020603050405020304" pitchFamily="18" charset="0"/>
              </a:rPr>
              <a:t>Root Mean Squared Error: 0.0765</a:t>
            </a:r>
          </a:p>
          <a:p>
            <a:r>
              <a:rPr lang="zh-CN" altLang="en-US" sz="2000" dirty="0">
                <a:latin typeface="Times New Roman" panose="02020603050405020304" pitchFamily="18" charset="0"/>
                <a:cs typeface="Times New Roman" panose="02020603050405020304" pitchFamily="18" charset="0"/>
              </a:rPr>
              <a:t>Mean Absolute Error: 0.0215</a:t>
            </a:r>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9" name="文本框 8"/>
          <p:cNvSpPr txBox="1"/>
          <p:nvPr/>
        </p:nvSpPr>
        <p:spPr>
          <a:xfrm>
            <a:off x="9065304" y="2258922"/>
            <a:ext cx="3044952" cy="1627632"/>
          </a:xfrm>
          <a:prstGeom prst="rect">
            <a:avLst/>
          </a:prstGeom>
        </p:spPr>
        <p:txBody>
          <a:bodyPr vert="horz" lIns="274320" tIns="182880" rIns="274320" bIns="182880" rtlCol="0" anchor="ctr" anchorCtr="1">
            <a:normAutofit/>
          </a:bodyPr>
          <a:lstStyle/>
          <a:p>
            <a:pPr algn="ctr">
              <a:lnSpc>
                <a:spcPct val="90000"/>
              </a:lnSpc>
              <a:spcBef>
                <a:spcPct val="0"/>
              </a:spcBef>
              <a:spcAft>
                <a:spcPts val="600"/>
              </a:spcAft>
            </a:pPr>
            <a:r>
              <a:rPr lang="en-US" altLang="zh-CN" sz="2800" cap="all" spc="200" dirty="0">
                <a:solidFill>
                  <a:srgbClr val="262626"/>
                </a:solidFill>
                <a:latin typeface="+mj-lt"/>
                <a:ea typeface="+mj-ea"/>
                <a:cs typeface="+mj-cs"/>
              </a:rPr>
              <a:t>Results Analysis</a:t>
            </a:r>
          </a:p>
        </p:txBody>
      </p:sp>
      <p:pic>
        <p:nvPicPr>
          <p:cNvPr id="11" name="图片 10">
            <a:extLst>
              <a:ext uri="{FF2B5EF4-FFF2-40B4-BE49-F238E27FC236}">
                <a16:creationId xmlns:a16="http://schemas.microsoft.com/office/drawing/2014/main" id="{F5C19359-41A9-F542-490F-5C5334954B90}"/>
              </a:ext>
            </a:extLst>
          </p:cNvPr>
          <p:cNvPicPr>
            <a:picLocks noChangeAspect="1"/>
          </p:cNvPicPr>
          <p:nvPr/>
        </p:nvPicPr>
        <p:blipFill>
          <a:blip r:embed="rId4"/>
          <a:stretch>
            <a:fillRect/>
          </a:stretch>
        </p:blipFill>
        <p:spPr>
          <a:xfrm>
            <a:off x="315314" y="124433"/>
            <a:ext cx="4656167" cy="2948305"/>
          </a:xfrm>
          <a:prstGeom prst="rect">
            <a:avLst/>
          </a:prstGeom>
        </p:spPr>
      </p:pic>
      <p:pic>
        <p:nvPicPr>
          <p:cNvPr id="12" name="图片 11">
            <a:extLst>
              <a:ext uri="{FF2B5EF4-FFF2-40B4-BE49-F238E27FC236}">
                <a16:creationId xmlns:a16="http://schemas.microsoft.com/office/drawing/2014/main" id="{3389B369-2314-2B71-7967-656F6CD54B4F}"/>
              </a:ext>
            </a:extLst>
          </p:cNvPr>
          <p:cNvPicPr>
            <a:picLocks noChangeAspect="1"/>
          </p:cNvPicPr>
          <p:nvPr/>
        </p:nvPicPr>
        <p:blipFill>
          <a:blip r:embed="rId5"/>
          <a:stretch>
            <a:fillRect/>
          </a:stretch>
        </p:blipFill>
        <p:spPr>
          <a:xfrm>
            <a:off x="5016565" y="124433"/>
            <a:ext cx="4422776" cy="2948305"/>
          </a:xfrm>
          <a:prstGeom prst="rect">
            <a:avLst/>
          </a:prstGeom>
        </p:spPr>
      </p:pic>
      <p:pic>
        <p:nvPicPr>
          <p:cNvPr id="13" name="图片 12">
            <a:extLst>
              <a:ext uri="{FF2B5EF4-FFF2-40B4-BE49-F238E27FC236}">
                <a16:creationId xmlns:a16="http://schemas.microsoft.com/office/drawing/2014/main" id="{935D7C10-B8F2-017F-2394-6EF1DDFD81CC}"/>
              </a:ext>
            </a:extLst>
          </p:cNvPr>
          <p:cNvPicPr>
            <a:picLocks noChangeAspect="1"/>
          </p:cNvPicPr>
          <p:nvPr/>
        </p:nvPicPr>
        <p:blipFill>
          <a:blip r:embed="rId6"/>
          <a:stretch>
            <a:fillRect/>
          </a:stretch>
        </p:blipFill>
        <p:spPr>
          <a:xfrm>
            <a:off x="315314" y="3241538"/>
            <a:ext cx="4656167" cy="3294380"/>
          </a:xfrm>
          <a:prstGeom prst="rect">
            <a:avLst/>
          </a:prstGeom>
        </p:spPr>
      </p:pic>
      <p:pic>
        <p:nvPicPr>
          <p:cNvPr id="16" name="图片 15">
            <a:extLst>
              <a:ext uri="{FF2B5EF4-FFF2-40B4-BE49-F238E27FC236}">
                <a16:creationId xmlns:a16="http://schemas.microsoft.com/office/drawing/2014/main" id="{FB8AE2DC-FB22-F7C8-EF03-A42D04EEC072}"/>
              </a:ext>
            </a:extLst>
          </p:cNvPr>
          <p:cNvPicPr>
            <a:picLocks noChangeAspect="1"/>
          </p:cNvPicPr>
          <p:nvPr/>
        </p:nvPicPr>
        <p:blipFill>
          <a:blip r:embed="rId7"/>
          <a:stretch>
            <a:fillRect/>
          </a:stretch>
        </p:blipFill>
        <p:spPr>
          <a:xfrm>
            <a:off x="5016565" y="3240903"/>
            <a:ext cx="4422776" cy="3295015"/>
          </a:xfrm>
          <a:prstGeom prst="rect">
            <a:avLst/>
          </a:prstGeom>
        </p:spPr>
      </p:pic>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175260" y="128905"/>
            <a:ext cx="5645150" cy="461665"/>
          </a:xfrm>
          <a:prstGeom prst="rect">
            <a:avLst/>
          </a:prstGeom>
          <a:noFill/>
        </p:spPr>
        <p:txBody>
          <a:bodyPr wrap="square" rtlCol="0" anchor="t">
            <a:spAutoFit/>
          </a:bodyPr>
          <a:lstStyle/>
          <a:p>
            <a:r>
              <a:rPr lang="zh-CN" altLang="en-US" sz="2400" b="1" dirty="0">
                <a:latin typeface="Times New Roman" panose="02020603050405020304" charset="0"/>
                <a:cs typeface="Times New Roman" panose="02020603050405020304" charset="0"/>
              </a:rPr>
              <a:t>Impact </a:t>
            </a:r>
            <a:r>
              <a:rPr lang="en-US" altLang="zh-CN" sz="2400" b="1" dirty="0">
                <a:latin typeface="Times New Roman" panose="02020603050405020304" charset="0"/>
                <a:cs typeface="Times New Roman" panose="02020603050405020304" charset="0"/>
              </a:rPr>
              <a:t>A</a:t>
            </a:r>
            <a:r>
              <a:rPr lang="zh-CN" altLang="en-US" sz="2400" b="1" dirty="0">
                <a:latin typeface="Times New Roman" panose="02020603050405020304" charset="0"/>
                <a:cs typeface="Times New Roman" panose="02020603050405020304" charset="0"/>
              </a:rPr>
              <a:t>nalysis and </a:t>
            </a:r>
            <a:r>
              <a:rPr lang="en-US" altLang="zh-CN" sz="2400" b="1" dirty="0">
                <a:latin typeface="Times New Roman" panose="02020603050405020304" charset="0"/>
                <a:cs typeface="Times New Roman" panose="02020603050405020304" charset="0"/>
              </a:rPr>
              <a:t>R</a:t>
            </a:r>
            <a:r>
              <a:rPr lang="zh-CN" altLang="en-US" sz="2400" b="1" dirty="0">
                <a:latin typeface="Times New Roman" panose="02020603050405020304" charset="0"/>
                <a:cs typeface="Times New Roman" panose="02020603050405020304" charset="0"/>
              </a:rPr>
              <a:t>ecommendations</a:t>
            </a:r>
          </a:p>
        </p:txBody>
      </p:sp>
      <p:cxnSp>
        <p:nvCxnSpPr>
          <p:cNvPr id="3" name="直接连接符 2"/>
          <p:cNvCxnSpPr/>
          <p:nvPr>
            <p:custDataLst>
              <p:tags r:id="rId2"/>
            </p:custDataLst>
          </p:nvPr>
        </p:nvCxnSpPr>
        <p:spPr>
          <a:xfrm flipH="1">
            <a:off x="3025255" y="1428027"/>
            <a:ext cx="396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矩形 5"/>
          <p:cNvSpPr/>
          <p:nvPr>
            <p:custDataLst>
              <p:tags r:id="rId3"/>
            </p:custDataLst>
          </p:nvPr>
        </p:nvSpPr>
        <p:spPr>
          <a:xfrm>
            <a:off x="1685925" y="956945"/>
            <a:ext cx="3429000" cy="460375"/>
          </a:xfrm>
          <a:prstGeom prst="rect">
            <a:avLst/>
          </a:prstGeom>
          <a:noFill/>
        </p:spPr>
        <p:txBody>
          <a:bodyPr vert="horz" wrap="square">
            <a:spAutoFit/>
          </a:bodyPr>
          <a:lstStyle/>
          <a:p>
            <a:pPr algn="ctr"/>
            <a:r>
              <a:rPr lang="en-US" altLang="zh-CN" sz="2400" dirty="0">
                <a:solidFill>
                  <a:schemeClr val="accent1"/>
                </a:solidFill>
                <a:latin typeface="Times New Roman" panose="02020603050405020304" pitchFamily="18" charset="0"/>
                <a:ea typeface="思源宋体 CN" panose="02020700000000000000" pitchFamily="18" charset="-122"/>
                <a:cs typeface="Times New Roman" panose="02020603050405020304" pitchFamily="18" charset="0"/>
              </a:rPr>
              <a:t>Market Trend Analysis</a:t>
            </a:r>
          </a:p>
        </p:txBody>
      </p:sp>
      <p:cxnSp>
        <p:nvCxnSpPr>
          <p:cNvPr id="2" name="直接连接符 1"/>
          <p:cNvCxnSpPr/>
          <p:nvPr>
            <p:custDataLst>
              <p:tags r:id="rId4"/>
            </p:custDataLst>
          </p:nvPr>
        </p:nvCxnSpPr>
        <p:spPr>
          <a:xfrm flipH="1">
            <a:off x="8785975" y="1429297"/>
            <a:ext cx="396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矩形 4"/>
          <p:cNvSpPr/>
          <p:nvPr>
            <p:custDataLst>
              <p:tags r:id="rId5"/>
            </p:custDataLst>
          </p:nvPr>
        </p:nvSpPr>
        <p:spPr>
          <a:xfrm>
            <a:off x="6579870" y="956310"/>
            <a:ext cx="4808220" cy="460375"/>
          </a:xfrm>
          <a:prstGeom prst="rect">
            <a:avLst/>
          </a:prstGeom>
          <a:noFill/>
        </p:spPr>
        <p:txBody>
          <a:bodyPr vert="horz" wrap="square">
            <a:spAutoFit/>
          </a:bodyPr>
          <a:lstStyle/>
          <a:p>
            <a:pPr algn="ctr"/>
            <a:r>
              <a:rPr lang="en-US" altLang="zh-CN" sz="2400" dirty="0">
                <a:solidFill>
                  <a:schemeClr val="accent1"/>
                </a:solidFill>
                <a:latin typeface="Times New Roman" panose="02020603050405020304" pitchFamily="18" charset="0"/>
                <a:ea typeface="思源宋体 CN" panose="02020700000000000000" pitchFamily="18" charset="-122"/>
                <a:cs typeface="Times New Roman" panose="02020603050405020304" pitchFamily="18" charset="0"/>
              </a:rPr>
              <a:t>Platform Strategic Direction</a:t>
            </a:r>
          </a:p>
        </p:txBody>
      </p:sp>
      <p:cxnSp>
        <p:nvCxnSpPr>
          <p:cNvPr id="10" name="直接连接符 9"/>
          <p:cNvCxnSpPr/>
          <p:nvPr>
            <p:custDataLst>
              <p:tags r:id="rId6"/>
            </p:custDataLst>
          </p:nvPr>
        </p:nvCxnSpPr>
        <p:spPr>
          <a:xfrm flipH="1">
            <a:off x="8785975" y="4159797"/>
            <a:ext cx="396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矩形 10"/>
          <p:cNvSpPr/>
          <p:nvPr>
            <p:custDataLst>
              <p:tags r:id="rId7"/>
            </p:custDataLst>
          </p:nvPr>
        </p:nvSpPr>
        <p:spPr>
          <a:xfrm>
            <a:off x="6925945" y="3687445"/>
            <a:ext cx="4197985" cy="460375"/>
          </a:xfrm>
          <a:prstGeom prst="rect">
            <a:avLst/>
          </a:prstGeom>
          <a:noFill/>
        </p:spPr>
        <p:txBody>
          <a:bodyPr vert="horz" wrap="square">
            <a:spAutoFit/>
          </a:bodyPr>
          <a:lstStyle/>
          <a:p>
            <a:pPr algn="ctr"/>
            <a:r>
              <a:rPr lang="en-US" altLang="zh-CN" sz="2400" dirty="0">
                <a:solidFill>
                  <a:schemeClr val="accent1"/>
                </a:solidFill>
                <a:latin typeface="Times New Roman" panose="02020603050405020304" pitchFamily="18" charset="0"/>
                <a:ea typeface="思源宋体 CN" panose="02020700000000000000" pitchFamily="18" charset="-122"/>
                <a:cs typeface="Times New Roman" panose="02020603050405020304" pitchFamily="18" charset="0"/>
              </a:rPr>
              <a:t>Model Performance</a:t>
            </a:r>
          </a:p>
        </p:txBody>
      </p:sp>
      <p:cxnSp>
        <p:nvCxnSpPr>
          <p:cNvPr id="12" name="直接连接符 11"/>
          <p:cNvCxnSpPr/>
          <p:nvPr>
            <p:custDataLst>
              <p:tags r:id="rId8"/>
            </p:custDataLst>
          </p:nvPr>
        </p:nvCxnSpPr>
        <p:spPr>
          <a:xfrm flipH="1">
            <a:off x="3202420" y="4183927"/>
            <a:ext cx="396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3" name="矩形 12"/>
          <p:cNvSpPr/>
          <p:nvPr>
            <p:custDataLst>
              <p:tags r:id="rId9"/>
            </p:custDataLst>
          </p:nvPr>
        </p:nvSpPr>
        <p:spPr>
          <a:xfrm>
            <a:off x="1144270" y="3718560"/>
            <a:ext cx="4406265" cy="460375"/>
          </a:xfrm>
          <a:prstGeom prst="rect">
            <a:avLst/>
          </a:prstGeom>
          <a:noFill/>
        </p:spPr>
        <p:txBody>
          <a:bodyPr vert="horz" wrap="square">
            <a:spAutoFit/>
          </a:bodyPr>
          <a:lstStyle/>
          <a:p>
            <a:pPr algn="ctr"/>
            <a:r>
              <a:rPr lang="en-US" altLang="zh-CN" sz="2400" dirty="0">
                <a:solidFill>
                  <a:schemeClr val="accent1"/>
                </a:solidFill>
                <a:latin typeface="Times New Roman" panose="02020603050405020304" pitchFamily="18" charset="0"/>
                <a:ea typeface="思源宋体 CN" panose="02020700000000000000" pitchFamily="18" charset="-122"/>
                <a:cs typeface="Times New Roman" panose="02020603050405020304" pitchFamily="18" charset="0"/>
              </a:rPr>
              <a:t>Landlord Business Strategy</a:t>
            </a:r>
          </a:p>
        </p:txBody>
      </p:sp>
      <p:sp>
        <p:nvSpPr>
          <p:cNvPr id="16" name="文本框 15"/>
          <p:cNvSpPr txBox="1"/>
          <p:nvPr/>
        </p:nvSpPr>
        <p:spPr>
          <a:xfrm>
            <a:off x="545465" y="1438910"/>
            <a:ext cx="5274945" cy="2031325"/>
          </a:xfrm>
          <a:prstGeom prst="rect">
            <a:avLst/>
          </a:prstGeom>
          <a:noFill/>
        </p:spPr>
        <p:txBody>
          <a:bodyPr wrap="square" rtlCol="0" anchor="t">
            <a:spAutoFit/>
          </a:bodyPr>
          <a:lstStyle/>
          <a:p>
            <a:pPr marL="285750" indent="-285750" algn="just">
              <a:buFont typeface="Arial" panose="020B0604020202020204" pitchFamily="34" charset="0"/>
              <a:buChar char="•"/>
            </a:pPr>
            <a:r>
              <a:rPr lang="zh-CN" altLang="en-US" dirty="0">
                <a:latin typeface="Times New Roman" panose="02020603050405020304" pitchFamily="18" charset="0"/>
                <a:cs typeface="Times New Roman" panose="02020603050405020304" pitchFamily="18" charset="0"/>
              </a:rPr>
              <a:t>Regional differentiation is obvious, and the gap between core areas and emerging areas is widening</a:t>
            </a:r>
          </a:p>
          <a:p>
            <a:pPr marL="285750" indent="-285750" algn="just">
              <a:buFont typeface="Arial" panose="020B0604020202020204" pitchFamily="34" charset="0"/>
              <a:buChar char="•"/>
            </a:pPr>
            <a:r>
              <a:rPr lang="zh-CN" altLang="en-US" dirty="0">
                <a:latin typeface="Times New Roman" panose="02020603050405020304" pitchFamily="18" charset="0"/>
                <a:cs typeface="Times New Roman" panose="02020603050405020304" pitchFamily="18" charset="0"/>
              </a:rPr>
              <a:t>Service quality is improved overall, and professional landlords dominate the market</a:t>
            </a:r>
          </a:p>
          <a:p>
            <a:pPr marL="285750" indent="-285750" algn="just">
              <a:buFont typeface="Arial" panose="020B0604020202020204" pitchFamily="34" charset="0"/>
              <a:buChar char="•"/>
            </a:pPr>
            <a:r>
              <a:rPr lang="zh-CN" altLang="en-US" dirty="0">
                <a:latin typeface="Times New Roman" panose="02020603050405020304" pitchFamily="18" charset="0"/>
                <a:cs typeface="Times New Roman" panose="02020603050405020304" pitchFamily="18" charset="0"/>
              </a:rPr>
              <a:t>User demand is upgraded, and the transition from simple accommodation to quality experience is made</a:t>
            </a:r>
          </a:p>
        </p:txBody>
      </p:sp>
      <p:sp>
        <p:nvSpPr>
          <p:cNvPr id="17" name="文本框 16"/>
          <p:cNvSpPr txBox="1"/>
          <p:nvPr/>
        </p:nvSpPr>
        <p:spPr>
          <a:xfrm>
            <a:off x="6101715" y="1552575"/>
            <a:ext cx="5170805" cy="1754326"/>
          </a:xfrm>
          <a:prstGeom prst="rect">
            <a:avLst/>
          </a:prstGeom>
          <a:noFill/>
        </p:spPr>
        <p:txBody>
          <a:bodyPr wrap="square" rtlCol="0" anchor="t">
            <a:spAutoFit/>
          </a:bodyPr>
          <a:lstStyle/>
          <a:p>
            <a:pPr marL="285750" indent="-285750" algn="just">
              <a:buFont typeface="Arial" panose="020B0604020202020204" pitchFamily="34" charset="0"/>
              <a:buChar char="•"/>
            </a:pPr>
            <a:r>
              <a:rPr lang="zh-CN" altLang="en-US" dirty="0">
                <a:latin typeface="Times New Roman" panose="02020603050405020304" pitchFamily="18" charset="0"/>
                <a:cs typeface="Times New Roman" panose="02020603050405020304" pitchFamily="18" charset="0"/>
              </a:rPr>
              <a:t>Use machine learning to optimize recommendation systems and dynamic pricing tools</a:t>
            </a:r>
          </a:p>
          <a:p>
            <a:pPr marL="285750" indent="-285750" algn="just">
              <a:buFont typeface="Arial" panose="020B0604020202020204" pitchFamily="34" charset="0"/>
              <a:buChar char="•"/>
            </a:pPr>
            <a:r>
              <a:rPr lang="zh-CN" altLang="en-US" dirty="0">
                <a:latin typeface="Times New Roman" panose="02020603050405020304" pitchFamily="18" charset="0"/>
                <a:cs typeface="Times New Roman" panose="02020603050405020304" pitchFamily="18" charset="0"/>
              </a:rPr>
              <a:t>Strengthen the landlord empowerment system, provide business analysis and training support</a:t>
            </a:r>
          </a:p>
          <a:p>
            <a:pPr marL="285750" indent="-285750" algn="just">
              <a:buFont typeface="Arial" panose="020B0604020202020204" pitchFamily="34" charset="0"/>
              <a:buChar char="•"/>
            </a:pPr>
            <a:r>
              <a:rPr lang="zh-CN" altLang="en-US" dirty="0">
                <a:latin typeface="Times New Roman" panose="02020603050405020304" pitchFamily="18" charset="0"/>
                <a:cs typeface="Times New Roman" panose="02020603050405020304" pitchFamily="18" charset="0"/>
              </a:rPr>
              <a:t>Improve the super landlord mechanism and establish service quality standards</a:t>
            </a:r>
          </a:p>
        </p:txBody>
      </p:sp>
      <p:sp>
        <p:nvSpPr>
          <p:cNvPr id="18" name="文本框 17"/>
          <p:cNvSpPr txBox="1"/>
          <p:nvPr/>
        </p:nvSpPr>
        <p:spPr>
          <a:xfrm>
            <a:off x="545465" y="4199255"/>
            <a:ext cx="5071110" cy="1753235"/>
          </a:xfrm>
          <a:prstGeom prst="rect">
            <a:avLst/>
          </a:prstGeom>
          <a:noFill/>
        </p:spPr>
        <p:txBody>
          <a:bodyPr wrap="square" rtlCol="0" anchor="t">
            <a:spAutoFit/>
          </a:bodyPr>
          <a:lstStyle/>
          <a:p>
            <a:pPr marL="285750" indent="-285750" algn="just">
              <a:buFont typeface="Arial" panose="020B0604020202020204" pitchFamily="34" charset="0"/>
              <a:buChar char="•"/>
            </a:pPr>
            <a:r>
              <a:rPr lang="zh-CN" altLang="en-US" dirty="0">
                <a:latin typeface="Times New Roman" panose="02020603050405020304" pitchFamily="18" charset="0"/>
                <a:cs typeface="Times New Roman" panose="02020603050405020304" pitchFamily="18" charset="0"/>
              </a:rPr>
              <a:t>Select target areas based on data to avoid excessive competition</a:t>
            </a:r>
          </a:p>
          <a:p>
            <a:pPr marL="285750" indent="-285750" algn="just">
              <a:buFont typeface="Arial" panose="020B0604020202020204" pitchFamily="34" charset="0"/>
              <a:buChar char="•"/>
            </a:pPr>
            <a:r>
              <a:rPr lang="zh-CN" altLang="en-US" dirty="0">
                <a:latin typeface="Times New Roman" panose="02020603050405020304" pitchFamily="18" charset="0"/>
                <a:cs typeface="Times New Roman" panose="02020603050405020304" pitchFamily="18" charset="0"/>
              </a:rPr>
              <a:t>Dynamically adjust pricing strategies to balance revenue and occupancy rate</a:t>
            </a:r>
          </a:p>
          <a:p>
            <a:pPr marL="285750" indent="-285750" algn="just">
              <a:buFont typeface="Arial" panose="020B0604020202020204" pitchFamily="34" charset="0"/>
              <a:buChar char="•"/>
            </a:pPr>
            <a:r>
              <a:rPr lang="zh-CN" altLang="en-US" dirty="0">
                <a:latin typeface="Times New Roman" panose="02020603050405020304" pitchFamily="18" charset="0"/>
                <a:cs typeface="Times New Roman" panose="02020603050405020304" pitchFamily="18" charset="0"/>
              </a:rPr>
              <a:t>Improve service quality and maintain high response and praise rate</a:t>
            </a:r>
          </a:p>
        </p:txBody>
      </p:sp>
      <p:sp>
        <p:nvSpPr>
          <p:cNvPr id="19" name="文本框 18"/>
          <p:cNvSpPr txBox="1"/>
          <p:nvPr/>
        </p:nvSpPr>
        <p:spPr>
          <a:xfrm>
            <a:off x="6381750" y="4171950"/>
            <a:ext cx="4890770" cy="2306955"/>
          </a:xfrm>
          <a:prstGeom prst="rect">
            <a:avLst/>
          </a:prstGeom>
          <a:noFill/>
        </p:spPr>
        <p:txBody>
          <a:bodyPr wrap="square" rtlCol="0" anchor="t">
            <a:spAutoFit/>
          </a:bodyPr>
          <a:lstStyle/>
          <a:p>
            <a:pPr marL="285750" indent="-285750">
              <a:buFont typeface="Arial" panose="020B0604020202020204" pitchFamily="34" charset="0"/>
              <a:buChar char="•"/>
            </a:pPr>
            <a:r>
              <a:rPr lang="zh-CN" altLang="en-US" dirty="0">
                <a:latin typeface="Times New Roman" panose="02020603050405020304" pitchFamily="18" charset="0"/>
                <a:cs typeface="Times New Roman" panose="02020603050405020304" pitchFamily="18" charset="0"/>
              </a:rPr>
              <a:t>The market is concentrated on professional landlords, and management is more standardized</a:t>
            </a:r>
          </a:p>
          <a:p>
            <a:pPr marL="285750" indent="-285750">
              <a:buFont typeface="Arial" panose="020B0604020202020204" pitchFamily="34" charset="0"/>
              <a:buChar char="•"/>
            </a:pPr>
            <a:r>
              <a:rPr lang="zh-CN" altLang="en-US" dirty="0">
                <a:latin typeface="Times New Roman" panose="02020603050405020304" pitchFamily="18" charset="0"/>
                <a:cs typeface="Times New Roman" panose="02020603050405020304" pitchFamily="18" charset="0"/>
              </a:rPr>
              <a:t>The focus of competition has shifted from price to comprehensive service capabilities</a:t>
            </a:r>
          </a:p>
          <a:p>
            <a:pPr marL="285750" indent="-285750">
              <a:buFont typeface="Arial" panose="020B0604020202020204" pitchFamily="34" charset="0"/>
              <a:buChar char="•"/>
            </a:pPr>
            <a:r>
              <a:rPr lang="zh-CN" altLang="en-US" dirty="0">
                <a:latin typeface="Times New Roman" panose="02020603050405020304" pitchFamily="18" charset="0"/>
                <a:cs typeface="Times New Roman" panose="02020603050405020304" pitchFamily="18" charset="0"/>
              </a:rPr>
              <a:t>Regional characteristic competition has intensified, and differentiated positioning has become more important</a:t>
            </a:r>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E9B8B23-26BD-F932-F596-D2FE562F2A14}"/>
              </a:ext>
            </a:extLst>
          </p:cNvPr>
          <p:cNvSpPr>
            <a:spLocks noGrp="1"/>
          </p:cNvSpPr>
          <p:nvPr>
            <p:ph type="title"/>
          </p:nvPr>
        </p:nvSpPr>
        <p:spPr/>
        <p:txBody>
          <a:bodyPr>
            <a:normAutofit/>
          </a:bodyPr>
          <a:lstStyle/>
          <a:p>
            <a:r>
              <a:rPr kumimoji="1" lang="en-US" altLang="zh-CN" sz="3200" b="1" dirty="0">
                <a:latin typeface="Times New Roman" panose="02020603050405020304" pitchFamily="18" charset="0"/>
                <a:cs typeface="Times New Roman" panose="02020603050405020304" pitchFamily="18" charset="0"/>
              </a:rPr>
              <a:t>References</a:t>
            </a:r>
            <a:endParaRPr kumimoji="1" lang="zh-CN" altLang="en-US" sz="3200" b="1" dirty="0">
              <a:latin typeface="Times New Roman" panose="02020603050405020304" pitchFamily="18" charset="0"/>
              <a:cs typeface="Times New Roman" panose="02020603050405020304" pitchFamily="18" charset="0"/>
            </a:endParaRPr>
          </a:p>
        </p:txBody>
      </p:sp>
      <p:sp>
        <p:nvSpPr>
          <p:cNvPr id="3" name="内容占位符 2">
            <a:extLst>
              <a:ext uri="{FF2B5EF4-FFF2-40B4-BE49-F238E27FC236}">
                <a16:creationId xmlns:a16="http://schemas.microsoft.com/office/drawing/2014/main" id="{032A9D69-23F3-1F58-9B58-B7AB864E654C}"/>
              </a:ext>
            </a:extLst>
          </p:cNvPr>
          <p:cNvSpPr>
            <a:spLocks noGrp="1"/>
          </p:cNvSpPr>
          <p:nvPr>
            <p:ph idx="1"/>
          </p:nvPr>
        </p:nvSpPr>
        <p:spPr/>
        <p:txBody>
          <a:bodyPr>
            <a:normAutofit fontScale="85000" lnSpcReduction="20000"/>
          </a:bodyPr>
          <a:lstStyle/>
          <a:p>
            <a:pPr marL="342900" marR="0" lvl="0" indent="-342900" algn="l">
              <a:spcBef>
                <a:spcPts val="500"/>
              </a:spcBef>
              <a:spcAft>
                <a:spcPts val="500"/>
              </a:spcAft>
              <a:buFont typeface="Times New Roman" panose="02020603050405020304" pitchFamily="18" charset="0"/>
              <a:buAutoNum type="arabicPeriod"/>
            </a:pPr>
            <a:r>
              <a:rPr lang="en-US" altLang="zh-CN" sz="1800" kern="12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Wang, D., &amp; Nicolau, J. (2017). Price determinants of sharing economy based accommodation rental : a study of listings from 33 cities on </a:t>
            </a:r>
            <a:r>
              <a:rPr lang="en-US" altLang="zh-CN" sz="1800" kern="1200" dirty="0" err="1">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Airbnb.com</a:t>
            </a:r>
            <a:r>
              <a:rPr lang="en-US" altLang="zh-CN" sz="1800" kern="12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International Journal of Hospitality Management, 62, 120-131. https://</a:t>
            </a:r>
            <a:r>
              <a:rPr lang="en-US" altLang="zh-CN" sz="1800" kern="1200" dirty="0" err="1">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doi.org</a:t>
            </a:r>
            <a:r>
              <a:rPr lang="en-US" altLang="zh-CN" sz="1800" kern="12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/10.1016/J.IJHM.2016.12.007.</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a:spcBef>
                <a:spcPts val="500"/>
              </a:spcBef>
              <a:spcAft>
                <a:spcPts val="500"/>
              </a:spcAft>
              <a:buFont typeface="Times New Roman" panose="02020603050405020304" pitchFamily="18" charset="0"/>
              <a:buAutoNum type="arabicPeriod"/>
            </a:pPr>
            <a:r>
              <a:rPr lang="en-US" altLang="zh-CN" sz="1800" kern="12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Magno, F., Cassia, F., &amp; </a:t>
            </a:r>
            <a:r>
              <a:rPr lang="en-US" altLang="zh-CN" sz="1800" kern="1200" dirty="0" err="1">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Ugolini</a:t>
            </a:r>
            <a:r>
              <a:rPr lang="en-US" altLang="zh-CN" sz="1800" kern="12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M. (2018). Accommodation prices on Airbnb: effects of host experience and market demand. The TQM Journal. https://</a:t>
            </a:r>
            <a:r>
              <a:rPr lang="en-US" altLang="zh-CN" sz="1800" kern="1200" dirty="0" err="1">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doi.org</a:t>
            </a:r>
            <a:r>
              <a:rPr lang="en-US" altLang="zh-CN" sz="1800" kern="12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/10.1108/TQM-12-2017-0164.</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a:spcBef>
                <a:spcPts val="500"/>
              </a:spcBef>
              <a:spcAft>
                <a:spcPts val="500"/>
              </a:spcAft>
              <a:buFont typeface="Times New Roman" panose="02020603050405020304" pitchFamily="18" charset="0"/>
              <a:buAutoNum type="arabicPeriod"/>
            </a:pPr>
            <a:r>
              <a:rPr lang="en-US" altLang="zh-CN" sz="1800" kern="12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Peng, Y. (2019). Pricing Analytics of the Sharing Economy in Lodging—A Case Study of the Airbnb Online Marketplace. Proceedings of the 2019 International Conference on Economic Management and Cultural Industry (ICEMCI 2019). https://</a:t>
            </a:r>
            <a:r>
              <a:rPr lang="en-US" altLang="zh-CN" sz="1800" kern="1200" dirty="0" err="1">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doi.org</a:t>
            </a:r>
            <a:r>
              <a:rPr lang="en-US" altLang="zh-CN" sz="1800" kern="12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/10.2991/aebmr.k.191217.145.</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a:spcBef>
                <a:spcPts val="500"/>
              </a:spcBef>
              <a:spcAft>
                <a:spcPts val="500"/>
              </a:spcAft>
              <a:buFont typeface="Times New Roman" panose="02020603050405020304" pitchFamily="18" charset="0"/>
              <a:buAutoNum type="arabicPeriod"/>
            </a:pPr>
            <a:r>
              <a:rPr lang="en-US" altLang="zh-CN" sz="1800" kern="12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Ye, P., Qian, J., Chen, J., Wu, C., Zhou, Y., De Mars, S., Yang, F., &amp; Zhang, L. (2018). Customized Regression Model for Airbnb Dynamic Pricing. Proceedings of the 24th ACM SIGKDD International Conference on Knowledge Discovery &amp; Data Mining. https://</a:t>
            </a:r>
            <a:r>
              <a:rPr lang="en-US" altLang="zh-CN" sz="1800" kern="1200" dirty="0" err="1">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doi.org</a:t>
            </a:r>
            <a:r>
              <a:rPr lang="en-US" altLang="zh-CN" sz="1800" kern="12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/10.1145/3219819.3219830.</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algn="just"/>
            <a:endPar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756468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91582ECB-8D59-6DAF-6945-30F1C0D7B2F0}"/>
              </a:ext>
            </a:extLst>
          </p:cNvPr>
          <p:cNvPicPr>
            <a:picLocks noChangeAspect="1"/>
          </p:cNvPicPr>
          <p:nvPr/>
        </p:nvPicPr>
        <p:blipFill>
          <a:blip r:embed="rId2"/>
          <a:srcRect t="23397" b="6291"/>
          <a:stretch/>
        </p:blipFill>
        <p:spPr>
          <a:xfrm>
            <a:off x="20" y="10"/>
            <a:ext cx="12191980" cy="6857990"/>
          </a:xfrm>
          <a:prstGeom prst="rect">
            <a:avLst/>
          </a:prstGeom>
        </p:spPr>
      </p:pic>
      <p:sp>
        <p:nvSpPr>
          <p:cNvPr id="4" name="标题 3">
            <a:extLst>
              <a:ext uri="{FF2B5EF4-FFF2-40B4-BE49-F238E27FC236}">
                <a16:creationId xmlns:a16="http://schemas.microsoft.com/office/drawing/2014/main" id="{45AB0F74-736D-7D68-B8B9-832E2A754C5E}"/>
              </a:ext>
            </a:extLst>
          </p:cNvPr>
          <p:cNvSpPr>
            <a:spLocks noGrp="1"/>
          </p:cNvSpPr>
          <p:nvPr>
            <p:ph type="title"/>
          </p:nvPr>
        </p:nvSpPr>
        <p:spPr>
          <a:xfrm>
            <a:off x="2439424" y="1862356"/>
            <a:ext cx="7564821" cy="1645920"/>
          </a:xfrm>
          <a:solidFill>
            <a:schemeClr val="bg1">
              <a:alpha val="80000"/>
            </a:schemeClr>
          </a:solidFill>
          <a:ln>
            <a:solidFill>
              <a:schemeClr val="tx1"/>
            </a:solidFill>
          </a:ln>
        </p:spPr>
        <p:txBody>
          <a:bodyPr vert="horz" lIns="274320" tIns="182880" rIns="274320" bIns="182880" rtlCol="0" anchor="ctr" anchorCtr="1">
            <a:normAutofit/>
          </a:bodyPr>
          <a:lstStyle/>
          <a:p>
            <a:pPr algn="l"/>
            <a:r>
              <a:rPr lang="en-US" altLang="zh-CN" dirty="0">
                <a:solidFill>
                  <a:schemeClr val="tx1"/>
                </a:solidFill>
              </a:rPr>
              <a:t>THANKS FOR listening</a:t>
            </a:r>
            <a:r>
              <a:rPr lang="zh-CN" altLang="en-US" dirty="0">
                <a:solidFill>
                  <a:schemeClr val="tx1"/>
                </a:solidFill>
              </a:rPr>
              <a:t>！</a:t>
            </a:r>
          </a:p>
        </p:txBody>
      </p:sp>
    </p:spTree>
    <p:extLst>
      <p:ext uri="{BB962C8B-B14F-4D97-AF65-F5344CB8AC3E}">
        <p14:creationId xmlns:p14="http://schemas.microsoft.com/office/powerpoint/2010/main" val="36921296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9" name="文本框 8"/>
          <p:cNvSpPr txBox="1"/>
          <p:nvPr/>
        </p:nvSpPr>
        <p:spPr>
          <a:xfrm>
            <a:off x="804672" y="964692"/>
            <a:ext cx="3066937" cy="1188720"/>
          </a:xfrm>
          <a:prstGeom prst="rect">
            <a:avLst/>
          </a:prstGeom>
        </p:spPr>
        <p:txBody>
          <a:bodyPr vert="horz" lIns="182880" tIns="182880" rIns="182880" bIns="182880" rtlCol="0" anchor="ctr">
            <a:normAutofit/>
          </a:bodyPr>
          <a:lstStyle/>
          <a:p>
            <a:pPr algn="ctr">
              <a:lnSpc>
                <a:spcPct val="90000"/>
              </a:lnSpc>
              <a:spcBef>
                <a:spcPct val="0"/>
              </a:spcBef>
              <a:spcAft>
                <a:spcPts val="600"/>
              </a:spcAft>
            </a:pPr>
            <a:r>
              <a:rPr lang="en-US" altLang="zh-CN" sz="2600" cap="all" spc="200" dirty="0">
                <a:solidFill>
                  <a:schemeClr val="tx1">
                    <a:lumMod val="85000"/>
                    <a:lumOff val="15000"/>
                  </a:schemeClr>
                </a:solidFill>
                <a:latin typeface="+mj-lt"/>
                <a:ea typeface="+mj-ea"/>
                <a:cs typeface="+mj-cs"/>
              </a:rPr>
              <a:t>Airbnb Background</a:t>
            </a:r>
          </a:p>
        </p:txBody>
      </p:sp>
      <p:sp>
        <p:nvSpPr>
          <p:cNvPr id="4" name="文本框 3"/>
          <p:cNvSpPr txBox="1"/>
          <p:nvPr/>
        </p:nvSpPr>
        <p:spPr>
          <a:xfrm>
            <a:off x="889654" y="1997964"/>
            <a:ext cx="3063765" cy="3263206"/>
          </a:xfrm>
          <a:prstGeom prst="rect">
            <a:avLst/>
          </a:prstGeom>
        </p:spPr>
        <p:txBody>
          <a:bodyPr vert="horz" lIns="91440" tIns="45720" rIns="91440" bIns="45720" rtlCol="0">
            <a:noAutofit/>
          </a:bodyPr>
          <a:lstStyle/>
          <a:p>
            <a:pPr indent="-228600">
              <a:lnSpc>
                <a:spcPct val="90000"/>
              </a:lnSpc>
              <a:spcBef>
                <a:spcPts val="1000"/>
              </a:spcBef>
              <a:buClr>
                <a:schemeClr val="accent2"/>
              </a:buClr>
              <a:buFont typeface="Arial" panose="020B0604020202020204" pitchFamily="34" charset="0"/>
              <a:buChar char="•"/>
            </a:pPr>
            <a:r>
              <a:rPr lang="en-US" altLang="zh-CN" sz="1200" dirty="0">
                <a:solidFill>
                  <a:schemeClr val="tx1">
                    <a:lumMod val="85000"/>
                    <a:lumOff val="15000"/>
                  </a:schemeClr>
                </a:solidFill>
                <a:latin typeface="Times New Roman" panose="02020603050405020304" pitchFamily="18" charset="0"/>
                <a:cs typeface="Times New Roman" panose="02020603050405020304" pitchFamily="18" charset="0"/>
              </a:rPr>
              <a:t>Airbnb is a platform business model that makes money by charging guests a service fee of 5% to 15% of the booking fee, while hosts generally receive a commission of 3%. For example, on a $100 nightly booking set by a host, Airbnb may earn up to $15, paid by the host and the guest.</a:t>
            </a:r>
          </a:p>
          <a:p>
            <a:pPr indent="-228600">
              <a:lnSpc>
                <a:spcPct val="90000"/>
              </a:lnSpc>
              <a:spcBef>
                <a:spcPts val="1000"/>
              </a:spcBef>
              <a:buClr>
                <a:schemeClr val="accent2"/>
              </a:buClr>
              <a:buFont typeface="Arial" panose="020B0604020202020204" pitchFamily="34" charset="0"/>
              <a:buChar char="•"/>
            </a:pPr>
            <a:r>
              <a:rPr lang="en-US" altLang="zh-CN" sz="1200" dirty="0">
                <a:solidFill>
                  <a:schemeClr val="tx1">
                    <a:lumMod val="85000"/>
                    <a:lumOff val="15000"/>
                  </a:schemeClr>
                </a:solidFill>
                <a:latin typeface="Times New Roman" panose="02020603050405020304" pitchFamily="18" charset="0"/>
                <a:cs typeface="Times New Roman" panose="02020603050405020304" pitchFamily="18" charset="0"/>
              </a:rPr>
              <a:t>As a peer-to-peer platform, once a transaction between a host and a guest is completed, Airbnb will charge fees to both parties as the main participants. For example, on a $100 nightly booking set by a host, Airbnb may charge $3 as a hosting fee. While it may raise the guest's price to $116 ($16 higher than the price set by the host) to collect $12 in guest fees and taxes on the remaining amount. In 2022, Airbnb generated $39.37 billion in gross booking value from more than 6.32 billion nights of bookings and experiences, with an average revenue of $161 per booking, revenue of $8.4, and an average service fee of 13.3%.</a:t>
            </a:r>
          </a:p>
        </p:txBody>
      </p:sp>
      <p:sp>
        <p:nvSpPr>
          <p:cNvPr id="18" name="Rectangle 13">
            <a:extLst>
              <a:ext uri="{FF2B5EF4-FFF2-40B4-BE49-F238E27FC236}">
                <a16:creationId xmlns:a16="http://schemas.microsoft.com/office/drawing/2014/main" id="{3BBEBD03-E4CE-4B72-8DF2-6E737BDDFB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94182" y="964692"/>
            <a:ext cx="6885432" cy="4936558"/>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5">
            <a:extLst>
              <a:ext uri="{FF2B5EF4-FFF2-40B4-BE49-F238E27FC236}">
                <a16:creationId xmlns:a16="http://schemas.microsoft.com/office/drawing/2014/main" id="{77221359-7E5B-428B-8817-A7C5104279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7802" y="1128683"/>
            <a:ext cx="6558192" cy="460857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图片 1"/>
          <p:cNvPicPr/>
          <p:nvPr/>
        </p:nvPicPr>
        <p:blipFill>
          <a:blip r:embed="rId3"/>
          <a:stretch>
            <a:fillRect/>
          </a:stretch>
        </p:blipFill>
        <p:spPr>
          <a:xfrm>
            <a:off x="5102864" y="1293275"/>
            <a:ext cx="5668068" cy="4279392"/>
          </a:xfrm>
          <a:prstGeom prst="rect">
            <a:avLst/>
          </a:prstGeom>
        </p:spPr>
      </p:pic>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p:nvPr/>
        </p:nvPicPr>
        <p:blipFill>
          <a:blip r:embed="rId3"/>
          <a:stretch>
            <a:fillRect/>
          </a:stretch>
        </p:blipFill>
        <p:spPr>
          <a:xfrm>
            <a:off x="618490" y="714375"/>
            <a:ext cx="5337175" cy="4198620"/>
          </a:xfrm>
          <a:prstGeom prst="rect">
            <a:avLst/>
          </a:prstGeom>
        </p:spPr>
      </p:pic>
      <p:pic>
        <p:nvPicPr>
          <p:cNvPr id="5" name="图片 4"/>
          <p:cNvPicPr/>
          <p:nvPr/>
        </p:nvPicPr>
        <p:blipFill>
          <a:blip r:embed="rId4"/>
          <a:stretch>
            <a:fillRect/>
          </a:stretch>
        </p:blipFill>
        <p:spPr>
          <a:xfrm>
            <a:off x="6362700" y="714375"/>
            <a:ext cx="5298440" cy="4199890"/>
          </a:xfrm>
          <a:prstGeom prst="rect">
            <a:avLst/>
          </a:prstGeom>
        </p:spPr>
      </p:pic>
      <p:sp>
        <p:nvSpPr>
          <p:cNvPr id="6" name="文本框 5"/>
          <p:cNvSpPr txBox="1"/>
          <p:nvPr/>
        </p:nvSpPr>
        <p:spPr>
          <a:xfrm>
            <a:off x="619760" y="5028565"/>
            <a:ext cx="5335905" cy="1753235"/>
          </a:xfrm>
          <a:prstGeom prst="rect">
            <a:avLst/>
          </a:prstGeom>
          <a:noFill/>
        </p:spPr>
        <p:txBody>
          <a:bodyPr wrap="square" rtlCol="0" anchor="t">
            <a:spAutoFit/>
          </a:bodyPr>
          <a:lstStyle/>
          <a:p>
            <a:pPr algn="just"/>
            <a:r>
              <a:rPr lang="en-US" altLang="zh-CN" dirty="0">
                <a:latin typeface="Times New Roman" panose="02020603050405020304" pitchFamily="18" charset="0"/>
                <a:cs typeface="Times New Roman" panose="02020603050405020304" pitchFamily="18" charset="0"/>
              </a:rPr>
              <a:t>Airbnb makes money by charging a commission on every transaction on the platform. In 2022, Airbnb processed more than $6.3 billion in gross booking value, translating into $8.4 billion in revenue. Airbnb also generated $1.9 billion in profit and $3.4 billion in free cash flow in 2022.</a:t>
            </a:r>
            <a:endParaRPr lang="zh-CN" altLang="en-US" dirty="0">
              <a:latin typeface="Times New Roman" panose="02020603050405020304" pitchFamily="18" charset="0"/>
              <a:cs typeface="Times New Roman" panose="02020603050405020304" pitchFamily="18" charset="0"/>
            </a:endParaRPr>
          </a:p>
        </p:txBody>
      </p:sp>
      <p:sp>
        <p:nvSpPr>
          <p:cNvPr id="7" name="文本框 6"/>
          <p:cNvSpPr txBox="1"/>
          <p:nvPr/>
        </p:nvSpPr>
        <p:spPr>
          <a:xfrm>
            <a:off x="6362700" y="5028565"/>
            <a:ext cx="5297805" cy="922020"/>
          </a:xfrm>
          <a:prstGeom prst="rect">
            <a:avLst/>
          </a:prstGeom>
          <a:noFill/>
        </p:spPr>
        <p:txBody>
          <a:bodyPr wrap="square" rtlCol="0" anchor="t">
            <a:spAutoFit/>
          </a:bodyPr>
          <a:lstStyle/>
          <a:p>
            <a:r>
              <a:rPr lang="en-US" altLang="zh-CN" dirty="0">
                <a:latin typeface="Times New Roman" panose="02020603050405020304" pitchFamily="18" charset="0"/>
                <a:cs typeface="Times New Roman" panose="02020603050405020304" pitchFamily="18" charset="0"/>
              </a:rPr>
              <a:t>In 2022, Airbnb had 6.6 million active listings, compared to 6 million in 2021, a 10% increase year over year.</a:t>
            </a:r>
            <a:endParaRPr lang="zh-CN" altLang="en-US" dirty="0">
              <a:latin typeface="Times New Roman" panose="02020603050405020304" pitchFamily="18" charset="0"/>
              <a:cs typeface="Times New Roman" panose="02020603050405020304" pitchFamily="18" charset="0"/>
            </a:endParaRPr>
          </a:p>
        </p:txBody>
      </p:sp>
      <p:sp>
        <p:nvSpPr>
          <p:cNvPr id="9" name="文本框 8"/>
          <p:cNvSpPr txBox="1"/>
          <p:nvPr/>
        </p:nvSpPr>
        <p:spPr>
          <a:xfrm>
            <a:off x="175260" y="128905"/>
            <a:ext cx="2671445" cy="460375"/>
          </a:xfrm>
          <a:prstGeom prst="rect">
            <a:avLst/>
          </a:prstGeom>
          <a:noFill/>
        </p:spPr>
        <p:txBody>
          <a:bodyPr wrap="square" rtlCol="0" anchor="t">
            <a:spAutoFit/>
          </a:bodyPr>
          <a:lstStyle/>
          <a:p>
            <a:r>
              <a:rPr lang="en-US" altLang="zh-CN" sz="2400">
                <a:latin typeface="Times New Roman" panose="02020603050405020304" charset="0"/>
                <a:cs typeface="Times New Roman" panose="02020603050405020304" charset="0"/>
              </a:rPr>
              <a:t>Airbnb Background</a:t>
            </a:r>
          </a:p>
        </p:txBody>
      </p:sp>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11" name="文本框 10"/>
          <p:cNvSpPr txBox="1"/>
          <p:nvPr/>
        </p:nvSpPr>
        <p:spPr>
          <a:xfrm>
            <a:off x="804672" y="964692"/>
            <a:ext cx="3066937" cy="1188720"/>
          </a:xfrm>
          <a:prstGeom prst="rect">
            <a:avLst/>
          </a:prstGeom>
        </p:spPr>
        <p:txBody>
          <a:bodyPr vert="horz" lIns="182880" tIns="182880" rIns="182880" bIns="182880" rtlCol="0" anchor="ctr">
            <a:normAutofit/>
          </a:bodyPr>
          <a:lstStyle/>
          <a:p>
            <a:pPr algn="ctr">
              <a:lnSpc>
                <a:spcPct val="90000"/>
              </a:lnSpc>
              <a:spcBef>
                <a:spcPct val="0"/>
              </a:spcBef>
              <a:spcAft>
                <a:spcPts val="600"/>
              </a:spcAft>
            </a:pPr>
            <a:r>
              <a:rPr lang="en-US" altLang="zh-CN" sz="2000" cap="all" spc="200">
                <a:solidFill>
                  <a:schemeClr val="tx1">
                    <a:lumMod val="85000"/>
                    <a:lumOff val="15000"/>
                  </a:schemeClr>
                </a:solidFill>
                <a:latin typeface="+mj-lt"/>
                <a:ea typeface="+mj-ea"/>
                <a:cs typeface="+mj-cs"/>
              </a:rPr>
              <a:t>Background on Airbnb in Washington</a:t>
            </a:r>
          </a:p>
        </p:txBody>
      </p:sp>
      <p:sp>
        <p:nvSpPr>
          <p:cNvPr id="9" name="文本框 8"/>
          <p:cNvSpPr txBox="1"/>
          <p:nvPr/>
        </p:nvSpPr>
        <p:spPr>
          <a:xfrm>
            <a:off x="803244" y="2053243"/>
            <a:ext cx="3063765" cy="4222865"/>
          </a:xfrm>
          <a:prstGeom prst="rect">
            <a:avLst/>
          </a:prstGeom>
        </p:spPr>
        <p:txBody>
          <a:bodyPr vert="horz" lIns="91440" tIns="45720" rIns="91440" bIns="45720" rtlCol="0">
            <a:noAutofit/>
          </a:bodyPr>
          <a:lstStyle/>
          <a:p>
            <a:pPr indent="-228600">
              <a:lnSpc>
                <a:spcPct val="90000"/>
              </a:lnSpc>
              <a:spcBef>
                <a:spcPts val="1000"/>
              </a:spcBef>
              <a:buClr>
                <a:schemeClr val="accent2"/>
              </a:buClr>
              <a:buFont typeface="Arial" panose="020B0604020202020204" pitchFamily="34" charset="0"/>
              <a:buChar char="•"/>
            </a:pPr>
            <a:r>
              <a:rPr lang="en-US" altLang="zh-CN" sz="1100" dirty="0">
                <a:solidFill>
                  <a:schemeClr val="tx1">
                    <a:lumMod val="85000"/>
                    <a:lumOff val="15000"/>
                  </a:schemeClr>
                </a:solidFill>
                <a:latin typeface="Times New Roman" panose="02020603050405020304" pitchFamily="18" charset="0"/>
                <a:cs typeface="Times New Roman" panose="02020603050405020304" pitchFamily="18" charset="0"/>
              </a:rPr>
              <a:t>Researchers at McGill University found that the majority (51%) of listings in New York City are entire homes or apartments, and that these entire homes (the vast majority of which appear to be illegal under New York State law) account for 75% of the city’s total Airbnb revenue. They also estimated that commercial operators make up 12% of New York City’s landlords but more than a quarter of Airbnb’s revenue. The report concluded that Airbnb rentals have removed between 7,000 and 13,500 units from the city’s long-term rental market over the past three years and raised New York’s median rent by $380.</a:t>
            </a:r>
          </a:p>
          <a:p>
            <a:pPr indent="-228600">
              <a:lnSpc>
                <a:spcPct val="90000"/>
              </a:lnSpc>
              <a:spcBef>
                <a:spcPts val="1000"/>
              </a:spcBef>
              <a:buClr>
                <a:schemeClr val="accent2"/>
              </a:buClr>
              <a:buFont typeface="Arial" panose="020B0604020202020204" pitchFamily="34" charset="0"/>
              <a:buChar char="•"/>
            </a:pPr>
            <a:r>
              <a:rPr lang="en-US" altLang="zh-CN" sz="1100" dirty="0">
                <a:solidFill>
                  <a:schemeClr val="tx1">
                    <a:lumMod val="85000"/>
                    <a:lumOff val="15000"/>
                  </a:schemeClr>
                </a:solidFill>
                <a:latin typeface="Times New Roman" panose="02020603050405020304" pitchFamily="18" charset="0"/>
                <a:cs typeface="Times New Roman" panose="02020603050405020304" pitchFamily="18" charset="0"/>
              </a:rPr>
              <a:t>Short-term rentals are a concern outside of New York: Cities of all sizes are feeling the impact of Airbnb (and smaller competitors like HomeAway) on their housing supply. According to data published by Inside Airbnb, an independent website that collects data on Airbnb listings, in at least four cities, active entire home rentals on Airbnb account for more than 1% of all housing units. Among cities with available data, Washington, D.C., has the second-highest number of Airbnb homes or apartments.</a:t>
            </a:r>
          </a:p>
        </p:txBody>
      </p:sp>
      <p:sp>
        <p:nvSpPr>
          <p:cNvPr id="16" name="Rectangle 15">
            <a:extLst>
              <a:ext uri="{FF2B5EF4-FFF2-40B4-BE49-F238E27FC236}">
                <a16:creationId xmlns:a16="http://schemas.microsoft.com/office/drawing/2014/main" id="{3BBEBD03-E4CE-4B72-8DF2-6E737BDDFB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94182" y="964692"/>
            <a:ext cx="6885432" cy="4936558"/>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77221359-7E5B-428B-8817-A7C5104279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7802" y="1128683"/>
            <a:ext cx="6558192" cy="460857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图片 7" descr="cityCompare31"/>
          <p:cNvPicPr>
            <a:picLocks noChangeAspect="1"/>
          </p:cNvPicPr>
          <p:nvPr/>
        </p:nvPicPr>
        <p:blipFill>
          <a:blip r:embed="rId3"/>
          <a:stretch>
            <a:fillRect/>
          </a:stretch>
        </p:blipFill>
        <p:spPr>
          <a:xfrm>
            <a:off x="5064822" y="1293275"/>
            <a:ext cx="5744152" cy="4279392"/>
          </a:xfrm>
          <a:prstGeom prst="rect">
            <a:avLst/>
          </a:prstGeom>
        </p:spPr>
      </p:pic>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11" name="文本框 10"/>
          <p:cNvSpPr txBox="1"/>
          <p:nvPr/>
        </p:nvSpPr>
        <p:spPr>
          <a:xfrm>
            <a:off x="804672" y="964692"/>
            <a:ext cx="3066937" cy="1188720"/>
          </a:xfrm>
          <a:prstGeom prst="rect">
            <a:avLst/>
          </a:prstGeom>
        </p:spPr>
        <p:txBody>
          <a:bodyPr vert="horz" lIns="182880" tIns="182880" rIns="182880" bIns="182880" rtlCol="0" anchor="ctr">
            <a:normAutofit/>
          </a:bodyPr>
          <a:lstStyle/>
          <a:p>
            <a:pPr algn="ctr">
              <a:lnSpc>
                <a:spcPct val="90000"/>
              </a:lnSpc>
              <a:spcBef>
                <a:spcPct val="0"/>
              </a:spcBef>
              <a:spcAft>
                <a:spcPts val="600"/>
              </a:spcAft>
            </a:pPr>
            <a:r>
              <a:rPr lang="en-US" altLang="zh-CN" sz="2000" cap="all" spc="200">
                <a:solidFill>
                  <a:schemeClr val="tx1">
                    <a:lumMod val="85000"/>
                    <a:lumOff val="15000"/>
                  </a:schemeClr>
                </a:solidFill>
                <a:latin typeface="+mj-lt"/>
                <a:ea typeface="+mj-ea"/>
                <a:cs typeface="+mj-cs"/>
              </a:rPr>
              <a:t>Background on Airbnb in Washington</a:t>
            </a:r>
          </a:p>
        </p:txBody>
      </p:sp>
      <p:sp>
        <p:nvSpPr>
          <p:cNvPr id="3" name="文本框 2"/>
          <p:cNvSpPr txBox="1"/>
          <p:nvPr/>
        </p:nvSpPr>
        <p:spPr>
          <a:xfrm>
            <a:off x="803244" y="2638044"/>
            <a:ext cx="3063765" cy="3263206"/>
          </a:xfrm>
          <a:prstGeom prst="rect">
            <a:avLst/>
          </a:prstGeom>
        </p:spPr>
        <p:txBody>
          <a:bodyPr vert="horz" lIns="91440" tIns="45720" rIns="91440" bIns="45720" rtlCol="0">
            <a:normAutofit/>
          </a:bodyPr>
          <a:lstStyle/>
          <a:p>
            <a:pPr indent="-228600">
              <a:lnSpc>
                <a:spcPct val="90000"/>
              </a:lnSpc>
              <a:spcBef>
                <a:spcPts val="1000"/>
              </a:spcBef>
              <a:buClr>
                <a:schemeClr val="accent2"/>
              </a:buClr>
              <a:buFont typeface="Arial" panose="020B0604020202020204" pitchFamily="34" charset="0"/>
              <a:buChar char="•"/>
            </a:pPr>
            <a:r>
              <a:rPr lang="en-US" altLang="zh-CN" sz="1200" dirty="0">
                <a:solidFill>
                  <a:schemeClr val="tx1">
                    <a:lumMod val="85000"/>
                    <a:lumOff val="15000"/>
                  </a:schemeClr>
                </a:solidFill>
                <a:latin typeface="Times New Roman" panose="02020603050405020304" pitchFamily="18" charset="0"/>
                <a:cs typeface="Times New Roman" panose="02020603050405020304" pitchFamily="18" charset="0"/>
              </a:rPr>
              <a:t>The neighborhood with the highest average price is Foggy Bottom at $382, which is home to DC staples like the Kennedy Center, the Watergate Hotel, and George Washington University. The neighborhood is located on the northwest border of the National Mall, represented by the open white space in the map below. The neighborhood with the lowest average price, at $90, is Deanwood, which is located in the northeast quadrant of Washington, DC, and is one of the easternmost neighborhoods in the map below. Many of the homes in Deanwood were designed and built by famous African-American architects William Sidney Pittman and Howard D. Woodson. This neighborhood is also where Marvin Gaye was born and raised.</a:t>
            </a:r>
          </a:p>
        </p:txBody>
      </p:sp>
      <p:sp>
        <p:nvSpPr>
          <p:cNvPr id="16" name="Rectangle 15">
            <a:extLst>
              <a:ext uri="{FF2B5EF4-FFF2-40B4-BE49-F238E27FC236}">
                <a16:creationId xmlns:a16="http://schemas.microsoft.com/office/drawing/2014/main" id="{3BBEBD03-E4CE-4B72-8DF2-6E737BDDFB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94182" y="964692"/>
            <a:ext cx="6885432" cy="4936558"/>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77221359-7E5B-428B-8817-A7C5104279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7802" y="1128683"/>
            <a:ext cx="6558192" cy="460857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图片 5"/>
          <p:cNvPicPr>
            <a:picLocks noChangeAspect="1"/>
          </p:cNvPicPr>
          <p:nvPr/>
        </p:nvPicPr>
        <p:blipFill>
          <a:blip r:embed="rId3"/>
          <a:stretch>
            <a:fillRect/>
          </a:stretch>
        </p:blipFill>
        <p:spPr>
          <a:xfrm>
            <a:off x="4823366" y="1416959"/>
            <a:ext cx="6227064" cy="4032024"/>
          </a:xfrm>
          <a:prstGeom prst="rect">
            <a:avLst/>
          </a:prstGeom>
        </p:spPr>
      </p:pic>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5405" y="109220"/>
            <a:ext cx="6096000" cy="368300"/>
          </a:xfrm>
          <a:prstGeom prst="rect">
            <a:avLst/>
          </a:prstGeom>
          <a:noFill/>
        </p:spPr>
        <p:txBody>
          <a:bodyPr wrap="square" rtlCol="0" anchor="t">
            <a:spAutoFit/>
          </a:bodyPr>
          <a:lstStyle/>
          <a:p>
            <a:r>
              <a:rPr lang="en-US" altLang="zh-CN" dirty="0">
                <a:latin typeface="Times New Roman" panose="02020603050405020304" pitchFamily="18" charset="0"/>
                <a:cs typeface="Times New Roman" panose="02020603050405020304" pitchFamily="18" charset="0"/>
              </a:rPr>
              <a:t>Airbnb Host Handbook: Key Strategies, Policies, and Tips</a:t>
            </a:r>
            <a:endParaRPr lang="zh-CN" altLang="en-US" dirty="0">
              <a:latin typeface="Times New Roman" panose="02020603050405020304" pitchFamily="18" charset="0"/>
              <a:cs typeface="Times New Roman" panose="02020603050405020304" pitchFamily="18" charset="0"/>
            </a:endParaRPr>
          </a:p>
        </p:txBody>
      </p:sp>
      <p:sp>
        <p:nvSpPr>
          <p:cNvPr id="4" name="文本框 3"/>
          <p:cNvSpPr txBox="1"/>
          <p:nvPr/>
        </p:nvSpPr>
        <p:spPr>
          <a:xfrm>
            <a:off x="192405" y="591820"/>
            <a:ext cx="6096000" cy="2308324"/>
          </a:xfrm>
          <a:prstGeom prst="rect">
            <a:avLst/>
          </a:prstGeom>
          <a:noFill/>
        </p:spPr>
        <p:txBody>
          <a:bodyPr wrap="square" rtlCol="0" anchor="t">
            <a:spAutoFit/>
          </a:bodyPr>
          <a:lstStyle/>
          <a:p>
            <a:r>
              <a:rPr lang="en-US" altLang="zh-CN" dirty="0">
                <a:latin typeface="Times New Roman" panose="02020603050405020304" pitchFamily="18" charset="0"/>
                <a:cs typeface="Times New Roman" panose="02020603050405020304" pitchFamily="18" charset="0"/>
              </a:rPr>
              <a:t>Ensure cleanliness and comfort</a:t>
            </a:r>
          </a:p>
          <a:p>
            <a:r>
              <a:rPr lang="en-US" altLang="zh-CN" dirty="0">
                <a:latin typeface="Times New Roman" panose="02020603050405020304" pitchFamily="18" charset="0"/>
                <a:cs typeface="Times New Roman" panose="02020603050405020304" pitchFamily="18" charset="0"/>
              </a:rPr>
              <a:t>High standards of cleanliness: Make sure your space is thoroughly cleaned before each guest arrives. Consider hiring a professional cleaning service to maintain high standards.</a:t>
            </a:r>
          </a:p>
          <a:p>
            <a:r>
              <a:rPr lang="en-US" altLang="zh-CN" dirty="0">
                <a:latin typeface="Times New Roman" panose="02020603050405020304" pitchFamily="18" charset="0"/>
                <a:cs typeface="Times New Roman" panose="02020603050405020304" pitchFamily="18" charset="0"/>
              </a:rPr>
              <a:t>Comfort amenities: Provide high-quality bedding, towels, and toiletries. Offer entertainment options like books, board games, and streaming services. Make sure your kitchen is stocked with necessary cooking utensils and basic pantry items</a:t>
            </a:r>
            <a:r>
              <a:rPr lang="en-US" altLang="zh-CN" dirty="0"/>
              <a:t>.</a:t>
            </a:r>
            <a:endParaRPr lang="zh-CN" altLang="en-US" dirty="0"/>
          </a:p>
        </p:txBody>
      </p:sp>
      <p:sp>
        <p:nvSpPr>
          <p:cNvPr id="5" name="文本框 4"/>
          <p:cNvSpPr txBox="1"/>
          <p:nvPr/>
        </p:nvSpPr>
        <p:spPr>
          <a:xfrm>
            <a:off x="6096000" y="591820"/>
            <a:ext cx="6179820" cy="5631180"/>
          </a:xfrm>
          <a:prstGeom prst="rect">
            <a:avLst/>
          </a:prstGeom>
          <a:noFill/>
        </p:spPr>
        <p:txBody>
          <a:bodyPr wrap="square" rtlCol="0" anchor="t">
            <a:spAutoFit/>
          </a:bodyPr>
          <a:lstStyle/>
          <a:p>
            <a:r>
              <a:rPr lang="en-US" altLang="zh-CN" dirty="0">
                <a:latin typeface="Times New Roman" panose="02020603050405020304" pitchFamily="18" charset="0"/>
                <a:cs typeface="Times New Roman" panose="02020603050405020304" pitchFamily="18" charset="0"/>
              </a:rPr>
              <a:t>Leverage reviews and feedback</a:t>
            </a:r>
          </a:p>
          <a:p>
            <a:r>
              <a:rPr lang="en-US" altLang="zh-CN" dirty="0">
                <a:latin typeface="Times New Roman" panose="02020603050405020304" pitchFamily="18" charset="0"/>
                <a:cs typeface="Times New Roman" panose="02020603050405020304" pitchFamily="18" charset="0"/>
              </a:rPr>
              <a:t>Reviews are a powerful tool for increasing the visibility and trustworthiness of your Airbnb listing. Not only do positive reviews attract more guests, they also improve your ranking in Airbnb search results. This section will guide you on how to encourage reviews and respond to feedback effectively to improve your listing’s performance.</a:t>
            </a:r>
          </a:p>
          <a:p>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Encourage reviews: Politely ask guests to leave a review after their stay. Positive reviews can significantly increase your listing’s visibility and appeal to potential guests.</a:t>
            </a:r>
          </a:p>
          <a:p>
            <a:r>
              <a:rPr lang="en-US" altLang="zh-CN" dirty="0">
                <a:latin typeface="Times New Roman" panose="02020603050405020304" pitchFamily="18" charset="0"/>
                <a:cs typeface="Times New Roman" panose="02020603050405020304" pitchFamily="18" charset="0"/>
              </a:rPr>
              <a:t>Listings with more than 50 reviews are booked 20% more frequently than listings with fewer reviews (Source: Airbnb).</a:t>
            </a:r>
          </a:p>
          <a:p>
            <a:r>
              <a:rPr lang="en-US" altLang="zh-CN" dirty="0">
                <a:latin typeface="Times New Roman" panose="02020603050405020304" pitchFamily="18" charset="0"/>
                <a:cs typeface="Times New Roman" panose="02020603050405020304" pitchFamily="18" charset="0"/>
              </a:rPr>
              <a:t>Reply to feedback: Reply to all comments, both positive and negative. Thank guests for their positive reviews and address any concerns raised in negative reviews.</a:t>
            </a:r>
          </a:p>
          <a:p>
            <a:r>
              <a:rPr lang="en-US" altLang="zh-CN" dirty="0">
                <a:latin typeface="Times New Roman" panose="02020603050405020304" pitchFamily="18" charset="0"/>
                <a:cs typeface="Times New Roman" panose="02020603050405020304" pitchFamily="18" charset="0"/>
              </a:rPr>
              <a:t>Hosts who consistently respond to reviews see 5% more bookings compared to hosts who don’t respond to reviews (Source: Airbnb).</a:t>
            </a:r>
          </a:p>
          <a:p>
            <a:endParaRPr lang="zh-CN" altLang="en-US" dirty="0"/>
          </a:p>
        </p:txBody>
      </p:sp>
      <p:sp>
        <p:nvSpPr>
          <p:cNvPr id="6" name="文本框 5"/>
          <p:cNvSpPr txBox="1"/>
          <p:nvPr/>
        </p:nvSpPr>
        <p:spPr>
          <a:xfrm>
            <a:off x="192405" y="2851150"/>
            <a:ext cx="5657215" cy="3139321"/>
          </a:xfrm>
          <a:prstGeom prst="rect">
            <a:avLst/>
          </a:prstGeom>
          <a:noFill/>
        </p:spPr>
        <p:txBody>
          <a:bodyPr wrap="square" rtlCol="0" anchor="t">
            <a:spAutoFit/>
          </a:bodyPr>
          <a:lstStyle/>
          <a:p>
            <a:r>
              <a:rPr lang="en-US" altLang="zh-CN" dirty="0">
                <a:latin typeface="Times New Roman" panose="02020603050405020304" pitchFamily="18" charset="0"/>
                <a:cs typeface="Times New Roman" panose="02020603050405020304" pitchFamily="18" charset="0"/>
                <a:sym typeface="+mn-ea"/>
              </a:rPr>
              <a:t>Key benefits of accumulating more reviews</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sym typeface="+mn-ea"/>
              </a:rPr>
              <a:t>Improve visibility and ranking: Reviews can improve your Airbnb ranking, making your listing more visible and attractive to potential guests.</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sym typeface="+mn-ea"/>
              </a:rPr>
              <a:t>Increase booking rates: Listings with more reviews can see up to 15% higher conversion rates from browser to booker.</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sym typeface="+mn-ea"/>
              </a:rPr>
              <a:t>Revenue growth: Each 5-star review can increase your annual gross booking value (GBV) by up to 3.2%.</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sym typeface="+mn-ea"/>
              </a:rPr>
              <a:t>Optimize listing performance: Higher review scores increase your listing’s algorithm score, thereby increasing overall visibility on the platform.</a:t>
            </a:r>
          </a:p>
        </p:txBody>
      </p:sp>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p:nvPr/>
        </p:nvPicPr>
        <p:blipFill>
          <a:blip r:embed="rId3"/>
          <a:stretch>
            <a:fillRect/>
          </a:stretch>
        </p:blipFill>
        <p:spPr>
          <a:xfrm>
            <a:off x="263525" y="1542415"/>
            <a:ext cx="4854575" cy="4143375"/>
          </a:xfrm>
          <a:prstGeom prst="rect">
            <a:avLst/>
          </a:prstGeom>
        </p:spPr>
      </p:pic>
      <p:sp>
        <p:nvSpPr>
          <p:cNvPr id="3" name="文本框 2"/>
          <p:cNvSpPr txBox="1"/>
          <p:nvPr/>
        </p:nvSpPr>
        <p:spPr>
          <a:xfrm>
            <a:off x="1097280" y="589280"/>
            <a:ext cx="9712325" cy="583565"/>
          </a:xfrm>
          <a:prstGeom prst="rect">
            <a:avLst/>
          </a:prstGeom>
        </p:spPr>
        <p:txBody>
          <a:bodyPr wrap="square">
            <a:spAutoFit/>
          </a:bodyPr>
          <a:lstStyle/>
          <a:p>
            <a:pPr marL="0" indent="0" algn="ctr">
              <a:spcBef>
                <a:spcPts val="500"/>
              </a:spcBef>
              <a:spcAft>
                <a:spcPts val="500"/>
              </a:spcAft>
            </a:pPr>
            <a:r>
              <a:rPr lang="en-US" altLang="zh-CN" sz="1600" i="0" dirty="0">
                <a:latin typeface="Times New Roman" panose="02020603050405020304" pitchFamily="18" charset="0"/>
                <a:cs typeface="Times New Roman" panose="02020603050405020304" pitchFamily="18" charset="0"/>
              </a:rPr>
              <a:t>Maximizing Profitability and Occupancy: An Optimal Pricing Strategy for Airbnb Hosts Using Regression Techniques and Natural Language Processing</a:t>
            </a:r>
          </a:p>
        </p:txBody>
      </p:sp>
      <p:sp>
        <p:nvSpPr>
          <p:cNvPr id="9" name="文本框 8"/>
          <p:cNvSpPr txBox="1"/>
          <p:nvPr/>
        </p:nvSpPr>
        <p:spPr>
          <a:xfrm>
            <a:off x="175260" y="128905"/>
            <a:ext cx="3845560" cy="460375"/>
          </a:xfrm>
          <a:prstGeom prst="rect">
            <a:avLst/>
          </a:prstGeom>
          <a:noFill/>
        </p:spPr>
        <p:txBody>
          <a:bodyPr wrap="square" rtlCol="0" anchor="t">
            <a:spAutoFit/>
          </a:bodyPr>
          <a:lstStyle/>
          <a:p>
            <a:r>
              <a:rPr lang="en-US" altLang="zh-CN" sz="2400" dirty="0">
                <a:latin typeface="Times New Roman" panose="02020603050405020304" charset="0"/>
                <a:cs typeface="Times New Roman" panose="02020603050405020304" charset="0"/>
              </a:rPr>
              <a:t>Related research</a:t>
            </a:r>
          </a:p>
        </p:txBody>
      </p:sp>
      <p:sp>
        <p:nvSpPr>
          <p:cNvPr id="4" name="文本框 3"/>
          <p:cNvSpPr txBox="1"/>
          <p:nvPr/>
        </p:nvSpPr>
        <p:spPr>
          <a:xfrm>
            <a:off x="5641975" y="2091055"/>
            <a:ext cx="6096000" cy="2800767"/>
          </a:xfrm>
          <a:prstGeom prst="rect">
            <a:avLst/>
          </a:prstGeom>
          <a:noFill/>
        </p:spPr>
        <p:txBody>
          <a:bodyPr wrap="square" rtlCol="0" anchor="t">
            <a:spAutoFit/>
          </a:bodyPr>
          <a:lstStyle/>
          <a:p>
            <a:pPr algn="just">
              <a:spcBef>
                <a:spcPts val="500"/>
              </a:spcBef>
              <a:spcAft>
                <a:spcPts val="500"/>
              </a:spcAft>
              <a:buClrTx/>
              <a:buSzTx/>
              <a:buFontTx/>
            </a:pPr>
            <a:r>
              <a:rPr lang="en-US" altLang="zh-CN" sz="1600" dirty="0">
                <a:latin typeface="Times New Roman" panose="02020603050405020304" pitchFamily="18" charset="0"/>
                <a:cs typeface="Times New Roman" panose="02020603050405020304" pitchFamily="18" charset="0"/>
              </a:rPr>
              <a:t>Luca Di </a:t>
            </a:r>
            <a:r>
              <a:rPr lang="en-US" altLang="zh-CN" sz="1600" dirty="0" err="1">
                <a:latin typeface="Times New Roman" panose="02020603050405020304" pitchFamily="18" charset="0"/>
                <a:cs typeface="Times New Roman" panose="02020603050405020304" pitchFamily="18" charset="0"/>
              </a:rPr>
              <a:t>Persio</a:t>
            </a:r>
            <a:r>
              <a:rPr lang="en-US" altLang="zh-CN" sz="1600" dirty="0">
                <a:latin typeface="Times New Roman" panose="02020603050405020304" pitchFamily="18" charset="0"/>
                <a:cs typeface="Times New Roman" panose="02020603050405020304" pitchFamily="18" charset="0"/>
              </a:rPr>
              <a:t> et al. introduce a solution that can enhance owners’ understanding of the market value of their properties in urban environments, thereby optimizing the utilization and profitability of their listings. A multifaceted approach and various models, including support vector regression, </a:t>
            </a:r>
            <a:r>
              <a:rPr lang="en-US" altLang="zh-CN" sz="1600" dirty="0" err="1">
                <a:latin typeface="Times New Roman" panose="02020603050405020304" pitchFamily="18" charset="0"/>
                <a:cs typeface="Times New Roman" panose="02020603050405020304" pitchFamily="18" charset="0"/>
              </a:rPr>
              <a:t>XGBoost</a:t>
            </a:r>
            <a:r>
              <a:rPr lang="en-US" altLang="zh-CN" sz="1600" dirty="0">
                <a:latin typeface="Times New Roman" panose="02020603050405020304" pitchFamily="18" charset="0"/>
                <a:cs typeface="Times New Roman" panose="02020603050405020304" pitchFamily="18" charset="0"/>
              </a:rPr>
              <a:t>, and neural networks, are used to analyze the impact of factors such as location, host attributes, and guest reviews on the financial performance of listings. To further refine the predictive model, they integrate natural language processing techniques for in-depth listing review analysis, focusing on term frequency-inverse document frequency (TF-IDF), bag-of-words, and aspect-based sentiment analysis.</a:t>
            </a:r>
          </a:p>
        </p:txBody>
      </p:sp>
    </p:spTree>
    <p:custDataLst>
      <p:tags r:id="rId1"/>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175260" y="128905"/>
            <a:ext cx="3845560" cy="460375"/>
          </a:xfrm>
          <a:prstGeom prst="rect">
            <a:avLst/>
          </a:prstGeom>
          <a:noFill/>
        </p:spPr>
        <p:txBody>
          <a:bodyPr wrap="square" rtlCol="0" anchor="t">
            <a:spAutoFit/>
          </a:bodyPr>
          <a:lstStyle/>
          <a:p>
            <a:r>
              <a:rPr lang="en-US" altLang="zh-CN" sz="2400">
                <a:latin typeface="Times New Roman" panose="02020603050405020304" charset="0"/>
                <a:cs typeface="Times New Roman" panose="02020603050405020304" charset="0"/>
              </a:rPr>
              <a:t>Related research</a:t>
            </a:r>
          </a:p>
        </p:txBody>
      </p:sp>
      <p:pic>
        <p:nvPicPr>
          <p:cNvPr id="5" name="图片 4"/>
          <p:cNvPicPr>
            <a:picLocks noChangeAspect="1"/>
          </p:cNvPicPr>
          <p:nvPr/>
        </p:nvPicPr>
        <p:blipFill>
          <a:blip r:embed="rId4"/>
          <a:stretch>
            <a:fillRect/>
          </a:stretch>
        </p:blipFill>
        <p:spPr>
          <a:xfrm>
            <a:off x="660400" y="667385"/>
            <a:ext cx="10871200" cy="4160520"/>
          </a:xfrm>
          <a:prstGeom prst="rect">
            <a:avLst/>
          </a:prstGeom>
        </p:spPr>
      </p:pic>
      <p:pic>
        <p:nvPicPr>
          <p:cNvPr id="7" name="图片 6"/>
          <p:cNvPicPr>
            <a:picLocks noChangeAspect="1"/>
          </p:cNvPicPr>
          <p:nvPr/>
        </p:nvPicPr>
        <p:blipFill>
          <a:blip r:embed="rId5"/>
          <a:stretch>
            <a:fillRect/>
          </a:stretch>
        </p:blipFill>
        <p:spPr>
          <a:xfrm>
            <a:off x="660400" y="4955540"/>
            <a:ext cx="6774180" cy="1752600"/>
          </a:xfrm>
          <a:prstGeom prst="rect">
            <a:avLst/>
          </a:prstGeom>
        </p:spPr>
      </p:pic>
      <p:sp>
        <p:nvSpPr>
          <p:cNvPr id="10" name="文本框 9"/>
          <p:cNvSpPr txBox="1"/>
          <p:nvPr/>
        </p:nvSpPr>
        <p:spPr>
          <a:xfrm>
            <a:off x="7434580" y="4764347"/>
            <a:ext cx="4096385" cy="1752600"/>
          </a:xfrm>
          <a:prstGeom prst="rect">
            <a:avLst/>
          </a:prstGeom>
          <a:noFill/>
        </p:spPr>
        <p:txBody>
          <a:bodyPr wrap="square" rtlCol="0" anchor="t">
            <a:noAutofit/>
          </a:bodyPr>
          <a:lstStyle/>
          <a:p>
            <a:pPr algn="just"/>
            <a:r>
              <a:rPr lang="en-US" altLang="zh-CN" sz="1400" dirty="0">
                <a:latin typeface="Times New Roman" panose="02020603050405020304" pitchFamily="18" charset="0"/>
                <a:cs typeface="Times New Roman" panose="02020603050405020304" pitchFamily="18" charset="0"/>
              </a:rPr>
              <a:t>The findings suggest that Airbnb hosts can effectively leverage state-of-the-art and traditional machine learning algorithms to better understand buyers’ needs and preferences, more accurately assess the market value of listings, and focus on the importance of dynamic pricing strategies. By adopting this data-driven approach, hosts can strike a balance between maintaining competitive prices and ensuring high occupancy rates.</a:t>
            </a:r>
          </a:p>
        </p:txBody>
      </p:sp>
    </p:spTree>
    <p:custDataLst>
      <p:tags r:id="rId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097280" y="589280"/>
            <a:ext cx="9712325" cy="338554"/>
          </a:xfrm>
          <a:prstGeom prst="rect">
            <a:avLst/>
          </a:prstGeom>
        </p:spPr>
        <p:txBody>
          <a:bodyPr wrap="square">
            <a:spAutoFit/>
          </a:bodyPr>
          <a:lstStyle/>
          <a:p>
            <a:pPr marL="0" indent="0" algn="ctr">
              <a:spcBef>
                <a:spcPts val="500"/>
              </a:spcBef>
              <a:spcAft>
                <a:spcPts val="500"/>
              </a:spcAft>
            </a:pPr>
            <a:r>
              <a:rPr lang="en-US" altLang="zh-CN" sz="1600" i="0" dirty="0">
                <a:latin typeface="Times New Roman" panose="02020603050405020304" pitchFamily="18" charset="0"/>
                <a:cs typeface="Times New Roman" panose="02020603050405020304" pitchFamily="18" charset="0"/>
              </a:rPr>
              <a:t>Location, location and professionalization: a multilevel hedonic analysis of Airbnb listing prices and revenue</a:t>
            </a:r>
          </a:p>
        </p:txBody>
      </p:sp>
      <p:sp>
        <p:nvSpPr>
          <p:cNvPr id="9" name="文本框 8"/>
          <p:cNvSpPr txBox="1"/>
          <p:nvPr/>
        </p:nvSpPr>
        <p:spPr>
          <a:xfrm>
            <a:off x="175260" y="128905"/>
            <a:ext cx="3845560" cy="460375"/>
          </a:xfrm>
          <a:prstGeom prst="rect">
            <a:avLst/>
          </a:prstGeom>
          <a:noFill/>
        </p:spPr>
        <p:txBody>
          <a:bodyPr wrap="square" rtlCol="0" anchor="t">
            <a:spAutoFit/>
          </a:bodyPr>
          <a:lstStyle/>
          <a:p>
            <a:r>
              <a:rPr lang="en-US" altLang="zh-CN" sz="2400">
                <a:latin typeface="Times New Roman" panose="02020603050405020304" charset="0"/>
                <a:cs typeface="Times New Roman" panose="02020603050405020304" charset="0"/>
              </a:rPr>
              <a:t>Related research</a:t>
            </a:r>
          </a:p>
        </p:txBody>
      </p:sp>
      <p:sp>
        <p:nvSpPr>
          <p:cNvPr id="6" name="文本框 5"/>
          <p:cNvSpPr txBox="1"/>
          <p:nvPr/>
        </p:nvSpPr>
        <p:spPr>
          <a:xfrm>
            <a:off x="5579110" y="1447165"/>
            <a:ext cx="6426835" cy="5628005"/>
          </a:xfrm>
          <a:prstGeom prst="rect">
            <a:avLst/>
          </a:prstGeom>
          <a:noFill/>
        </p:spPr>
        <p:txBody>
          <a:bodyPr wrap="square" rtlCol="0" anchor="t">
            <a:noAutofit/>
          </a:bodyPr>
          <a:lstStyle/>
          <a:p>
            <a:pPr algn="just">
              <a:spcBef>
                <a:spcPts val="500"/>
              </a:spcBef>
              <a:spcAft>
                <a:spcPts val="500"/>
              </a:spcAft>
              <a:buClrTx/>
              <a:buSzTx/>
              <a:buFontTx/>
            </a:pPr>
            <a:r>
              <a:rPr lang="en-US" altLang="zh-CN" sz="1400" dirty="0">
                <a:latin typeface="Times New Roman" panose="02020603050405020304" pitchFamily="18" charset="0"/>
                <a:cs typeface="Times New Roman" panose="02020603050405020304" pitchFamily="18" charset="0"/>
              </a:rPr>
              <a:t>Hedonic modeling techniques are frequently used to examine real estate valuations and have recently been applied to short-term rental valuations. Relying on a web-scraped dataset of all Airbnb transactions in New York City (NYC) between August 2014 and September 2016, this paper presents the first hedonic regression model for Airbnb that accounts for neighborhood effects and predicts both the average nightly price, and the revenue generated per listing. The model shows that both location factors (especially accessibility to work) and neighborhood differences have a strong influence on both nightly price and monthly revenue and further reveals how the specialization of the short-term rental market generates more revenue for a narrower group of hosts. Furthermore, the findings suggest that Airbnb hosts earn a substantial premium by converting long-term housing in accessible neighborhoods into de facto Airbnb hotels. This premium incentivizes hosts and landlords with properties in accessible neighborhoods to replace long-term renters with short-term renters, forcing those seeking housing to move to accessible neighborhoods.</a:t>
            </a:r>
          </a:p>
        </p:txBody>
      </p:sp>
      <p:pic>
        <p:nvPicPr>
          <p:cNvPr id="5" name="图片 4"/>
          <p:cNvPicPr>
            <a:picLocks noChangeAspect="1"/>
          </p:cNvPicPr>
          <p:nvPr/>
        </p:nvPicPr>
        <p:blipFill>
          <a:blip r:embed="rId3"/>
          <a:stretch>
            <a:fillRect/>
          </a:stretch>
        </p:blipFill>
        <p:spPr>
          <a:xfrm>
            <a:off x="315595" y="1499870"/>
            <a:ext cx="5127625" cy="4655820"/>
          </a:xfrm>
          <a:prstGeom prst="rect">
            <a:avLst/>
          </a:prstGeom>
        </p:spPr>
      </p:pic>
    </p:spTree>
    <p:custDataLst>
      <p:tags r:id="rId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097280" y="589280"/>
            <a:ext cx="9712325" cy="338554"/>
          </a:xfrm>
          <a:prstGeom prst="rect">
            <a:avLst/>
          </a:prstGeom>
        </p:spPr>
        <p:txBody>
          <a:bodyPr wrap="square">
            <a:spAutoFit/>
          </a:bodyPr>
          <a:lstStyle/>
          <a:p>
            <a:pPr marL="0" indent="0" algn="ctr">
              <a:spcBef>
                <a:spcPts val="500"/>
              </a:spcBef>
              <a:spcAft>
                <a:spcPts val="500"/>
              </a:spcAft>
            </a:pPr>
            <a:r>
              <a:rPr lang="en-US" altLang="zh-CN" sz="1600" i="0" dirty="0">
                <a:latin typeface="Times New Roman" panose="02020603050405020304" pitchFamily="18" charset="0"/>
                <a:cs typeface="Times New Roman" panose="02020603050405020304" pitchFamily="18" charset="0"/>
              </a:rPr>
              <a:t>Location, location and professionalization: a multilevel hedonic analysis of Airbnb listing prices and revenue</a:t>
            </a:r>
          </a:p>
        </p:txBody>
      </p:sp>
      <p:sp>
        <p:nvSpPr>
          <p:cNvPr id="9" name="文本框 8"/>
          <p:cNvSpPr txBox="1"/>
          <p:nvPr/>
        </p:nvSpPr>
        <p:spPr>
          <a:xfrm>
            <a:off x="175260" y="128905"/>
            <a:ext cx="3845560" cy="460375"/>
          </a:xfrm>
          <a:prstGeom prst="rect">
            <a:avLst/>
          </a:prstGeom>
          <a:noFill/>
        </p:spPr>
        <p:txBody>
          <a:bodyPr wrap="square" rtlCol="0" anchor="t">
            <a:spAutoFit/>
          </a:bodyPr>
          <a:lstStyle/>
          <a:p>
            <a:r>
              <a:rPr lang="en-US" altLang="zh-CN" sz="2400">
                <a:latin typeface="Times New Roman" panose="02020603050405020304" charset="0"/>
                <a:cs typeface="Times New Roman" panose="02020603050405020304" charset="0"/>
              </a:rPr>
              <a:t>Related research</a:t>
            </a:r>
          </a:p>
        </p:txBody>
      </p:sp>
      <p:sp>
        <p:nvSpPr>
          <p:cNvPr id="2" name="文本框 1"/>
          <p:cNvSpPr txBox="1"/>
          <p:nvPr/>
        </p:nvSpPr>
        <p:spPr>
          <a:xfrm>
            <a:off x="5674360" y="1632585"/>
            <a:ext cx="6096000" cy="4246245"/>
          </a:xfrm>
          <a:prstGeom prst="rect">
            <a:avLst/>
          </a:prstGeom>
          <a:noFill/>
        </p:spPr>
        <p:txBody>
          <a:bodyPr wrap="square" rtlCol="0" anchor="t">
            <a:spAutoFit/>
          </a:bodyPr>
          <a:lstStyle/>
          <a:p>
            <a:r>
              <a:rPr lang="en-US" altLang="zh-CN" dirty="0">
                <a:latin typeface="Times New Roman" panose="02020603050405020304" pitchFamily="18" charset="0"/>
                <a:cs typeface="Times New Roman" panose="02020603050405020304" pitchFamily="18" charset="0"/>
              </a:rPr>
              <a:t>Experimental data and results:</a:t>
            </a:r>
          </a:p>
          <a:p>
            <a:r>
              <a:rPr lang="en-US" altLang="zh-CN" dirty="0">
                <a:latin typeface="Times New Roman" panose="02020603050405020304" pitchFamily="18" charset="0"/>
                <a:cs typeface="Times New Roman" panose="02020603050405020304" pitchFamily="18" charset="0"/>
              </a:rPr>
              <a:t>Location impact: Research has found that accessibility (such as distance from metro stations and city centers) has a significant impact on listing income. House prices and incomes are generally higher for properties near transportation hubs and business districts.</a:t>
            </a:r>
          </a:p>
          <a:p>
            <a:r>
              <a:rPr lang="en-US" altLang="zh-CN" dirty="0">
                <a:latin typeface="Times New Roman" panose="02020603050405020304" pitchFamily="18" charset="0"/>
                <a:cs typeface="Times New Roman" panose="02020603050405020304" pitchFamily="18" charset="0"/>
              </a:rPr>
              <a:t>Impact of specialization: Landlords with a higher degree of specialization (managing multiple listings) can earn higher incomes. This group of landlords usually convert their listings into functions similar to "short-term hotels" to earn more income.</a:t>
            </a:r>
          </a:p>
          <a:p>
            <a:r>
              <a:rPr lang="en-US" altLang="zh-CN" dirty="0">
                <a:latin typeface="Times New Roman" panose="02020603050405020304" pitchFamily="18" charset="0"/>
                <a:cs typeface="Times New Roman" panose="02020603050405020304" pitchFamily="18" charset="0"/>
              </a:rPr>
              <a:t>Chart: Provides a heat map of the impact on listing income based on community type and location, clearly showing the differences in the impact of different regions and landlord specialization on prices and income.</a:t>
            </a:r>
            <a:endParaRPr lang="zh-CN" altLang="en-US" dirty="0">
              <a:latin typeface="Times New Roman" panose="02020603050405020304" pitchFamily="18" charset="0"/>
              <a:cs typeface="Times New Roman" panose="02020603050405020304" pitchFamily="18" charset="0"/>
            </a:endParaRPr>
          </a:p>
        </p:txBody>
      </p:sp>
      <p:pic>
        <p:nvPicPr>
          <p:cNvPr id="4" name="图片 3"/>
          <p:cNvPicPr>
            <a:picLocks noChangeAspect="1"/>
          </p:cNvPicPr>
          <p:nvPr/>
        </p:nvPicPr>
        <p:blipFill>
          <a:blip r:embed="rId3"/>
          <a:stretch>
            <a:fillRect/>
          </a:stretch>
        </p:blipFill>
        <p:spPr>
          <a:xfrm>
            <a:off x="461645" y="1090930"/>
            <a:ext cx="4818380" cy="5524500"/>
          </a:xfrm>
          <a:prstGeom prst="rect">
            <a:avLst/>
          </a:prstGeom>
        </p:spPr>
      </p:pic>
    </p:spTree>
    <p:custDataLst>
      <p:tags r:id="rId1"/>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097280" y="589280"/>
            <a:ext cx="9712325" cy="337185"/>
          </a:xfrm>
          <a:prstGeom prst="rect">
            <a:avLst/>
          </a:prstGeom>
        </p:spPr>
        <p:txBody>
          <a:bodyPr wrap="square">
            <a:spAutoFit/>
          </a:bodyPr>
          <a:lstStyle/>
          <a:p>
            <a:pPr marL="0" indent="0" algn="ctr">
              <a:spcBef>
                <a:spcPts val="500"/>
              </a:spcBef>
              <a:spcAft>
                <a:spcPts val="500"/>
              </a:spcAft>
            </a:pPr>
            <a:r>
              <a:rPr lang="en-US" altLang="zh-CN" sz="1600" i="0" dirty="0">
                <a:latin typeface="Times New Roman" panose="02020603050405020304" pitchFamily="18" charset="0"/>
                <a:cs typeface="Times New Roman" panose="02020603050405020304" pitchFamily="18" charset="0"/>
              </a:rPr>
              <a:t>Pricing Strategies of Porto’s Airbnb New Listings</a:t>
            </a:r>
          </a:p>
        </p:txBody>
      </p:sp>
      <p:sp>
        <p:nvSpPr>
          <p:cNvPr id="9" name="文本框 8"/>
          <p:cNvSpPr txBox="1"/>
          <p:nvPr/>
        </p:nvSpPr>
        <p:spPr>
          <a:xfrm>
            <a:off x="175260" y="128905"/>
            <a:ext cx="3845560" cy="460375"/>
          </a:xfrm>
          <a:prstGeom prst="rect">
            <a:avLst/>
          </a:prstGeom>
          <a:noFill/>
        </p:spPr>
        <p:txBody>
          <a:bodyPr wrap="square" rtlCol="0" anchor="t">
            <a:spAutoFit/>
          </a:bodyPr>
          <a:lstStyle/>
          <a:p>
            <a:r>
              <a:rPr lang="en-US" altLang="zh-CN" sz="2400">
                <a:latin typeface="Times New Roman" panose="02020603050405020304" charset="0"/>
                <a:cs typeface="Times New Roman" panose="02020603050405020304" charset="0"/>
              </a:rPr>
              <a:t>Related research</a:t>
            </a:r>
          </a:p>
        </p:txBody>
      </p:sp>
      <p:sp>
        <p:nvSpPr>
          <p:cNvPr id="4" name="文本框 3"/>
          <p:cNvSpPr txBox="1"/>
          <p:nvPr/>
        </p:nvSpPr>
        <p:spPr>
          <a:xfrm>
            <a:off x="6559550" y="1154430"/>
            <a:ext cx="5568950" cy="2062103"/>
          </a:xfrm>
          <a:prstGeom prst="rect">
            <a:avLst/>
          </a:prstGeom>
          <a:noFill/>
        </p:spPr>
        <p:txBody>
          <a:bodyPr wrap="square" rtlCol="0" anchor="t">
            <a:spAutoFit/>
          </a:bodyPr>
          <a:lstStyle/>
          <a:p>
            <a:pPr algn="just"/>
            <a:r>
              <a:rPr lang="en-US" altLang="zh-CN" sz="1600" dirty="0">
                <a:latin typeface="Times New Roman" panose="02020603050405020304" pitchFamily="18" charset="0"/>
                <a:cs typeface="Times New Roman" panose="02020603050405020304" pitchFamily="18" charset="0"/>
              </a:rPr>
              <a:t>This study highlights, on the one hand, a great need for Airbnb to encourage dynamic pricing for its new hosts and, on the other hand, the challenges these hosts face when setting prices. An important feature of this paper is that it provides a series of theoretical and methodological implications for the pricing strategies of new Airbnb hosts. Furthermore, the paper highlights the idea that pricing strategies vary by city and country, highlighting the strategies of new Airbnb hosts.</a:t>
            </a:r>
          </a:p>
        </p:txBody>
      </p:sp>
      <p:sp>
        <p:nvSpPr>
          <p:cNvPr id="7" name="文本框 6"/>
          <p:cNvSpPr txBox="1"/>
          <p:nvPr/>
        </p:nvSpPr>
        <p:spPr>
          <a:xfrm>
            <a:off x="6559550" y="3552825"/>
            <a:ext cx="5568950" cy="3148965"/>
          </a:xfrm>
          <a:prstGeom prst="rect">
            <a:avLst/>
          </a:prstGeom>
          <a:noFill/>
        </p:spPr>
        <p:txBody>
          <a:bodyPr wrap="square" rtlCol="0" anchor="t">
            <a:noAutofit/>
          </a:bodyPr>
          <a:lstStyle/>
          <a:p>
            <a:pPr algn="just">
              <a:buClrTx/>
              <a:buSzTx/>
              <a:buFontTx/>
            </a:pPr>
            <a:r>
              <a:rPr lang="en-US" altLang="zh-CN" sz="1400" dirty="0">
                <a:latin typeface="Times New Roman" panose="02020603050405020304" pitchFamily="18" charset="0"/>
                <a:cs typeface="Times New Roman" panose="02020603050405020304" pitchFamily="18" charset="0"/>
              </a:rPr>
              <a:t>The study builds on the hedonic pricing model and uses data on new Airbnb listings in Porto, focusing on the period when the COVID-19 pandemic changed tourism dynamics. The model analyzes the relationship between Airbnb pricing and various factors, such as:</a:t>
            </a:r>
          </a:p>
          <a:p>
            <a:pPr algn="just">
              <a:buClrTx/>
              <a:buSzTx/>
              <a:buFontTx/>
            </a:pPr>
            <a:r>
              <a:rPr lang="en-US" altLang="zh-CN" sz="1400" dirty="0">
                <a:latin typeface="Times New Roman" panose="02020603050405020304" pitchFamily="18" charset="0"/>
                <a:cs typeface="Times New Roman" panose="02020603050405020304" pitchFamily="18" charset="0"/>
              </a:rPr>
              <a:t>Accommodation characteristics: size, type (e.g., private room, entire home), amenities (e.g., air conditioning, parking), and number of guests.</a:t>
            </a:r>
          </a:p>
          <a:p>
            <a:pPr algn="just">
              <a:buClrTx/>
              <a:buSzTx/>
              <a:buFontTx/>
            </a:pPr>
            <a:r>
              <a:rPr lang="en-US" altLang="zh-CN" sz="1400" dirty="0">
                <a:latin typeface="Times New Roman" panose="02020603050405020304" pitchFamily="18" charset="0"/>
                <a:cs typeface="Times New Roman" panose="02020603050405020304" pitchFamily="18" charset="0"/>
              </a:rPr>
              <a:t>Location: proximity to the city center and neighborhood presence.</a:t>
            </a:r>
          </a:p>
          <a:p>
            <a:pPr algn="just">
              <a:buClrTx/>
              <a:buSzTx/>
              <a:buFontTx/>
            </a:pPr>
            <a:r>
              <a:rPr lang="en-US" altLang="zh-CN" sz="1400" dirty="0">
                <a:latin typeface="Times New Roman" panose="02020603050405020304" pitchFamily="18" charset="0"/>
                <a:cs typeface="Times New Roman" panose="02020603050405020304" pitchFamily="18" charset="0"/>
              </a:rPr>
              <a:t>Host characteristics: experience (new vs. experienced host), engagement (</a:t>
            </a:r>
            <a:r>
              <a:rPr lang="en-US" altLang="zh-CN" sz="1400" dirty="0" err="1">
                <a:latin typeface="Times New Roman" panose="02020603050405020304" pitchFamily="18" charset="0"/>
                <a:cs typeface="Times New Roman" panose="02020603050405020304" pitchFamily="18" charset="0"/>
              </a:rPr>
              <a:t>Superhost</a:t>
            </a:r>
            <a:r>
              <a:rPr lang="en-US" altLang="zh-CN" sz="1400" dirty="0">
                <a:latin typeface="Times New Roman" panose="02020603050405020304" pitchFamily="18" charset="0"/>
                <a:cs typeface="Times New Roman" panose="02020603050405020304" pitchFamily="18" charset="0"/>
              </a:rPr>
              <a:t> status, response time, etc.), and behavior.</a:t>
            </a:r>
          </a:p>
          <a:p>
            <a:pPr algn="just">
              <a:buClrTx/>
              <a:buSzTx/>
              <a:buFontTx/>
            </a:pPr>
            <a:r>
              <a:rPr lang="en-US" altLang="zh-CN" sz="1400" dirty="0">
                <a:latin typeface="Times New Roman" panose="02020603050405020304" pitchFamily="18" charset="0"/>
                <a:cs typeface="Times New Roman" panose="02020603050405020304" pitchFamily="18" charset="0"/>
              </a:rPr>
              <a:t>Rental policies: cancellation policy, cleaning fees, and booking flexibility.</a:t>
            </a:r>
          </a:p>
        </p:txBody>
      </p:sp>
      <p:pic>
        <p:nvPicPr>
          <p:cNvPr id="2" name="图片 1"/>
          <p:cNvPicPr>
            <a:picLocks noChangeAspect="1"/>
          </p:cNvPicPr>
          <p:nvPr/>
        </p:nvPicPr>
        <p:blipFill>
          <a:blip r:embed="rId3"/>
          <a:stretch>
            <a:fillRect/>
          </a:stretch>
        </p:blipFill>
        <p:spPr>
          <a:xfrm>
            <a:off x="105410" y="1253490"/>
            <a:ext cx="6363335" cy="2936240"/>
          </a:xfrm>
          <a:prstGeom prst="rect">
            <a:avLst/>
          </a:prstGeom>
        </p:spPr>
      </p:pic>
      <p:pic>
        <p:nvPicPr>
          <p:cNvPr id="8" name="图片 7"/>
          <p:cNvPicPr>
            <a:picLocks noChangeAspect="1"/>
          </p:cNvPicPr>
          <p:nvPr/>
        </p:nvPicPr>
        <p:blipFill>
          <a:blip r:embed="rId4"/>
          <a:stretch>
            <a:fillRect/>
          </a:stretch>
        </p:blipFill>
        <p:spPr>
          <a:xfrm>
            <a:off x="153035" y="4343400"/>
            <a:ext cx="6315710" cy="1699260"/>
          </a:xfrm>
          <a:prstGeom prst="rect">
            <a:avLst/>
          </a:prstGeom>
        </p:spPr>
      </p:pic>
    </p:spTree>
    <p:custDataLst>
      <p:tags r:id="rId1"/>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097280" y="589280"/>
            <a:ext cx="9712325" cy="337185"/>
          </a:xfrm>
          <a:prstGeom prst="rect">
            <a:avLst/>
          </a:prstGeom>
        </p:spPr>
        <p:txBody>
          <a:bodyPr wrap="square">
            <a:spAutoFit/>
          </a:bodyPr>
          <a:lstStyle/>
          <a:p>
            <a:pPr marL="0" indent="0" algn="ctr">
              <a:spcBef>
                <a:spcPts val="500"/>
              </a:spcBef>
              <a:spcAft>
                <a:spcPts val="500"/>
              </a:spcAft>
            </a:pPr>
            <a:r>
              <a:rPr lang="en-US" altLang="zh-CN" sz="1600" i="0" dirty="0">
                <a:latin typeface="Times New Roman" panose="02020603050405020304" pitchFamily="18" charset="0"/>
                <a:cs typeface="Times New Roman" panose="02020603050405020304" pitchFamily="18" charset="0"/>
              </a:rPr>
              <a:t>Pricing Strategies of Porto’s Airbnb New Listings</a:t>
            </a:r>
          </a:p>
        </p:txBody>
      </p:sp>
      <p:sp>
        <p:nvSpPr>
          <p:cNvPr id="9" name="文本框 8"/>
          <p:cNvSpPr txBox="1"/>
          <p:nvPr/>
        </p:nvSpPr>
        <p:spPr>
          <a:xfrm>
            <a:off x="175260" y="128905"/>
            <a:ext cx="3845560" cy="460375"/>
          </a:xfrm>
          <a:prstGeom prst="rect">
            <a:avLst/>
          </a:prstGeom>
          <a:noFill/>
        </p:spPr>
        <p:txBody>
          <a:bodyPr wrap="square" rtlCol="0" anchor="t">
            <a:spAutoFit/>
          </a:bodyPr>
          <a:lstStyle/>
          <a:p>
            <a:r>
              <a:rPr lang="en-US" altLang="zh-CN" sz="2400">
                <a:latin typeface="Times New Roman" panose="02020603050405020304" charset="0"/>
                <a:cs typeface="Times New Roman" panose="02020603050405020304" charset="0"/>
              </a:rPr>
              <a:t>Related research</a:t>
            </a:r>
          </a:p>
        </p:txBody>
      </p:sp>
      <p:pic>
        <p:nvPicPr>
          <p:cNvPr id="10" name="图片 9"/>
          <p:cNvPicPr>
            <a:picLocks noChangeAspect="1"/>
          </p:cNvPicPr>
          <p:nvPr/>
        </p:nvPicPr>
        <p:blipFill>
          <a:blip r:embed="rId3"/>
          <a:stretch>
            <a:fillRect/>
          </a:stretch>
        </p:blipFill>
        <p:spPr>
          <a:xfrm>
            <a:off x="175260" y="1362075"/>
            <a:ext cx="5518150" cy="4133850"/>
          </a:xfrm>
          <a:prstGeom prst="rect">
            <a:avLst/>
          </a:prstGeom>
        </p:spPr>
      </p:pic>
      <p:sp>
        <p:nvSpPr>
          <p:cNvPr id="11" name="文本框 10"/>
          <p:cNvSpPr txBox="1"/>
          <p:nvPr/>
        </p:nvSpPr>
        <p:spPr>
          <a:xfrm>
            <a:off x="6023610" y="1054735"/>
            <a:ext cx="6097270" cy="7424420"/>
          </a:xfrm>
          <a:prstGeom prst="rect">
            <a:avLst/>
          </a:prstGeom>
          <a:noFill/>
        </p:spPr>
        <p:txBody>
          <a:bodyPr wrap="square" rtlCol="0" anchor="t">
            <a:noAutofit/>
          </a:bodyPr>
          <a:lstStyle/>
          <a:p>
            <a:r>
              <a:rPr lang="en-US" altLang="zh-CN" sz="1200" dirty="0">
                <a:latin typeface="Times New Roman" panose="02020603050405020304" pitchFamily="18" charset="0"/>
                <a:cs typeface="Times New Roman" panose="02020603050405020304" pitchFamily="18" charset="0"/>
              </a:rPr>
              <a:t>Key Findings</a:t>
            </a:r>
          </a:p>
          <a:p>
            <a:r>
              <a:rPr lang="en-US" altLang="zh-CN" sz="1200" dirty="0">
                <a:latin typeface="Times New Roman" panose="02020603050405020304" pitchFamily="18" charset="0"/>
                <a:cs typeface="Times New Roman" panose="02020603050405020304" pitchFamily="18" charset="0"/>
              </a:rPr>
              <a:t>The Impact of Property Characteristics:</a:t>
            </a:r>
          </a:p>
          <a:p>
            <a:r>
              <a:rPr lang="en-US" altLang="zh-CN" sz="1200" dirty="0">
                <a:latin typeface="Times New Roman" panose="02020603050405020304" pitchFamily="18" charset="0"/>
                <a:cs typeface="Times New Roman" panose="02020603050405020304" pitchFamily="18" charset="0"/>
              </a:rPr>
              <a:t>Property Size: Larger properties (more bedrooms and bathrooms) tend to command higher prices.</a:t>
            </a:r>
          </a:p>
          <a:p>
            <a:r>
              <a:rPr lang="en-US" altLang="zh-CN" sz="1200" dirty="0">
                <a:latin typeface="Times New Roman" panose="02020603050405020304" pitchFamily="18" charset="0"/>
                <a:cs typeface="Times New Roman" panose="02020603050405020304" pitchFamily="18" charset="0"/>
              </a:rPr>
              <a:t>Amenities: Listings that offer amenities such as air conditioning, parking, or other amenities command higher prices, reflecting the heightened expectations of guests during the pandemic.</a:t>
            </a:r>
          </a:p>
          <a:p>
            <a:r>
              <a:rPr lang="en-US" altLang="zh-CN" sz="1200" dirty="0">
                <a:latin typeface="Times New Roman" panose="02020603050405020304" pitchFamily="18" charset="0"/>
                <a:cs typeface="Times New Roman" panose="02020603050405020304" pitchFamily="18" charset="0"/>
              </a:rPr>
              <a:t>Location:</a:t>
            </a:r>
          </a:p>
          <a:p>
            <a:r>
              <a:rPr lang="en-US" altLang="zh-CN" sz="1200" dirty="0">
                <a:latin typeface="Times New Roman" panose="02020603050405020304" pitchFamily="18" charset="0"/>
                <a:cs typeface="Times New Roman" panose="02020603050405020304" pitchFamily="18" charset="0"/>
              </a:rPr>
              <a:t>Proximity to a city center increases prices, as guests are willing to pay more for a central location due to convenience and safety concerns raised by the pandemic.</a:t>
            </a:r>
          </a:p>
          <a:p>
            <a:r>
              <a:rPr lang="en-US" altLang="zh-CN" sz="1200" dirty="0">
                <a:latin typeface="Times New Roman" panose="02020603050405020304" pitchFamily="18" charset="0"/>
                <a:cs typeface="Times New Roman" panose="02020603050405020304" pitchFamily="18" charset="0"/>
              </a:rPr>
              <a:t>Host Behavior:</a:t>
            </a:r>
          </a:p>
          <a:p>
            <a:r>
              <a:rPr lang="en-US" altLang="zh-CN" sz="1200" dirty="0">
                <a:latin typeface="Times New Roman" panose="02020603050405020304" pitchFamily="18" charset="0"/>
                <a:cs typeface="Times New Roman" panose="02020603050405020304" pitchFamily="18" charset="0"/>
              </a:rPr>
              <a:t>Super host Status: Listings managed by Super hosts typically command higher prices. Super hosts are trustworthy and have established reputations, which have become even more important during the pandemic.</a:t>
            </a:r>
          </a:p>
          <a:p>
            <a:r>
              <a:rPr lang="en-US" altLang="zh-CN" sz="1200" dirty="0">
                <a:latin typeface="Times New Roman" panose="02020603050405020304" pitchFamily="18" charset="0"/>
                <a:cs typeface="Times New Roman" panose="02020603050405020304" pitchFamily="18" charset="0"/>
              </a:rPr>
              <a:t>Response Time and Engagement: Hosts respond faster to inquiries and engage more actively with guests, allowing them to charge higher prices due to their reliability and trustworthiness.</a:t>
            </a:r>
          </a:p>
          <a:p>
            <a:r>
              <a:rPr lang="en-US" altLang="zh-CN" sz="1200" dirty="0">
                <a:latin typeface="Times New Roman" panose="02020603050405020304" pitchFamily="18" charset="0"/>
                <a:cs typeface="Times New Roman" panose="02020603050405020304" pitchFamily="18" charset="0"/>
              </a:rPr>
              <a:t>The Impact of Rental Policies:</a:t>
            </a:r>
          </a:p>
          <a:p>
            <a:r>
              <a:rPr lang="en-US" altLang="zh-CN" sz="1200" dirty="0">
                <a:latin typeface="Times New Roman" panose="02020603050405020304" pitchFamily="18" charset="0"/>
                <a:cs typeface="Times New Roman" panose="02020603050405020304" pitchFamily="18" charset="0"/>
              </a:rPr>
              <a:t>Flexible rental policies, such as free cancellation or instant booking options, also have a positive impact on pricing. However, these policies have become less important during the pandemic as guests are more focused on health and safety.</a:t>
            </a:r>
          </a:p>
          <a:p>
            <a:r>
              <a:rPr lang="en-US" altLang="zh-CN" sz="1200" dirty="0">
                <a:latin typeface="Times New Roman" panose="02020603050405020304" pitchFamily="18" charset="0"/>
                <a:cs typeface="Times New Roman" panose="02020603050405020304" pitchFamily="18" charset="0"/>
              </a:rPr>
              <a:t>Impact of the pandemic:</a:t>
            </a:r>
          </a:p>
          <a:p>
            <a:r>
              <a:rPr lang="en-US" altLang="zh-CN" sz="1200" dirty="0">
                <a:latin typeface="Times New Roman" panose="02020603050405020304" pitchFamily="18" charset="0"/>
                <a:cs typeface="Times New Roman" panose="02020603050405020304" pitchFamily="18" charset="0"/>
              </a:rPr>
              <a:t>Safety concerns: During the pandemic, safety became a major factor in guest decision-making, overshadowing some traditional considerations such as location or amenities. As a result, properties that offer cleanliness and safety guarantees command higher prices.</a:t>
            </a:r>
          </a:p>
          <a:p>
            <a:r>
              <a:rPr lang="en-US" altLang="zh-CN" sz="1200" dirty="0">
                <a:latin typeface="Times New Roman" panose="02020603050405020304" pitchFamily="18" charset="0"/>
                <a:cs typeface="Times New Roman" panose="02020603050405020304" pitchFamily="18" charset="0"/>
              </a:rPr>
              <a:t>Performance indicators:</a:t>
            </a:r>
          </a:p>
          <a:p>
            <a:r>
              <a:rPr lang="en-US" altLang="zh-CN" sz="1200" dirty="0">
                <a:latin typeface="Times New Roman" panose="02020603050405020304" pitchFamily="18" charset="0"/>
                <a:cs typeface="Times New Roman" panose="02020603050405020304" pitchFamily="18" charset="0"/>
              </a:rPr>
              <a:t>Listings with higher occupancy rates, more reviews, and better ratings are associated with higher prices, demonstrating the importance of reputation in influencing price decisions.</a:t>
            </a:r>
          </a:p>
        </p:txBody>
      </p:sp>
    </p:spTree>
    <p:custDataLst>
      <p:tags r:id="rId1"/>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0A0D33E-AC2C-530B-E560-A275A6A57244}"/>
              </a:ext>
            </a:extLst>
          </p:cNvPr>
          <p:cNvSpPr>
            <a:spLocks noGrp="1"/>
          </p:cNvSpPr>
          <p:nvPr>
            <p:ph type="title"/>
          </p:nvPr>
        </p:nvSpPr>
        <p:spPr/>
        <p:txBody>
          <a:bodyPr>
            <a:normAutofit/>
          </a:bodyPr>
          <a:lstStyle/>
          <a:p>
            <a:r>
              <a:rPr lang="en-US" altLang="zh-CN" sz="3200" b="1" dirty="0">
                <a:latin typeface="Times New Roman" panose="02020603050405020304" pitchFamily="18" charset="0"/>
                <a:cs typeface="Times New Roman" panose="02020603050405020304" pitchFamily="18" charset="0"/>
              </a:rPr>
              <a:t>References</a:t>
            </a:r>
            <a:endParaRPr lang="zh-CN" altLang="en-US" sz="3200" b="1" dirty="0">
              <a:latin typeface="Times New Roman" panose="02020603050405020304" pitchFamily="18" charset="0"/>
              <a:cs typeface="Times New Roman" panose="02020603050405020304" pitchFamily="18" charset="0"/>
            </a:endParaRPr>
          </a:p>
        </p:txBody>
      </p:sp>
      <p:sp>
        <p:nvSpPr>
          <p:cNvPr id="3" name="内容占位符 2">
            <a:extLst>
              <a:ext uri="{FF2B5EF4-FFF2-40B4-BE49-F238E27FC236}">
                <a16:creationId xmlns:a16="http://schemas.microsoft.com/office/drawing/2014/main" id="{64AFAF1A-113A-557B-2E31-6259036D1CBC}"/>
              </a:ext>
            </a:extLst>
          </p:cNvPr>
          <p:cNvSpPr>
            <a:spLocks noGrp="1"/>
          </p:cNvSpPr>
          <p:nvPr>
            <p:ph idx="1"/>
          </p:nvPr>
        </p:nvSpPr>
        <p:spPr>
          <a:xfrm>
            <a:off x="2231136" y="2638044"/>
            <a:ext cx="7729728" cy="3606237"/>
          </a:xfrm>
        </p:spPr>
        <p:txBody>
          <a:bodyPr>
            <a:normAutofit fontScale="85000" lnSpcReduction="10000"/>
          </a:bodyPr>
          <a:lstStyle/>
          <a:p>
            <a:pPr marL="342900" marR="0" lvl="0" indent="-342900" algn="l">
              <a:spcBef>
                <a:spcPts val="500"/>
              </a:spcBef>
              <a:spcAft>
                <a:spcPts val="500"/>
              </a:spcAft>
              <a:buClrTx/>
              <a:buSzTx/>
              <a:buFont typeface="Times New Roman" panose="02020603050405020304" charset="0"/>
              <a:buAutoNum type="arabicPeriod"/>
            </a:pPr>
            <a:r>
              <a:rPr lang="en-US" altLang="zh-CN" dirty="0" err="1">
                <a:solidFill>
                  <a:srgbClr val="000000"/>
                </a:solidFill>
                <a:effectLst/>
                <a:latin typeface="Times New Roman" panose="02020603050405020304" pitchFamily="18" charset="0"/>
                <a:ea typeface="微软雅黑" panose="020B0503020204020204" charset="-122"/>
                <a:cs typeface="Times New Roman" panose="02020603050405020304" pitchFamily="18" charset="0"/>
              </a:rPr>
              <a:t>Deboosere</a:t>
            </a:r>
            <a:r>
              <a:rPr lang="en-US" altLang="zh-CN" dirty="0">
                <a:solidFill>
                  <a:srgbClr val="000000"/>
                </a:solidFill>
                <a:effectLst/>
                <a:latin typeface="Times New Roman" panose="02020603050405020304" pitchFamily="18" charset="0"/>
                <a:ea typeface="微软雅黑" panose="020B0503020204020204" charset="-122"/>
                <a:cs typeface="Times New Roman" panose="02020603050405020304" pitchFamily="18" charset="0"/>
              </a:rPr>
              <a:t>, R., Kerrigan, D., Wachsmuth, D., &amp; El-</a:t>
            </a:r>
            <a:r>
              <a:rPr lang="en-US" altLang="zh-CN" dirty="0" err="1">
                <a:solidFill>
                  <a:srgbClr val="000000"/>
                </a:solidFill>
                <a:effectLst/>
                <a:latin typeface="Times New Roman" panose="02020603050405020304" pitchFamily="18" charset="0"/>
                <a:ea typeface="微软雅黑" panose="020B0503020204020204" charset="-122"/>
                <a:cs typeface="Times New Roman" panose="02020603050405020304" pitchFamily="18" charset="0"/>
              </a:rPr>
              <a:t>Geneidy</a:t>
            </a:r>
            <a:r>
              <a:rPr lang="en-US" altLang="zh-CN" dirty="0">
                <a:solidFill>
                  <a:srgbClr val="000000"/>
                </a:solidFill>
                <a:effectLst/>
                <a:latin typeface="Times New Roman" panose="02020603050405020304" pitchFamily="18" charset="0"/>
                <a:ea typeface="微软雅黑" panose="020B0503020204020204" charset="-122"/>
                <a:cs typeface="Times New Roman" panose="02020603050405020304" pitchFamily="18" charset="0"/>
              </a:rPr>
              <a:t>, A. (2019). Location, location and professionalization: a multilevel hedonic analysis of Airbnb listing prices and revenue. Regional Studies, Regional Science, 6, 143 - 156. https://</a:t>
            </a:r>
            <a:r>
              <a:rPr lang="en-US" altLang="zh-CN" dirty="0" err="1">
                <a:solidFill>
                  <a:srgbClr val="000000"/>
                </a:solidFill>
                <a:effectLst/>
                <a:latin typeface="Times New Roman" panose="02020603050405020304" pitchFamily="18" charset="0"/>
                <a:ea typeface="微软雅黑" panose="020B0503020204020204" charset="-122"/>
                <a:cs typeface="Times New Roman" panose="02020603050405020304" pitchFamily="18" charset="0"/>
              </a:rPr>
              <a:t>doi.org</a:t>
            </a:r>
            <a:r>
              <a:rPr lang="en-US" altLang="zh-CN" dirty="0">
                <a:solidFill>
                  <a:srgbClr val="000000"/>
                </a:solidFill>
                <a:effectLst/>
                <a:latin typeface="Times New Roman" panose="02020603050405020304" pitchFamily="18" charset="0"/>
                <a:ea typeface="微软雅黑" panose="020B0503020204020204" charset="-122"/>
                <a:cs typeface="Times New Roman" panose="02020603050405020304" pitchFamily="18" charset="0"/>
              </a:rPr>
              <a:t>/10.1080/21681376.2019.1592699.</a:t>
            </a:r>
          </a:p>
          <a:p>
            <a:pPr marL="342900" marR="0" lvl="0" indent="-342900" algn="l">
              <a:spcBef>
                <a:spcPts val="500"/>
              </a:spcBef>
              <a:spcAft>
                <a:spcPts val="500"/>
              </a:spcAft>
              <a:buClrTx/>
              <a:buSzTx/>
              <a:buFont typeface="Times New Roman" panose="02020603050405020304" charset="0"/>
              <a:buAutoNum type="arabicPeriod"/>
            </a:pPr>
            <a:r>
              <a:rPr lang="en-US" altLang="zh-CN" dirty="0">
                <a:solidFill>
                  <a:srgbClr val="000000"/>
                </a:solidFill>
                <a:effectLst/>
                <a:latin typeface="Times New Roman" panose="02020603050405020304" pitchFamily="18" charset="0"/>
                <a:ea typeface="微软雅黑" panose="020B0503020204020204" charset="-122"/>
                <a:cs typeface="Times New Roman" panose="02020603050405020304" pitchFamily="18" charset="0"/>
              </a:rPr>
              <a:t>Di </a:t>
            </a:r>
            <a:r>
              <a:rPr lang="en-US" altLang="zh-CN" dirty="0" err="1">
                <a:solidFill>
                  <a:srgbClr val="000000"/>
                </a:solidFill>
                <a:effectLst/>
                <a:latin typeface="Times New Roman" panose="02020603050405020304" pitchFamily="18" charset="0"/>
                <a:ea typeface="微软雅黑" panose="020B0503020204020204" charset="-122"/>
                <a:cs typeface="Times New Roman" panose="02020603050405020304" pitchFamily="18" charset="0"/>
              </a:rPr>
              <a:t>Persio</a:t>
            </a:r>
            <a:r>
              <a:rPr lang="en-US" altLang="zh-CN" dirty="0">
                <a:solidFill>
                  <a:srgbClr val="000000"/>
                </a:solidFill>
                <a:effectLst/>
                <a:latin typeface="Times New Roman" panose="02020603050405020304" pitchFamily="18" charset="0"/>
                <a:ea typeface="微软雅黑" panose="020B0503020204020204" charset="-122"/>
                <a:cs typeface="Times New Roman" panose="02020603050405020304" pitchFamily="18" charset="0"/>
              </a:rPr>
              <a:t>, L., &amp; </a:t>
            </a:r>
            <a:r>
              <a:rPr lang="en-US" altLang="zh-CN" dirty="0" err="1">
                <a:solidFill>
                  <a:srgbClr val="000000"/>
                </a:solidFill>
                <a:effectLst/>
                <a:latin typeface="Times New Roman" panose="02020603050405020304" pitchFamily="18" charset="0"/>
                <a:ea typeface="微软雅黑" panose="020B0503020204020204" charset="-122"/>
                <a:cs typeface="Times New Roman" panose="02020603050405020304" pitchFamily="18" charset="0"/>
              </a:rPr>
              <a:t>Lalmi</a:t>
            </a:r>
            <a:r>
              <a:rPr lang="en-US" altLang="zh-CN" dirty="0">
                <a:solidFill>
                  <a:srgbClr val="000000"/>
                </a:solidFill>
                <a:effectLst/>
                <a:latin typeface="Times New Roman" panose="02020603050405020304" pitchFamily="18" charset="0"/>
                <a:ea typeface="微软雅黑" panose="020B0503020204020204" charset="-122"/>
                <a:cs typeface="Times New Roman" panose="02020603050405020304" pitchFamily="18" charset="0"/>
              </a:rPr>
              <a:t>, E. (2024). Maximizing Profitability and Occupancy: An Optimal Pricing Strategy for Airbnb Hosts Using Regression Techniques and Natural Language Processing. Journal of Risk and Financial Management. https://</a:t>
            </a:r>
            <a:r>
              <a:rPr lang="en-US" altLang="zh-CN" dirty="0" err="1">
                <a:solidFill>
                  <a:srgbClr val="000000"/>
                </a:solidFill>
                <a:effectLst/>
                <a:latin typeface="Times New Roman" panose="02020603050405020304" pitchFamily="18" charset="0"/>
                <a:ea typeface="微软雅黑" panose="020B0503020204020204" charset="-122"/>
                <a:cs typeface="Times New Roman" panose="02020603050405020304" pitchFamily="18" charset="0"/>
              </a:rPr>
              <a:t>doi.org</a:t>
            </a:r>
            <a:r>
              <a:rPr lang="en-US" altLang="zh-CN" dirty="0">
                <a:solidFill>
                  <a:srgbClr val="000000"/>
                </a:solidFill>
                <a:effectLst/>
                <a:latin typeface="Times New Roman" panose="02020603050405020304" pitchFamily="18" charset="0"/>
                <a:ea typeface="微软雅黑" panose="020B0503020204020204" charset="-122"/>
                <a:cs typeface="Times New Roman" panose="02020603050405020304" pitchFamily="18" charset="0"/>
              </a:rPr>
              <a:t>/10.3390/jrfm17090414.</a:t>
            </a:r>
          </a:p>
          <a:p>
            <a:pPr marL="342900" marR="0" lvl="0" indent="-342900" algn="l">
              <a:spcBef>
                <a:spcPts val="500"/>
              </a:spcBef>
              <a:spcAft>
                <a:spcPts val="500"/>
              </a:spcAft>
              <a:buClrTx/>
              <a:buSzTx/>
              <a:buFont typeface="Times New Roman" panose="02020603050405020304" charset="0"/>
              <a:buAutoNum type="arabicPeriod"/>
            </a:pPr>
            <a:r>
              <a:rPr lang="en-US" altLang="zh-CN" dirty="0">
                <a:solidFill>
                  <a:srgbClr val="000000"/>
                </a:solidFill>
                <a:effectLst/>
                <a:latin typeface="Times New Roman" panose="02020603050405020304" pitchFamily="18" charset="0"/>
                <a:ea typeface="微软雅黑" panose="020B0503020204020204" charset="-122"/>
                <a:cs typeface="Times New Roman" panose="02020603050405020304" pitchFamily="18" charset="0"/>
              </a:rPr>
              <a:t>Bode, O., </a:t>
            </a:r>
            <a:r>
              <a:rPr lang="en-US" altLang="zh-CN" dirty="0" err="1">
                <a:solidFill>
                  <a:srgbClr val="000000"/>
                </a:solidFill>
                <a:effectLst/>
                <a:latin typeface="Times New Roman" panose="02020603050405020304" pitchFamily="18" charset="0"/>
                <a:ea typeface="微软雅黑" panose="020B0503020204020204" charset="-122"/>
                <a:cs typeface="Times New Roman" panose="02020603050405020304" pitchFamily="18" charset="0"/>
              </a:rPr>
              <a:t>Toader</a:t>
            </a:r>
            <a:r>
              <a:rPr lang="en-US" altLang="zh-CN" dirty="0">
                <a:solidFill>
                  <a:srgbClr val="000000"/>
                </a:solidFill>
                <a:effectLst/>
                <a:latin typeface="Times New Roman" panose="02020603050405020304" pitchFamily="18" charset="0"/>
                <a:ea typeface="微软雅黑" panose="020B0503020204020204" charset="-122"/>
                <a:cs typeface="Times New Roman" panose="02020603050405020304" pitchFamily="18" charset="0"/>
              </a:rPr>
              <a:t>, V., &amp; Rus, R. (2022). Pricing Strategies of Porto’s Airbnb New Listings. International Conference on Tourism Research. https://</a:t>
            </a:r>
            <a:r>
              <a:rPr lang="en-US" altLang="zh-CN" dirty="0" err="1">
                <a:solidFill>
                  <a:srgbClr val="000000"/>
                </a:solidFill>
                <a:effectLst/>
                <a:latin typeface="Times New Roman" panose="02020603050405020304" pitchFamily="18" charset="0"/>
                <a:ea typeface="微软雅黑" panose="020B0503020204020204" charset="-122"/>
                <a:cs typeface="Times New Roman" panose="02020603050405020304" pitchFamily="18" charset="0"/>
              </a:rPr>
              <a:t>doi.org</a:t>
            </a:r>
            <a:r>
              <a:rPr lang="en-US" altLang="zh-CN" dirty="0">
                <a:solidFill>
                  <a:srgbClr val="000000"/>
                </a:solidFill>
                <a:effectLst/>
                <a:latin typeface="Times New Roman" panose="02020603050405020304" pitchFamily="18" charset="0"/>
                <a:ea typeface="微软雅黑" panose="020B0503020204020204" charset="-122"/>
                <a:cs typeface="Times New Roman" panose="02020603050405020304" pitchFamily="18" charset="0"/>
              </a:rPr>
              <a:t>/10.34190/ictr.15.1.249.</a:t>
            </a:r>
          </a:p>
          <a:p>
            <a:pPr marL="342900" marR="0" lvl="0" indent="-342900" algn="l">
              <a:spcBef>
                <a:spcPts val="500"/>
              </a:spcBef>
              <a:spcAft>
                <a:spcPts val="500"/>
              </a:spcAft>
              <a:buClrTx/>
              <a:buSzTx/>
              <a:buFont typeface="Times New Roman" panose="02020603050405020304" charset="0"/>
              <a:buAutoNum type="arabicPeriod"/>
            </a:pPr>
            <a:r>
              <a:rPr lang="en-US" altLang="zh-CN" dirty="0">
                <a:solidFill>
                  <a:srgbClr val="000000"/>
                </a:solidFill>
                <a:effectLst/>
                <a:latin typeface="Times New Roman" panose="02020603050405020304" pitchFamily="18" charset="0"/>
                <a:ea typeface="微软雅黑" panose="020B0503020204020204" charset="-122"/>
                <a:cs typeface="Times New Roman" panose="02020603050405020304" pitchFamily="18" charset="0"/>
              </a:rPr>
              <a:t>DC Policy Center. (n.d.). The knowns and unknowns of Airbnb in D.C. DC Policy Center. Retrieved from https://</a:t>
            </a:r>
            <a:r>
              <a:rPr lang="en-US" altLang="zh-CN" dirty="0" err="1">
                <a:solidFill>
                  <a:srgbClr val="000000"/>
                </a:solidFill>
                <a:effectLst/>
                <a:latin typeface="Times New Roman" panose="02020603050405020304" pitchFamily="18" charset="0"/>
                <a:ea typeface="微软雅黑" panose="020B0503020204020204" charset="-122"/>
                <a:cs typeface="Times New Roman" panose="02020603050405020304" pitchFamily="18" charset="0"/>
              </a:rPr>
              <a:t>www.dcpolicycenter.org</a:t>
            </a:r>
            <a:r>
              <a:rPr lang="en-US" altLang="zh-CN" dirty="0">
                <a:solidFill>
                  <a:srgbClr val="000000"/>
                </a:solidFill>
                <a:effectLst/>
                <a:latin typeface="Times New Roman" panose="02020603050405020304" pitchFamily="18" charset="0"/>
                <a:ea typeface="微软雅黑" panose="020B0503020204020204" charset="-122"/>
                <a:cs typeface="Times New Roman" panose="02020603050405020304" pitchFamily="18" charset="0"/>
              </a:rPr>
              <a:t>/publications/the-knowns-and-unknowns-of-</a:t>
            </a:r>
            <a:r>
              <a:rPr lang="en-US" altLang="zh-CN" dirty="0" err="1">
                <a:solidFill>
                  <a:srgbClr val="000000"/>
                </a:solidFill>
                <a:effectLst/>
                <a:latin typeface="Times New Roman" panose="02020603050405020304" pitchFamily="18" charset="0"/>
                <a:ea typeface="微软雅黑" panose="020B0503020204020204" charset="-122"/>
                <a:cs typeface="Times New Roman" panose="02020603050405020304" pitchFamily="18" charset="0"/>
              </a:rPr>
              <a:t>airbnb</a:t>
            </a:r>
            <a:r>
              <a:rPr lang="en-US" altLang="zh-CN" dirty="0">
                <a:solidFill>
                  <a:srgbClr val="000000"/>
                </a:solidFill>
                <a:effectLst/>
                <a:latin typeface="Times New Roman" panose="02020603050405020304" pitchFamily="18" charset="0"/>
                <a:ea typeface="微软雅黑" panose="020B0503020204020204" charset="-122"/>
                <a:cs typeface="Times New Roman" panose="02020603050405020304" pitchFamily="18" charset="0"/>
              </a:rPr>
              <a:t>-in-d-c/</a:t>
            </a:r>
          </a:p>
          <a:p>
            <a:pPr marL="342900" marR="0" lvl="0" indent="-342900" algn="l">
              <a:spcBef>
                <a:spcPts val="500"/>
              </a:spcBef>
              <a:spcAft>
                <a:spcPts val="500"/>
              </a:spcAft>
              <a:buClrTx/>
              <a:buSzTx/>
              <a:buFont typeface="Times New Roman" panose="02020603050405020304" charset="0"/>
              <a:buAutoNum type="arabicPeriod"/>
            </a:pPr>
            <a:r>
              <a:rPr lang="en-US" altLang="zh-CN" dirty="0" err="1">
                <a:solidFill>
                  <a:srgbClr val="000000"/>
                </a:solidFill>
                <a:effectLst/>
                <a:latin typeface="Times New Roman" panose="02020603050405020304" pitchFamily="18" charset="0"/>
                <a:ea typeface="微软雅黑" panose="020B0503020204020204" charset="-122"/>
                <a:cs typeface="Times New Roman" panose="02020603050405020304" pitchFamily="18" charset="0"/>
              </a:rPr>
              <a:t>FourWeekMBA</a:t>
            </a:r>
            <a:r>
              <a:rPr lang="en-US" altLang="zh-CN" dirty="0">
                <a:solidFill>
                  <a:srgbClr val="000000"/>
                </a:solidFill>
                <a:effectLst/>
                <a:latin typeface="Times New Roman" panose="02020603050405020304" pitchFamily="18" charset="0"/>
                <a:ea typeface="微软雅黑" panose="020B0503020204020204" charset="-122"/>
                <a:cs typeface="Times New Roman" panose="02020603050405020304" pitchFamily="18" charset="0"/>
              </a:rPr>
              <a:t>. (n.d.). Airbnb business model. </a:t>
            </a:r>
            <a:r>
              <a:rPr lang="en-US" altLang="zh-CN" dirty="0" err="1">
                <a:solidFill>
                  <a:srgbClr val="000000"/>
                </a:solidFill>
                <a:effectLst/>
                <a:latin typeface="Times New Roman" panose="02020603050405020304" pitchFamily="18" charset="0"/>
                <a:ea typeface="微软雅黑" panose="020B0503020204020204" charset="-122"/>
                <a:cs typeface="Times New Roman" panose="02020603050405020304" pitchFamily="18" charset="0"/>
              </a:rPr>
              <a:t>FourWeekMBA</a:t>
            </a:r>
            <a:r>
              <a:rPr lang="en-US" altLang="zh-CN" dirty="0">
                <a:solidFill>
                  <a:srgbClr val="000000"/>
                </a:solidFill>
                <a:effectLst/>
                <a:latin typeface="Times New Roman" panose="02020603050405020304" pitchFamily="18" charset="0"/>
                <a:ea typeface="微软雅黑" panose="020B0503020204020204" charset="-122"/>
                <a:cs typeface="Times New Roman" panose="02020603050405020304" pitchFamily="18" charset="0"/>
              </a:rPr>
              <a:t>. Retrieved from https://</a:t>
            </a:r>
            <a:r>
              <a:rPr lang="en-US" altLang="zh-CN" dirty="0" err="1">
                <a:solidFill>
                  <a:srgbClr val="000000"/>
                </a:solidFill>
                <a:effectLst/>
                <a:latin typeface="Times New Roman" panose="02020603050405020304" pitchFamily="18" charset="0"/>
                <a:ea typeface="微软雅黑" panose="020B0503020204020204" charset="-122"/>
                <a:cs typeface="Times New Roman" panose="02020603050405020304" pitchFamily="18" charset="0"/>
              </a:rPr>
              <a:t>fourweekmba.com</a:t>
            </a:r>
            <a:r>
              <a:rPr lang="en-US" altLang="zh-CN" dirty="0">
                <a:solidFill>
                  <a:srgbClr val="000000"/>
                </a:solidFill>
                <a:effectLst/>
                <a:latin typeface="Times New Roman" panose="02020603050405020304" pitchFamily="18" charset="0"/>
                <a:ea typeface="微软雅黑" panose="020B0503020204020204" charset="-122"/>
                <a:cs typeface="Times New Roman" panose="02020603050405020304" pitchFamily="18" charset="0"/>
              </a:rPr>
              <a:t>/Airbnb</a:t>
            </a:r>
          </a:p>
          <a:p>
            <a:endParaRPr lang="zh-CN" altLang="en-US" dirty="0"/>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OGUxMTVkOTM4YWZkZWFjZTIwZTEyY2M1MDg1NTBhMmIifQ=="/>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diagram"/>
  <p:tag name="KSO_WM_TEMPLATE_INDEX" val="20231299"/>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diagram"/>
  <p:tag name="KSO_WM_TEMPLATE_INDEX" val="20231299"/>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CHIP_INFOS" val="{&quot;name&quot;:&quot;Slide1&quot;,&quot;width&quot;:399.578,&quot;height&quot;:412.093,&quot;tags&quot;:{&quot;style&quot;:[&quot;简约&quot;],&quot;coloring&quot;:[&quot;多彩色&quot;]},&quot;slide_type&quot;:[&quot;text&quot;],&quot;type&quot;:&quot;diagram&quot;,&quot;match_code&quot;:&quot;l(h(f)h(f))&quot;,&quot;adjust_rule&quot;:{&quot;width_max&quot;:479.493,&quot;width_min&quot;:319.662,&quot;height_max&quot;:494.512,&quot;height_min&quot;:329.675},&quot;fill_rule&quot;:{&quot;fill_mode&quot;:&quot;adaptive&quot;,&quot;fill_align&quot;:&quot;cm&quot;},&quot;adapt_layouttype&quot;:[&quot;leftright&quot;,&quot;navigation&quot;],&quot;zoom_adjust&quot;:20}"/>
  <p:tag name="KSO_WM_CHIP_XID" val="5e72d6780bf9d44aae6d4d1d"/>
  <p:tag name="KSO_WM_TEMPLATE_SUBCATEGORY" val="0"/>
  <p:tag name="KSO_WM_TEMPLATE_MASTER_TYPE" val="0"/>
  <p:tag name="KSO_WM_TEMPLATE_COLOR_TYPE" val="0"/>
  <p:tag name="KSO_WM_TAG_VERSION" val="3.0"/>
  <p:tag name="KSO_WM_BEAUTIFY_FLAG" val="#wm#"/>
  <p:tag name="KSO_WM_TEMPLATE_CATEGORY" val="diagram"/>
  <p:tag name="KSO_WM_TEMPLATE_INDEX" val="20231299"/>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28.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470.017874015748,&quot;left&quot;:17.1,&quot;top&quot;:52.83212598425196,&quot;width&quot;:929.65}"/>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470.017874015748,&quot;left&quot;:17.1,&quot;top&quot;:52.83212598425196,&quot;width&quot;:929.65}"/>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470.017874015748,&quot;left&quot;:17.1,&quot;top&quot;:52.83212598425196,&quot;width&quot;:929.65}"/>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470.017874015748,&quot;left&quot;:17.1,&quot;top&quot;:52.83212598425196,&quot;width&quot;:929.65}"/>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470.017874015748,&quot;left&quot;:17.1,&quot;top&quot;:52.83212598425196,&quot;width&quot;:929.65}"/>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470.017874015748,&quot;left&quot;:17.1,&quot;top&quot;:52.83212598425196,&quot;width&quot;:929.65}"/>
</p:tagLst>
</file>

<file path=ppt/tags/tag35.xml><?xml version="1.0" encoding="utf-8"?>
<p:tagLst xmlns:a="http://schemas.openxmlformats.org/drawingml/2006/main" xmlns:r="http://schemas.openxmlformats.org/officeDocument/2006/relationships" xmlns:p="http://schemas.openxmlformats.org/presentationml/2006/main">
  <p:tag name="KSO_WM_CHIP_INFOS" val="{&quot;name&quot;:&quot;Slide5&quot;,&quot;width&quot;:395.8,&quot;height&quot;:510.267,&quot;tags&quot;:{&quot;style&quot;:[&quot;简约&quot;],&quot;coloring&quot;:[&quot;多彩色&quot;]},&quot;slide_type&quot;:[&quot;text&quot;],&quot;type&quot;:&quot;diagram&quot;,&quot;match_code&quot;:&quot;l(h(f)h(f)h(f)h(f)h(f))&quot;,&quot;adjust_rule&quot;:{&quot;width_max&quot;:474.96,&quot;width_min&quot;:316.64,&quot;height_max&quot;:612.32,&quot;height_min&quot;:408.213},&quot;fill_rule&quot;:{&quot;fill_mode&quot;:&quot;adaptive&quot;,&quot;fill_align&quot;:&quot;cm&quot;},&quot;adapt_layouttype&quot;:[&quot;leftright&quot;,&quot;navigation&quot;],&quot;zoom_adjust&quot;:20}"/>
  <p:tag name="KSO_WM_CHIP_XID" val="5e72d6780bf9d44aae6d4d20"/>
  <p:tag name="KSO_WM_SLIDE_ID" val="diagram20231299_5"/>
  <p:tag name="KSO_WM_TEMPLATE_SUBCATEGORY" val="0"/>
  <p:tag name="KSO_WM_TEMPLATE_MASTER_TYPE" val="0"/>
  <p:tag name="KSO_WM_TEMPLATE_COLOR_TYPE" val="0"/>
  <p:tag name="KSO_WM_SLIDE_TYPE" val="text"/>
  <p:tag name="KSO_WM_SLIDE_SUBTYPE" val="diag"/>
  <p:tag name="KSO_WM_SLIDE_ITEM_CNT" val="6"/>
  <p:tag name="KSO_WM_SLIDE_INDEX" val="5"/>
  <p:tag name="KSO_WM_SLIDE_SIZE" val="863.33*254.013"/>
  <p:tag name="KSO_WM_SLIDE_POSITION" val="48.335*178.993"/>
  <p:tag name="KSO_WM_DIAGRAM_GROUP_CODE" val="l1-1"/>
  <p:tag name="KSO_WM_SLIDE_DIAGTYPE" val="l"/>
  <p:tag name="KSO_WM_TAG_VERSION" val="3.0"/>
  <p:tag name="KSO_WM_BEAUTIFY_FLAG" val="#wm#"/>
  <p:tag name="KSO_WM_TEMPLATE_CATEGORY" val="diagram"/>
  <p:tag name="KSO_WM_TEMPLATE_INDEX" val="20231299"/>
  <p:tag name="KSO_WM_SLIDE_LAYOUT" val="a_l"/>
  <p:tag name="KSO_WM_SLIDE_LAYOUT_CNT" val="1_1"/>
</p:tagLst>
</file>

<file path=ppt/tags/tag36.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48"/>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1299_3*l_h_f*1_1_1"/>
  <p:tag name="KSO_WM_TEMPLATE_CATEGORY" val="diagram"/>
  <p:tag name="KSO_WM_TEMPLATE_INDEX" val="20231299"/>
  <p:tag name="KSO_WM_UNIT_LAYERLEVEL" val="1_1_1"/>
  <p:tag name="KSO_WM_TAG_VERSION" val="3.0"/>
  <p:tag name="KSO_WM_DIAGRAM_VERSION" val="3"/>
  <p:tag name="KSO_WM_DIAGRAM_COLOR_TEXT_CAN_REMOVE" val="n"/>
  <p:tag name="KSO_WM_DIAGRAM_MAX_ITEMCNT" val="6"/>
  <p:tag name="KSO_WM_DIAGRAM_MIN_ITEMCNT" val="2"/>
  <p:tag name="KSO_WM_DIAGRAM_VIRTUALLY_FRAME" val="{&quot;height&quot;:255.25,&quot;left&quot;:48.33496062992126,&quot;top&quot;:178.40188976377948,&quot;width&quot;:863.3551181102363}"/>
  <p:tag name="KSO_WM_DIAGRAM_COLOR_MATCH_VALUE" val="{&quot;shape&quot;:{&quot;fill&quot;:{&quot;gradient&quot;:[{&quot;brightness&quot;:0,&quot;colorType&quot;:1,&quot;foreColorIndex&quot;:5,&quot;pos&quot;:0,&quot;transparency&quot;:0},{&quot;brightness&quot;:0,&quot;colorType&quot;:1,&quot;foreColorIndex&quot;:5,&quot;pos&quot;:1,&quot;transparency&quot;:0.4000000059604645}],&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_BRIGHTNESS" val="0"/>
  <p:tag name="KSO_WM_DIAGRAM_COLOR_TRICK" val="2"/>
  <p:tag name="KSO_WM_UNIT_TEXT_TYPE" val="1"/>
  <p:tag name="KSO_WM_UNIT_PRESET_TEXT" val="单击此处输入你的正文，文字是您思想的提炼"/>
  <p:tag name="KSO_WM_UNIT_FILL_TYPE" val="3"/>
  <p:tag name="KSO_WM_UNIT_USESOURCEFORMAT_APPLY" val="1"/>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diagram20231299_3*l_h_i*1_1_1"/>
  <p:tag name="KSO_WM_TEMPLATE_CATEGORY" val="diagram"/>
  <p:tag name="KSO_WM_TEMPLATE_INDEX" val="20231299"/>
  <p:tag name="KSO_WM_UNIT_LAYERLEVEL" val="1_1_1"/>
  <p:tag name="KSO_WM_TAG_VERSION" val="3.0"/>
  <p:tag name="KSO_WM_BEAUTIFY_FLAG" val="#wm#"/>
  <p:tag name="KSO_WM_DIAGRAM_VERSION" val="3"/>
  <p:tag name="KSO_WM_DIAGRAM_COLOR_TEXT_CAN_REMOVE" val="n"/>
  <p:tag name="KSO_WM_DIAGRAM_MAX_ITEMCNT" val="6"/>
  <p:tag name="KSO_WM_DIAGRAM_MIN_ITEMCNT" val="2"/>
  <p:tag name="KSO_WM_DIAGRAM_VIRTUALLY_FRAME" val="{&quot;height&quot;:297.46700787401585,&quot;left&quot;:18.203385826771637,&quot;top&quot;:178.40188976377948,&quot;width&quot;:893.4866929133859}"/>
  <p:tag name="KSO_WM_DIAGRAM_COLOR_MATCH_VALUE" val="{&quot;shape&quot;:{&quot;fill&quot;:{&quot;type&quot;:0},&quot;glow&quot;:{&quot;colorType&quot;:0},&quot;line&quot;:{&quot;type&quot;:0},&quot;shadow&quot;:{&quot;brightness&quot;:-0.2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RICK" val="2"/>
  <p:tag name="KSO_WM_UNIT_SHADOW_SCHEMECOLOR_INDEX" val="5"/>
  <p:tag name="KSO_WM_UNIT_USESOURCEFORMAT_APPLY" val="1"/>
</p:tagLst>
</file>

<file path=ppt/tags/tag38.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48"/>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1299_3*l_h_f*1_1_1"/>
  <p:tag name="KSO_WM_TEMPLATE_CATEGORY" val="diagram"/>
  <p:tag name="KSO_WM_TEMPLATE_INDEX" val="20231299"/>
  <p:tag name="KSO_WM_UNIT_LAYERLEVEL" val="1_1_1"/>
  <p:tag name="KSO_WM_TAG_VERSION" val="3.0"/>
  <p:tag name="KSO_WM_DIAGRAM_VERSION" val="3"/>
  <p:tag name="KSO_WM_DIAGRAM_COLOR_TEXT_CAN_REMOVE" val="n"/>
  <p:tag name="KSO_WM_DIAGRAM_MAX_ITEMCNT" val="6"/>
  <p:tag name="KSO_WM_DIAGRAM_MIN_ITEMCNT" val="2"/>
  <p:tag name="KSO_WM_DIAGRAM_VIRTUALLY_FRAME" val="{&quot;height&quot;:255.25,&quot;left&quot;:48.33496062992126,&quot;top&quot;:178.40188976377948,&quot;width&quot;:863.3551181102363}"/>
  <p:tag name="KSO_WM_DIAGRAM_COLOR_MATCH_VALUE" val="{&quot;shape&quot;:{&quot;fill&quot;:{&quot;gradient&quot;:[{&quot;brightness&quot;:0,&quot;colorType&quot;:1,&quot;foreColorIndex&quot;:5,&quot;pos&quot;:0,&quot;transparency&quot;:0},{&quot;brightness&quot;:0,&quot;colorType&quot;:1,&quot;foreColorIndex&quot;:5,&quot;pos&quot;:1,&quot;transparency&quot;:0.4000000059604645}],&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_BRIGHTNESS" val="0"/>
  <p:tag name="KSO_WM_DIAGRAM_COLOR_TRICK" val="2"/>
  <p:tag name="KSO_WM_UNIT_TEXT_TYPE" val="1"/>
  <p:tag name="KSO_WM_UNIT_PRESET_TEXT" val="单击此处输入你的正文，文字是您思想的提炼"/>
  <p:tag name="KSO_WM_UNIT_FILL_TYPE" val="3"/>
  <p:tag name="KSO_WM_UNIT_USESOURCEFORMAT_APPLY" val="1"/>
</p:tagLst>
</file>

<file path=ppt/tags/tag39.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48"/>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1299_3*l_h_f*1_1_1"/>
  <p:tag name="KSO_WM_TEMPLATE_CATEGORY" val="diagram"/>
  <p:tag name="KSO_WM_TEMPLATE_INDEX" val="20231299"/>
  <p:tag name="KSO_WM_UNIT_LAYERLEVEL" val="1_1_1"/>
  <p:tag name="KSO_WM_TAG_VERSION" val="3.0"/>
  <p:tag name="KSO_WM_DIAGRAM_VERSION" val="3"/>
  <p:tag name="KSO_WM_DIAGRAM_COLOR_TEXT_CAN_REMOVE" val="n"/>
  <p:tag name="KSO_WM_DIAGRAM_MAX_ITEMCNT" val="6"/>
  <p:tag name="KSO_WM_DIAGRAM_MIN_ITEMCNT" val="2"/>
  <p:tag name="KSO_WM_DIAGRAM_VIRTUALLY_FRAME" val="{&quot;height&quot;:255.25,&quot;left&quot;:48.33496062992126,&quot;top&quot;:178.40188976377948,&quot;width&quot;:863.3551181102363}"/>
  <p:tag name="KSO_WM_DIAGRAM_COLOR_MATCH_VALUE" val="{&quot;shape&quot;:{&quot;fill&quot;:{&quot;gradient&quot;:[{&quot;brightness&quot;:0,&quot;colorType&quot;:1,&quot;foreColorIndex&quot;:5,&quot;pos&quot;:0,&quot;transparency&quot;:0},{&quot;brightness&quot;:0,&quot;colorType&quot;:1,&quot;foreColorIndex&quot;:5,&quot;pos&quot;:1,&quot;transparency&quot;:0.4000000059604645}],&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_BRIGHTNESS" val="0"/>
  <p:tag name="KSO_WM_DIAGRAM_COLOR_TRICK" val="2"/>
  <p:tag name="KSO_WM_UNIT_TEXT_TYPE" val="1"/>
  <p:tag name="KSO_WM_UNIT_PRESET_TEXT" val="单击此处输入你的正文，文字是您思想的提炼"/>
  <p:tag name="KSO_WM_UNIT_FILL_TYPE" val="3"/>
  <p:tag name="KSO_WM_UNIT_USESOURCEFORMAT_APPLY" val="1"/>
</p:tagLst>
</file>

<file path=ppt/tags/tag40.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48"/>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1299_3*l_h_f*1_1_1"/>
  <p:tag name="KSO_WM_TEMPLATE_CATEGORY" val="diagram"/>
  <p:tag name="KSO_WM_TEMPLATE_INDEX" val="20231299"/>
  <p:tag name="KSO_WM_UNIT_LAYERLEVEL" val="1_1_1"/>
  <p:tag name="KSO_WM_TAG_VERSION" val="3.0"/>
  <p:tag name="KSO_WM_DIAGRAM_VERSION" val="3"/>
  <p:tag name="KSO_WM_DIAGRAM_COLOR_TEXT_CAN_REMOVE" val="n"/>
  <p:tag name="KSO_WM_DIAGRAM_MAX_ITEMCNT" val="6"/>
  <p:tag name="KSO_WM_DIAGRAM_MIN_ITEMCNT" val="2"/>
  <p:tag name="KSO_WM_DIAGRAM_VIRTUALLY_FRAME" val="{&quot;height&quot;:255.25,&quot;left&quot;:48.33496062992126,&quot;top&quot;:178.40188976377948,&quot;width&quot;:863.3551181102363}"/>
  <p:tag name="KSO_WM_DIAGRAM_COLOR_MATCH_VALUE" val="{&quot;shape&quot;:{&quot;fill&quot;:{&quot;gradient&quot;:[{&quot;brightness&quot;:0,&quot;colorType&quot;:1,&quot;foreColorIndex&quot;:5,&quot;pos&quot;:0,&quot;transparency&quot;:0},{&quot;brightness&quot;:0,&quot;colorType&quot;:1,&quot;foreColorIndex&quot;:5,&quot;pos&quot;:1,&quot;transparency&quot;:0.4000000059604645}],&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_BRIGHTNESS" val="0"/>
  <p:tag name="KSO_WM_DIAGRAM_COLOR_TRICK" val="2"/>
  <p:tag name="KSO_WM_UNIT_TEXT_TYPE" val="1"/>
  <p:tag name="KSO_WM_UNIT_PRESET_TEXT" val="单击此处输入你的正文，文字是您思想的提炼"/>
  <p:tag name="KSO_WM_UNIT_FILL_TYPE" val="3"/>
  <p:tag name="KSO_WM_UNIT_USESOURCEFORMAT_APPLY" val="1"/>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diagram20231299_3*l_h_i*1_1_1"/>
  <p:tag name="KSO_WM_TEMPLATE_CATEGORY" val="diagram"/>
  <p:tag name="KSO_WM_TEMPLATE_INDEX" val="20231299"/>
  <p:tag name="KSO_WM_UNIT_LAYERLEVEL" val="1_1_1"/>
  <p:tag name="KSO_WM_TAG_VERSION" val="3.0"/>
  <p:tag name="KSO_WM_DIAGRAM_VERSION" val="3"/>
  <p:tag name="KSO_WM_DIAGRAM_COLOR_TEXT_CAN_REMOVE" val="n"/>
  <p:tag name="KSO_WM_DIAGRAM_MAX_ITEMCNT" val="6"/>
  <p:tag name="KSO_WM_DIAGRAM_MIN_ITEMCNT" val="2"/>
  <p:tag name="KSO_WM_DIAGRAM_VIRTUALLY_FRAME" val="{&quot;height&quot;:297.46700787401585,&quot;left&quot;:48.33496062992126,&quot;top&quot;:178.40188976377948,&quot;width&quot;:863.3551181102363}"/>
  <p:tag name="KSO_WM_DIAGRAM_COLOR_MATCH_VALUE" val="{&quot;shape&quot;:{&quot;fill&quot;:{&quot;type&quot;:0},&quot;glow&quot;:{&quot;colorType&quot;:0},&quot;line&quot;:{&quot;type&quot;:0},&quot;shadow&quot;:{&quot;brightness&quot;:-0.2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RICK" val="2"/>
  <p:tag name="KSO_WM_UNIT_SHADOW_SCHEMECOLOR_INDEX" val="5"/>
  <p:tag name="KSO_WM_UNIT_USESOURCEFORMAT_APPLY" val="1"/>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diagram20231299_3*l_h_i*1_1_1"/>
  <p:tag name="KSO_WM_TEMPLATE_CATEGORY" val="diagram"/>
  <p:tag name="KSO_WM_TEMPLATE_INDEX" val="20231299"/>
  <p:tag name="KSO_WM_UNIT_LAYERLEVEL" val="1_1_1"/>
  <p:tag name="KSO_WM_TAG_VERSION" val="3.0"/>
  <p:tag name="KSO_WM_DIAGRAM_VERSION" val="3"/>
  <p:tag name="KSO_WM_DIAGRAM_COLOR_TEXT_CAN_REMOVE" val="n"/>
  <p:tag name="KSO_WM_DIAGRAM_MAX_ITEMCNT" val="6"/>
  <p:tag name="KSO_WM_DIAGRAM_MIN_ITEMCNT" val="2"/>
  <p:tag name="KSO_WM_DIAGRAM_VIRTUALLY_FRAME" val="{&quot;height&quot;:297.46700787401585,&quot;left&quot;:48.33496062992126,&quot;top&quot;:178.40188976377948,&quot;width&quot;:863.3551181102363}"/>
  <p:tag name="KSO_WM_DIAGRAM_COLOR_MATCH_VALUE" val="{&quot;shape&quot;:{&quot;fill&quot;:{&quot;type&quot;:0},&quot;glow&quot;:{&quot;colorType&quot;:0},&quot;line&quot;:{&quot;type&quot;:0},&quot;shadow&quot;:{&quot;brightness&quot;:-0.2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RICK" val="2"/>
  <p:tag name="KSO_WM_UNIT_SHADOW_SCHEMECOLOR_INDEX" val="5"/>
  <p:tag name="KSO_WM_UNIT_USESOURCEFORMAT_APPLY" val="1"/>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diagram20231299_3*l_h_i*1_1_1"/>
  <p:tag name="KSO_WM_TEMPLATE_CATEGORY" val="diagram"/>
  <p:tag name="KSO_WM_TEMPLATE_INDEX" val="20231299"/>
  <p:tag name="KSO_WM_UNIT_LAYERLEVEL" val="1_1_1"/>
  <p:tag name="KSO_WM_TAG_VERSION" val="3.0"/>
  <p:tag name="KSO_WM_DIAGRAM_VERSION" val="3"/>
  <p:tag name="KSO_WM_DIAGRAM_COLOR_TEXT_CAN_REMOVE" val="n"/>
  <p:tag name="KSO_WM_DIAGRAM_MAX_ITEMCNT" val="6"/>
  <p:tag name="KSO_WM_DIAGRAM_MIN_ITEMCNT" val="2"/>
  <p:tag name="KSO_WM_DIAGRAM_VIRTUALLY_FRAME" val="{&quot;height&quot;:297.46700787401585,&quot;left&quot;:48.33496062992126,&quot;top&quot;:178.40188976377948,&quot;width&quot;:863.3551181102363}"/>
  <p:tag name="KSO_WM_DIAGRAM_COLOR_MATCH_VALUE" val="{&quot;shape&quot;:{&quot;fill&quot;:{&quot;type&quot;:0},&quot;glow&quot;:{&quot;colorType&quot;:0},&quot;line&quot;:{&quot;type&quot;:0},&quot;shadow&quot;:{&quot;brightness&quot;:-0.2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RICK" val="2"/>
  <p:tag name="KSO_WM_UNIT_SHADOW_SCHEMECOLOR_INDEX" val="5"/>
  <p:tag name="KSO_WM_UNIT_USESOURCEFORMAT_APPLY" val="1"/>
</p:tagLst>
</file>

<file path=ppt/tags/tag44.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45.xml><?xml version="1.0" encoding="utf-8"?>
<p:tagLst xmlns:a="http://schemas.openxmlformats.org/drawingml/2006/main" xmlns:r="http://schemas.openxmlformats.org/officeDocument/2006/relationships" xmlns:p="http://schemas.openxmlformats.org/presentationml/2006/main">
  <p:tag name="TABLE_ENDDRAG_ORIGIN_RECT" val="394*155"/>
  <p:tag name="TABLE_ENDDRAG_RECT" val="31*208*394*155"/>
</p:tagLst>
</file>

<file path=ppt/tags/tag46.xml><?xml version="1.0" encoding="utf-8"?>
<p:tagLst xmlns:a="http://schemas.openxmlformats.org/drawingml/2006/main" xmlns:r="http://schemas.openxmlformats.org/officeDocument/2006/relationships" xmlns:p="http://schemas.openxmlformats.org/presentationml/2006/main">
  <p:tag name="TABLE_ENDDRAG_ORIGIN_RECT" val="912*287"/>
  <p:tag name="TABLE_ENDDRAG_RECT" val="25*252*912*287"/>
</p:tagLst>
</file>

<file path=ppt/tags/tag47.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48.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49.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50.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51.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52.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53.xml><?xml version="1.0" encoding="utf-8"?>
<p:tagLst xmlns:a="http://schemas.openxmlformats.org/drawingml/2006/main" xmlns:r="http://schemas.openxmlformats.org/officeDocument/2006/relationships" xmlns:p="http://schemas.openxmlformats.org/presentationml/2006/main">
  <p:tag name="KSO_WM_DIAGRAM_VIRTUALLY_FRAME" val="{&quot;height&quot;:470.017874015748,&quot;left&quot;:17.1,&quot;top&quot;:52.83212598425196,&quot;width&quot;:929.65}"/>
</p:tagLst>
</file>

<file path=ppt/tags/tag54.xml><?xml version="1.0" encoding="utf-8"?>
<p:tagLst xmlns:a="http://schemas.openxmlformats.org/drawingml/2006/main" xmlns:r="http://schemas.openxmlformats.org/officeDocument/2006/relationships" xmlns:p="http://schemas.openxmlformats.org/presentationml/2006/main">
  <p:tag name="KSO_WM_DIAGRAM_VIRTUALLY_FRAME" val="{&quot;height&quot;:470.017874015748,&quot;left&quot;:17.1,&quot;top&quot;:52.83212598425196,&quot;width&quot;:929.65}"/>
</p:tagLst>
</file>

<file path=ppt/tags/tag55.xml><?xml version="1.0" encoding="utf-8"?>
<p:tagLst xmlns:a="http://schemas.openxmlformats.org/drawingml/2006/main" xmlns:r="http://schemas.openxmlformats.org/officeDocument/2006/relationships" xmlns:p="http://schemas.openxmlformats.org/presentationml/2006/main">
  <p:tag name="KSO_WM_DIAGRAM_VIRTUALLY_FRAME" val="{&quot;height&quot;:470.017874015748,&quot;left&quot;:17.1,&quot;top&quot;:52.83212598425196,&quot;width&quot;:929.65}"/>
</p:tagLst>
</file>

<file path=ppt/tags/tag56.xml><?xml version="1.0" encoding="utf-8"?>
<p:tagLst xmlns:a="http://schemas.openxmlformats.org/drawingml/2006/main" xmlns:r="http://schemas.openxmlformats.org/officeDocument/2006/relationships" xmlns:p="http://schemas.openxmlformats.org/presentationml/2006/main">
  <p:tag name="KSO_WM_DIAGRAM_VIRTUALLY_FRAME" val="{&quot;height&quot;:470.017874015748,&quot;left&quot;:17.1,&quot;top&quot;:52.83212598425196,&quot;width&quot;:929.65}"/>
</p:tagLst>
</file>

<file path=ppt/tags/tag57.xml><?xml version="1.0" encoding="utf-8"?>
<p:tagLst xmlns:a="http://schemas.openxmlformats.org/drawingml/2006/main" xmlns:r="http://schemas.openxmlformats.org/officeDocument/2006/relationships" xmlns:p="http://schemas.openxmlformats.org/presentationml/2006/main">
  <p:tag name="KSO_WM_DIAGRAM_VIRTUALLY_FRAME" val="{&quot;height&quot;:470.017874015748,&quot;left&quot;:17.1,&quot;top&quot;:52.83212598425196,&quot;width&quot;:929.65}"/>
</p:tagLst>
</file>

<file path=ppt/tags/tag58.xml><?xml version="1.0" encoding="utf-8"?>
<p:tagLst xmlns:a="http://schemas.openxmlformats.org/drawingml/2006/main" xmlns:r="http://schemas.openxmlformats.org/officeDocument/2006/relationships" xmlns:p="http://schemas.openxmlformats.org/presentationml/2006/main">
  <p:tag name="KSO_WM_DIAGRAM_VIRTUALLY_FRAME" val="{&quot;height&quot;:470.017874015748,&quot;left&quot;:17.1,&quot;top&quot;:52.83212598425196,&quot;width&quot;:929.65}"/>
</p:tagLst>
</file>

<file path=ppt/tags/tag59.xml><?xml version="1.0" encoding="utf-8"?>
<p:tagLst xmlns:a="http://schemas.openxmlformats.org/drawingml/2006/main" xmlns:r="http://schemas.openxmlformats.org/officeDocument/2006/relationships" xmlns:p="http://schemas.openxmlformats.org/presentationml/2006/main">
  <p:tag name="KSO_WM_DIAGRAM_VIRTUALLY_FRAME" val="{&quot;height&quot;:470.017874015748,&quot;left&quot;:17.1,&quot;top&quot;:52.83212598425196,&quot;width&quot;:929.65}"/>
</p:tagLst>
</file>

<file path=ppt/tags/tag60.xml><?xml version="1.0" encoding="utf-8"?>
<p:tagLst xmlns:a="http://schemas.openxmlformats.org/drawingml/2006/main" xmlns:r="http://schemas.openxmlformats.org/officeDocument/2006/relationships" xmlns:p="http://schemas.openxmlformats.org/presentationml/2006/main">
  <p:tag name="KSO_WM_DIAGRAM_VIRTUALLY_FRAME" val="{&quot;height&quot;:470.017874015748,&quot;left&quot;:17.1,&quot;top&quot;:52.83212598425196,&quot;width&quot;:929.65}"/>
</p:tagLst>
</file>

<file path=ppt/tags/tag61.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2.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3.xml><?xml version="1.0" encoding="utf-8"?>
<p:tagLst xmlns:a="http://schemas.openxmlformats.org/drawingml/2006/main" xmlns:r="http://schemas.openxmlformats.org/officeDocument/2006/relationships" xmlns:p="http://schemas.openxmlformats.org/presentationml/2006/main">
  <p:tag name="KSO_WM_DIAGRAM_VIRTUALLY_FRAME" val="{&quot;height&quot;:470.017874015748,&quot;left&quot;:17.1,&quot;top&quot;:52.83212598425196,&quot;width&quot;:929.65}"/>
</p:tagLst>
</file>

<file path=ppt/tags/tag64.xml><?xml version="1.0" encoding="utf-8"?>
<p:tagLst xmlns:a="http://schemas.openxmlformats.org/drawingml/2006/main" xmlns:r="http://schemas.openxmlformats.org/officeDocument/2006/relationships" xmlns:p="http://schemas.openxmlformats.org/presentationml/2006/main">
  <p:tag name="KSO_WM_DIAGRAM_VIRTUALLY_FRAME" val="{&quot;height&quot;:470.017874015748,&quot;left&quot;:17.1,&quot;top&quot;:52.83212598425196,&quot;width&quot;:929.65}"/>
</p:tagLst>
</file>

<file path=ppt/tags/tag65.xml><?xml version="1.0" encoding="utf-8"?>
<p:tagLst xmlns:a="http://schemas.openxmlformats.org/drawingml/2006/main" xmlns:r="http://schemas.openxmlformats.org/officeDocument/2006/relationships" xmlns:p="http://schemas.openxmlformats.org/presentationml/2006/main">
  <p:tag name="KSO_WM_DIAGRAM_VIRTUALLY_FRAME" val="{&quot;height&quot;:470.017874015748,&quot;left&quot;:17.1,&quot;top&quot;:52.83212598425196,&quot;width&quot;:929.65}"/>
</p:tagLst>
</file>

<file path=ppt/tags/tag66.xml><?xml version="1.0" encoding="utf-8"?>
<p:tagLst xmlns:a="http://schemas.openxmlformats.org/drawingml/2006/main" xmlns:r="http://schemas.openxmlformats.org/officeDocument/2006/relationships" xmlns:p="http://schemas.openxmlformats.org/presentationml/2006/main">
  <p:tag name="KSO_WM_DIAGRAM_VIRTUALLY_FRAME" val="{&quot;height&quot;:470.017874015748,&quot;left&quot;:17.1,&quot;top&quot;:52.83212598425196,&quot;width&quot;:929.65}"/>
</p:tagLst>
</file>

<file path=ppt/tags/tag67.xml><?xml version="1.0" encoding="utf-8"?>
<p:tagLst xmlns:a="http://schemas.openxmlformats.org/drawingml/2006/main" xmlns:r="http://schemas.openxmlformats.org/officeDocument/2006/relationships" xmlns:p="http://schemas.openxmlformats.org/presentationml/2006/main">
  <p:tag name="KSO_WM_DIAGRAM_VIRTUALLY_FRAME" val="{&quot;height&quot;:470.017874015748,&quot;left&quot;:17.1,&quot;top&quot;:52.83212598425196,&quot;width&quot;:929.65}"/>
</p:tagLst>
</file>

<file path=ppt/tags/tag68.xml><?xml version="1.0" encoding="utf-8"?>
<p:tagLst xmlns:a="http://schemas.openxmlformats.org/drawingml/2006/main" xmlns:r="http://schemas.openxmlformats.org/officeDocument/2006/relationships" xmlns:p="http://schemas.openxmlformats.org/presentationml/2006/main">
  <p:tag name="KSO_WM_DIAGRAM_VIRTUALLY_FRAME" val="{&quot;height&quot;:470.017874015748,&quot;left&quot;:17.1,&quot;top&quot;:52.83212598425196,&quot;width&quot;:929.65}"/>
</p:tagLst>
</file>

<file path=ppt/tags/tag69.xml><?xml version="1.0" encoding="utf-8"?>
<p:tagLst xmlns:a="http://schemas.openxmlformats.org/drawingml/2006/main" xmlns:r="http://schemas.openxmlformats.org/officeDocument/2006/relationships" xmlns:p="http://schemas.openxmlformats.org/presentationml/2006/main">
  <p:tag name="KSO_WM_DIAGRAM_VIRTUALLY_FRAME" val="{&quot;height&quot;:470.017874015748,&quot;left&quot;:17.1,&quot;top&quot;:52.83212598425196,&quot;width&quot;:929.65}"/>
</p:tagLst>
</file>

<file path=ppt/tags/tag70.xml><?xml version="1.0" encoding="utf-8"?>
<p:tagLst xmlns:a="http://schemas.openxmlformats.org/drawingml/2006/main" xmlns:r="http://schemas.openxmlformats.org/officeDocument/2006/relationships" xmlns:p="http://schemas.openxmlformats.org/presentationml/2006/main">
  <p:tag name="KSO_WM_DIAGRAM_VIRTUALLY_FRAME" val="{&quot;height&quot;:470.017874015748,&quot;left&quot;:17.1,&quot;top&quot;:52.83212598425196,&quot;width&quot;:929.65}"/>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heme/theme1.xml><?xml version="1.0" encoding="utf-8"?>
<a:theme xmlns:a="http://schemas.openxmlformats.org/drawingml/2006/main" name="Office 主题​​">
  <a:themeElements>
    <a:clrScheme name="自定义 27">
      <a:dk1>
        <a:srgbClr val="000000"/>
      </a:dk1>
      <a:lt1>
        <a:srgbClr val="FFFFFF"/>
      </a:lt1>
      <a:dk2>
        <a:srgbClr val="000000"/>
      </a:dk2>
      <a:lt2>
        <a:srgbClr val="FEFFFF"/>
      </a:lt2>
      <a:accent1>
        <a:srgbClr val="376FFF"/>
      </a:accent1>
      <a:accent2>
        <a:srgbClr val="17D594"/>
      </a:accent2>
      <a:accent3>
        <a:srgbClr val="FFC000"/>
      </a:accent3>
      <a:accent4>
        <a:srgbClr val="FF7429"/>
      </a:accent4>
      <a:accent5>
        <a:srgbClr val="F84949"/>
      </a:accent5>
      <a:accent6>
        <a:srgbClr val="8830FE"/>
      </a:accent6>
      <a:hlink>
        <a:srgbClr val="304FFE"/>
      </a:hlink>
      <a:folHlink>
        <a:srgbClr val="492067"/>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包裹">
  <a:themeElements>
    <a:clrScheme name="包裹">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包裹">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包裹">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71C241A9-A460-4AD1-916F-25308628A5BC}"/>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984</TotalTime>
  <Words>3303</Words>
  <Application>Microsoft Macintosh PowerPoint</Application>
  <PresentationFormat>宽屏</PresentationFormat>
  <Paragraphs>215</Paragraphs>
  <Slides>26</Slides>
  <Notes>3</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26</vt:i4>
      </vt:variant>
    </vt:vector>
  </HeadingPairs>
  <TitlesOfParts>
    <vt:vector size="35" baseType="lpstr">
      <vt:lpstr>思源宋体 CN</vt:lpstr>
      <vt:lpstr>Arial</vt:lpstr>
      <vt:lpstr>Calibri</vt:lpstr>
      <vt:lpstr>Calibri Light</vt:lpstr>
      <vt:lpstr>Gill Sans MT</vt:lpstr>
      <vt:lpstr>Times New Roman</vt:lpstr>
      <vt:lpstr>Wingdings</vt:lpstr>
      <vt:lpstr>Office 主题​​</vt:lpstr>
      <vt:lpstr>包裹</vt:lpstr>
      <vt:lpstr>PowerPoint 演示文稿</vt:lpstr>
      <vt:lpstr>PowerPoint 演示文稿</vt:lpstr>
      <vt:lpstr>PowerPoint 演示文稿</vt:lpstr>
      <vt:lpstr>PowerPoint 演示文稿</vt:lpstr>
      <vt:lpstr>PowerPoint 演示文稿</vt:lpstr>
      <vt:lpstr>Airbnb Revenue Analysis</vt:lpstr>
      <vt:lpstr>PowerPoint 演示文稿</vt:lpstr>
      <vt:lpstr>PowerPoint 演示文稿</vt:lpstr>
      <vt:lpstr>PowerPoint 演示文稿</vt:lpstr>
      <vt:lpstr>PowerPoint 演示文稿</vt:lpstr>
      <vt:lpstr>PowerPoint 演示文稿</vt:lpstr>
      <vt:lpstr>PowerPoint 演示文稿</vt:lpstr>
      <vt:lpstr>References</vt:lpstr>
      <vt:lpstr>THANKS FOR listening！</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HuangKun Chen</cp:lastModifiedBy>
  <cp:revision>12</cp:revision>
  <dcterms:created xsi:type="dcterms:W3CDTF">2024-11-16T17:02:20Z</dcterms:created>
  <dcterms:modified xsi:type="dcterms:W3CDTF">2024-12-08T19:59:59Z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2052-12.1.0.18608</vt:lpwstr>
  </property>
  <property fmtid="{D5CDD505-2E9C-101B-9397-08002B2CF9AE}" pid="3" name="ICV">
    <vt:lpwstr>C638835536C7453C9A2954492004EFC9_11</vt:lpwstr>
  </property>
  <property fmtid="{D5CDD505-2E9C-101B-9397-08002B2CF9AE}" pid="4" name="MSIP_Label_4044bd30-2ed7-4c9d-9d12-46200872a97b_Enabled">
    <vt:lpwstr>true</vt:lpwstr>
  </property>
  <property fmtid="{D5CDD505-2E9C-101B-9397-08002B2CF9AE}" pid="5" name="MSIP_Label_4044bd30-2ed7-4c9d-9d12-46200872a97b_SetDate">
    <vt:lpwstr>2024-11-17T20:28:28Z</vt:lpwstr>
  </property>
  <property fmtid="{D5CDD505-2E9C-101B-9397-08002B2CF9AE}" pid="6" name="MSIP_Label_4044bd30-2ed7-4c9d-9d12-46200872a97b_Method">
    <vt:lpwstr>Standard</vt:lpwstr>
  </property>
  <property fmtid="{D5CDD505-2E9C-101B-9397-08002B2CF9AE}" pid="7" name="MSIP_Label_4044bd30-2ed7-4c9d-9d12-46200872a97b_Name">
    <vt:lpwstr>defa4170-0d19-0005-0004-bc88714345d2</vt:lpwstr>
  </property>
  <property fmtid="{D5CDD505-2E9C-101B-9397-08002B2CF9AE}" pid="8" name="MSIP_Label_4044bd30-2ed7-4c9d-9d12-46200872a97b_SiteId">
    <vt:lpwstr>4130bd39-7c53-419c-b1e5-8758d6d63f21</vt:lpwstr>
  </property>
  <property fmtid="{D5CDD505-2E9C-101B-9397-08002B2CF9AE}" pid="9" name="MSIP_Label_4044bd30-2ed7-4c9d-9d12-46200872a97b_ActionId">
    <vt:lpwstr>220171a8-fabf-45fa-94cc-66c843d32672</vt:lpwstr>
  </property>
  <property fmtid="{D5CDD505-2E9C-101B-9397-08002B2CF9AE}" pid="10" name="MSIP_Label_4044bd30-2ed7-4c9d-9d12-46200872a97b_ContentBits">
    <vt:lpwstr>0</vt:lpwstr>
  </property>
</Properties>
</file>