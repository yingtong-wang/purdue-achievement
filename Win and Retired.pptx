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10.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Lst>
  <p:sldSz cx="18288000" cy="10287000"/>
  <p:notesSz cx="6858000" cy="9144000"/>
  <p:embeddedFontLst>
    <p:embeddedFont>
      <p:font typeface="Anton Italics" panose="00000500000000000000"/>
      <p:regular r:id="rId38"/>
      <p:italic r:id="rId39"/>
    </p:embeddedFont>
    <p:embeddedFont>
      <p:font typeface="Poppins Bold" panose="00000800000000000000"/>
      <p:bold r:id="rId40"/>
    </p:embeddedFont>
    <p:embeddedFont>
      <p:font typeface="Poppins" panose="00000500000000000000"/>
      <p:regular r:id="rId41"/>
    </p:embeddedFont>
    <p:embeddedFont>
      <p:font typeface="Poppins Bold Italics" panose="00000800000000000000"/>
      <p:boldItalic r:id="rId42"/>
    </p:embeddedFont>
    <p:embeddedFont>
      <p:font typeface="Poppins Italics" panose="00000500000000000000"/>
      <p:italic r:id="rId43"/>
    </p:embeddedFont>
    <p:embeddedFont>
      <p:font typeface="Arial Bold" panose="020B0802020202020204"/>
      <p:bold r:id="rId44"/>
    </p:embeddedFont>
    <p:embeddedFont>
      <p:font typeface="Calibri" panose="020F0502020204030204" charset="0"/>
      <p:regular r:id="rId45"/>
      <p:bold r:id="rId46"/>
      <p:italic r:id="rId47"/>
      <p:boldItalic r:id="rId4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8" Type="http://schemas.openxmlformats.org/officeDocument/2006/relationships/font" Target="fonts/font11.fntdata"/><Relationship Id="rId47" Type="http://schemas.openxmlformats.org/officeDocument/2006/relationships/font" Target="fonts/font10.fntdata"/><Relationship Id="rId46" Type="http://schemas.openxmlformats.org/officeDocument/2006/relationships/font" Target="fonts/font9.fntdata"/><Relationship Id="rId45" Type="http://schemas.openxmlformats.org/officeDocument/2006/relationships/font" Target="fonts/font8.fntdata"/><Relationship Id="rId44" Type="http://schemas.openxmlformats.org/officeDocument/2006/relationships/font" Target="fonts/font7.fntdata"/><Relationship Id="rId43" Type="http://schemas.openxmlformats.org/officeDocument/2006/relationships/font" Target="fonts/font6.fntdata"/><Relationship Id="rId42" Type="http://schemas.openxmlformats.org/officeDocument/2006/relationships/font" Target="fonts/font5.fntdata"/><Relationship Id="rId41" Type="http://schemas.openxmlformats.org/officeDocument/2006/relationships/font" Target="fonts/font4.fntdata"/><Relationship Id="rId40" Type="http://schemas.openxmlformats.org/officeDocument/2006/relationships/font" Target="fonts/font3.fntdata"/><Relationship Id="rId4" Type="http://schemas.openxmlformats.org/officeDocument/2006/relationships/slide" Target="slides/slide2.xml"/><Relationship Id="rId39" Type="http://schemas.openxmlformats.org/officeDocument/2006/relationships/font" Target="fonts/font2.fntdata"/><Relationship Id="rId38" Type="http://schemas.openxmlformats.org/officeDocument/2006/relationships/font" Target="fonts/font1.fntdata"/><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1.jpeg"/><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2.jpeg"/><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3.jpeg"/><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6.png"/><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1.jpeg"/></Relationships>
</file>

<file path=ppt/slides/_rels/slide14.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1.jpeg"/><Relationship Id="rId3" Type="http://schemas.openxmlformats.org/officeDocument/2006/relationships/image" Target="../media/image10.svg"/><Relationship Id="rId2" Type="http://schemas.openxmlformats.org/officeDocument/2006/relationships/image" Target="../media/image19.png"/><Relationship Id="rId1" Type="http://schemas.openxmlformats.org/officeDocument/2006/relationships/image" Target="../media/image1.jpeg"/></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3.png"/><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image" Target="../media/image1.jpe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1.jpe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1.jpeg"/></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28.png"/><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1.jpeg"/></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1.jpe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3.png"/><Relationship Id="rId1" Type="http://schemas.openxmlformats.org/officeDocument/2006/relationships/image" Target="../media/image32.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5.png"/><Relationship Id="rId1" Type="http://schemas.openxmlformats.org/officeDocument/2006/relationships/image" Target="../media/image34.png"/></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1.jpeg"/></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image" Target="../media/image1.jpe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0.png"/><Relationship Id="rId1" Type="http://schemas.openxmlformats.org/officeDocument/2006/relationships/image" Target="../media/image1.jpe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1.png"/><Relationship Id="rId1" Type="http://schemas.openxmlformats.org/officeDocument/2006/relationships/image" Target="../media/image1.jpe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1.jpeg"/></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42.png"/><Relationship Id="rId2" Type="http://schemas.openxmlformats.org/officeDocument/2006/relationships/image" Target="../media/image12.jpeg"/><Relationship Id="rId1" Type="http://schemas.openxmlformats.org/officeDocument/2006/relationships/image" Target="../media/image1.jpe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3.jpeg"/><Relationship Id="rId1" Type="http://schemas.openxmlformats.org/officeDocument/2006/relationships/image" Target="../media/image1.jpe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1.jpeg"/></Relationships>
</file>

<file path=ppt/slides/_rels/slide30.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1.jpe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3.jpeg"/><Relationship Id="rId1" Type="http://schemas.openxmlformats.org/officeDocument/2006/relationships/image" Target="../media/image1.jpeg"/></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22" b="-9222"/>
            </a:stretch>
          </a:blipFill>
        </p:spPr>
      </p:sp>
      <p:grpSp>
        <p:nvGrpSpPr>
          <p:cNvPr id="3" name="Group 3"/>
          <p:cNvGrpSpPr/>
          <p:nvPr/>
        </p:nvGrpSpPr>
        <p:grpSpPr>
          <a:xfrm rot="0">
            <a:off x="15166985" y="-2112909"/>
            <a:ext cx="3976178" cy="10781843"/>
            <a:chOff x="0" y="0"/>
            <a:chExt cx="472130" cy="1280233"/>
          </a:xfrm>
        </p:grpSpPr>
        <p:sp>
          <p:nvSpPr>
            <p:cNvPr id="4" name="Freeform 4"/>
            <p:cNvSpPr/>
            <p:nvPr/>
          </p:nvSpPr>
          <p:spPr>
            <a:xfrm>
              <a:off x="0" y="0"/>
              <a:ext cx="472130" cy="1280233"/>
            </a:xfrm>
            <a:custGeom>
              <a:avLst/>
              <a:gdLst/>
              <a:ahLst/>
              <a:cxnLst/>
              <a:rect l="l" t="t" r="r" b="b"/>
              <a:pathLst>
                <a:path w="472130" h="1280233">
                  <a:moveTo>
                    <a:pt x="203200" y="0"/>
                  </a:moveTo>
                  <a:lnTo>
                    <a:pt x="472130" y="0"/>
                  </a:lnTo>
                  <a:lnTo>
                    <a:pt x="268930" y="1280233"/>
                  </a:lnTo>
                  <a:lnTo>
                    <a:pt x="0" y="1280233"/>
                  </a:lnTo>
                  <a:lnTo>
                    <a:pt x="203200" y="0"/>
                  </a:lnTo>
                  <a:close/>
                </a:path>
              </a:pathLst>
            </a:custGeom>
            <a:gradFill rotWithShape="1">
              <a:gsLst>
                <a:gs pos="0">
                  <a:srgbClr val="8D2600">
                    <a:alpha val="100000"/>
                  </a:srgbClr>
                </a:gs>
                <a:gs pos="100000">
                  <a:srgbClr val="FF4500">
                    <a:alpha val="100000"/>
                  </a:srgbClr>
                </a:gs>
              </a:gsLst>
              <a:lin ang="0"/>
            </a:gradFill>
          </p:spPr>
        </p:sp>
        <p:sp>
          <p:nvSpPr>
            <p:cNvPr id="5" name="TextBox 5"/>
            <p:cNvSpPr txBox="1"/>
            <p:nvPr/>
          </p:nvSpPr>
          <p:spPr>
            <a:xfrm>
              <a:off x="101600" y="-57150"/>
              <a:ext cx="268930" cy="1337383"/>
            </a:xfrm>
            <a:prstGeom prst="rect">
              <a:avLst/>
            </a:prstGeom>
          </p:spPr>
          <p:txBody>
            <a:bodyPr lIns="50800" tIns="50800" rIns="50800" bIns="50800" rtlCol="0" anchor="ctr"/>
            <a:lstStyle/>
            <a:p>
              <a:pPr algn="ctr">
                <a:lnSpc>
                  <a:spcPts val="2800"/>
                </a:lnSpc>
              </a:pPr>
            </a:p>
          </p:txBody>
        </p:sp>
      </p:grpSp>
      <p:grpSp>
        <p:nvGrpSpPr>
          <p:cNvPr id="6" name="Group 6"/>
          <p:cNvGrpSpPr/>
          <p:nvPr/>
        </p:nvGrpSpPr>
        <p:grpSpPr>
          <a:xfrm rot="0">
            <a:off x="11646884" y="3466817"/>
            <a:ext cx="3976178" cy="10781843"/>
            <a:chOff x="0" y="0"/>
            <a:chExt cx="472130" cy="1280233"/>
          </a:xfrm>
        </p:grpSpPr>
        <p:sp>
          <p:nvSpPr>
            <p:cNvPr id="7" name="Freeform 7"/>
            <p:cNvSpPr/>
            <p:nvPr/>
          </p:nvSpPr>
          <p:spPr>
            <a:xfrm>
              <a:off x="0" y="0"/>
              <a:ext cx="472130" cy="1280233"/>
            </a:xfrm>
            <a:custGeom>
              <a:avLst/>
              <a:gdLst/>
              <a:ahLst/>
              <a:cxnLst/>
              <a:rect l="l" t="t" r="r" b="b"/>
              <a:pathLst>
                <a:path w="472130" h="1280233">
                  <a:moveTo>
                    <a:pt x="203200" y="0"/>
                  </a:moveTo>
                  <a:lnTo>
                    <a:pt x="472130" y="0"/>
                  </a:lnTo>
                  <a:lnTo>
                    <a:pt x="268930" y="1280233"/>
                  </a:lnTo>
                  <a:lnTo>
                    <a:pt x="0" y="1280233"/>
                  </a:lnTo>
                  <a:lnTo>
                    <a:pt x="203200" y="0"/>
                  </a:lnTo>
                  <a:close/>
                </a:path>
              </a:pathLst>
            </a:custGeom>
            <a:gradFill rotWithShape="1">
              <a:gsLst>
                <a:gs pos="0">
                  <a:srgbClr val="8D2600">
                    <a:alpha val="100000"/>
                  </a:srgbClr>
                </a:gs>
                <a:gs pos="100000">
                  <a:srgbClr val="FF4500">
                    <a:alpha val="100000"/>
                  </a:srgbClr>
                </a:gs>
              </a:gsLst>
              <a:lin ang="0"/>
            </a:gradFill>
          </p:spPr>
        </p:sp>
        <p:sp>
          <p:nvSpPr>
            <p:cNvPr id="8" name="TextBox 8"/>
            <p:cNvSpPr txBox="1"/>
            <p:nvPr/>
          </p:nvSpPr>
          <p:spPr>
            <a:xfrm>
              <a:off x="101600" y="-57150"/>
              <a:ext cx="268930" cy="1337383"/>
            </a:xfrm>
            <a:prstGeom prst="rect">
              <a:avLst/>
            </a:prstGeom>
          </p:spPr>
          <p:txBody>
            <a:bodyPr lIns="50800" tIns="50800" rIns="50800" bIns="50800" rtlCol="0" anchor="ctr"/>
            <a:lstStyle/>
            <a:p>
              <a:pPr algn="ctr">
                <a:lnSpc>
                  <a:spcPts val="2800"/>
                </a:lnSpc>
              </a:pPr>
            </a:p>
          </p:txBody>
        </p:sp>
      </p:grpSp>
      <p:grpSp>
        <p:nvGrpSpPr>
          <p:cNvPr id="9" name="Group 9"/>
          <p:cNvGrpSpPr/>
          <p:nvPr/>
        </p:nvGrpSpPr>
        <p:grpSpPr>
          <a:xfrm rot="0">
            <a:off x="13421766" y="707957"/>
            <a:ext cx="2602929" cy="2331842"/>
            <a:chOff x="0" y="0"/>
            <a:chExt cx="1429066" cy="1280233"/>
          </a:xfrm>
        </p:grpSpPr>
        <p:sp>
          <p:nvSpPr>
            <p:cNvPr id="10" name="Freeform 10"/>
            <p:cNvSpPr/>
            <p:nvPr/>
          </p:nvSpPr>
          <p:spPr>
            <a:xfrm>
              <a:off x="0" y="0"/>
              <a:ext cx="1429066" cy="1280233"/>
            </a:xfrm>
            <a:custGeom>
              <a:avLst/>
              <a:gdLst/>
              <a:ahLst/>
              <a:cxnLst/>
              <a:rect l="l" t="t" r="r" b="b"/>
              <a:pathLst>
                <a:path w="1429066" h="1280233">
                  <a:moveTo>
                    <a:pt x="203200" y="0"/>
                  </a:moveTo>
                  <a:lnTo>
                    <a:pt x="1429066" y="0"/>
                  </a:lnTo>
                  <a:lnTo>
                    <a:pt x="1225866" y="1280233"/>
                  </a:lnTo>
                  <a:lnTo>
                    <a:pt x="0" y="1280233"/>
                  </a:lnTo>
                  <a:lnTo>
                    <a:pt x="203200" y="0"/>
                  </a:lnTo>
                  <a:close/>
                </a:path>
              </a:pathLst>
            </a:custGeom>
            <a:gradFill rotWithShape="1">
              <a:gsLst>
                <a:gs pos="0">
                  <a:srgbClr val="8D2600">
                    <a:alpha val="100000"/>
                  </a:srgbClr>
                </a:gs>
                <a:gs pos="100000">
                  <a:srgbClr val="FF4500">
                    <a:alpha val="100000"/>
                  </a:srgbClr>
                </a:gs>
              </a:gsLst>
              <a:lin ang="0"/>
            </a:gradFill>
          </p:spPr>
        </p:sp>
        <p:sp>
          <p:nvSpPr>
            <p:cNvPr id="11" name="TextBox 11"/>
            <p:cNvSpPr txBox="1"/>
            <p:nvPr/>
          </p:nvSpPr>
          <p:spPr>
            <a:xfrm>
              <a:off x="101600" y="-57150"/>
              <a:ext cx="1225866" cy="1337383"/>
            </a:xfrm>
            <a:prstGeom prst="rect">
              <a:avLst/>
            </a:prstGeom>
          </p:spPr>
          <p:txBody>
            <a:bodyPr lIns="50800" tIns="50800" rIns="50800" bIns="50800" rtlCol="0" anchor="ctr"/>
            <a:lstStyle/>
            <a:p>
              <a:pPr algn="ctr">
                <a:lnSpc>
                  <a:spcPts val="2800"/>
                </a:lnSpc>
              </a:pPr>
            </a:p>
          </p:txBody>
        </p:sp>
      </p:grpSp>
      <p:sp>
        <p:nvSpPr>
          <p:cNvPr id="12" name="Freeform 12"/>
          <p:cNvSpPr/>
          <p:nvPr/>
        </p:nvSpPr>
        <p:spPr>
          <a:xfrm>
            <a:off x="11292981" y="3039799"/>
            <a:ext cx="8507738" cy="7224487"/>
          </a:xfrm>
          <a:custGeom>
            <a:avLst/>
            <a:gdLst/>
            <a:ahLst/>
            <a:cxnLst/>
            <a:rect l="l" t="t" r="r" b="b"/>
            <a:pathLst>
              <a:path w="8507738" h="7224487">
                <a:moveTo>
                  <a:pt x="0" y="0"/>
                </a:moveTo>
                <a:lnTo>
                  <a:pt x="8507738" y="0"/>
                </a:lnTo>
                <a:lnTo>
                  <a:pt x="8507738" y="7224487"/>
                </a:lnTo>
                <a:lnTo>
                  <a:pt x="0" y="7224487"/>
                </a:lnTo>
                <a:lnTo>
                  <a:pt x="0" y="0"/>
                </a:lnTo>
                <a:close/>
              </a:path>
            </a:pathLst>
          </a:custGeom>
          <a:blipFill>
            <a:blip r:embed="rId2"/>
            <a:stretch>
              <a:fillRect/>
            </a:stretch>
          </a:blipFill>
        </p:spPr>
      </p:sp>
      <p:sp>
        <p:nvSpPr>
          <p:cNvPr id="13" name="Freeform 13"/>
          <p:cNvSpPr/>
          <p:nvPr/>
        </p:nvSpPr>
        <p:spPr>
          <a:xfrm>
            <a:off x="22560" y="0"/>
            <a:ext cx="1370215" cy="1370215"/>
          </a:xfrm>
          <a:custGeom>
            <a:avLst/>
            <a:gdLst/>
            <a:ahLst/>
            <a:cxnLst/>
            <a:rect l="l" t="t" r="r" b="b"/>
            <a:pathLst>
              <a:path w="1370215" h="1370215">
                <a:moveTo>
                  <a:pt x="0" y="0"/>
                </a:moveTo>
                <a:lnTo>
                  <a:pt x="1370215" y="0"/>
                </a:lnTo>
                <a:lnTo>
                  <a:pt x="1370215" y="1370215"/>
                </a:lnTo>
                <a:lnTo>
                  <a:pt x="0" y="1370215"/>
                </a:lnTo>
                <a:lnTo>
                  <a:pt x="0" y="0"/>
                </a:lnTo>
                <a:close/>
              </a:path>
            </a:pathLst>
          </a:custGeom>
          <a:blipFill>
            <a:blip r:embed="rId3"/>
            <a:stretch>
              <a:fillRect/>
            </a:stretch>
          </a:blipFill>
        </p:spPr>
      </p:sp>
      <p:sp>
        <p:nvSpPr>
          <p:cNvPr id="14" name="TextBox 14"/>
          <p:cNvSpPr txBox="1"/>
          <p:nvPr/>
        </p:nvSpPr>
        <p:spPr>
          <a:xfrm>
            <a:off x="348691" y="3838292"/>
            <a:ext cx="14187889" cy="1952432"/>
          </a:xfrm>
          <a:prstGeom prst="rect">
            <a:avLst/>
          </a:prstGeom>
        </p:spPr>
        <p:txBody>
          <a:bodyPr lIns="0" tIns="0" rIns="0" bIns="0" rtlCol="0" anchor="t">
            <a:spAutoFit/>
          </a:bodyPr>
          <a:lstStyle/>
          <a:p>
            <a:pPr algn="l">
              <a:lnSpc>
                <a:spcPts val="14530"/>
              </a:lnSpc>
            </a:pPr>
            <a:r>
              <a:rPr lang="en-US" sz="15295"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rPr>
              <a:t>MARCH MADNESS</a:t>
            </a:r>
            <a:endParaRPr lang="en-US" sz="15295"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endParaRPr>
          </a:p>
        </p:txBody>
      </p:sp>
      <p:sp>
        <p:nvSpPr>
          <p:cNvPr id="15" name="TextBox 15"/>
          <p:cNvSpPr txBox="1"/>
          <p:nvPr/>
        </p:nvSpPr>
        <p:spPr>
          <a:xfrm>
            <a:off x="0" y="5637685"/>
            <a:ext cx="10583191" cy="510187"/>
          </a:xfrm>
          <a:prstGeom prst="rect">
            <a:avLst/>
          </a:prstGeom>
        </p:spPr>
        <p:txBody>
          <a:bodyPr lIns="0" tIns="0" rIns="0" bIns="0" rtlCol="0" anchor="t">
            <a:spAutoFit/>
          </a:bodyPr>
          <a:lstStyle/>
          <a:p>
            <a:pPr algn="r">
              <a:lnSpc>
                <a:spcPts val="4190"/>
              </a:lnSpc>
            </a:pPr>
            <a:r>
              <a:rPr lang="en-US" sz="2465" b="1">
                <a:solidFill>
                  <a:srgbClr val="D3410D"/>
                </a:solidFill>
                <a:latin typeface="Poppins Bold" panose="00000800000000000000"/>
                <a:ea typeface="Poppins Bold" panose="00000800000000000000"/>
                <a:cs typeface="Poppins Bold" panose="00000800000000000000"/>
                <a:sym typeface="Poppins Bold" panose="00000800000000000000"/>
              </a:rPr>
              <a:t>Team: </a:t>
            </a:r>
            <a:r>
              <a:rPr lang="en-US" sz="2465" b="1">
                <a:solidFill>
                  <a:srgbClr val="FFFFFF"/>
                </a:solidFill>
                <a:latin typeface="Poppins Bold" panose="00000800000000000000"/>
                <a:ea typeface="Poppins Bold" panose="00000800000000000000"/>
                <a:cs typeface="Poppins Bold" panose="00000800000000000000"/>
                <a:sym typeface="Poppins Bold" panose="00000800000000000000"/>
              </a:rPr>
              <a:t>Win and Retired</a:t>
            </a:r>
            <a:endParaRPr lang="en-US" sz="2465" b="1">
              <a:solidFill>
                <a:srgbClr val="FFFFFF"/>
              </a:solidFill>
              <a:latin typeface="Poppins Bold" panose="00000800000000000000"/>
              <a:ea typeface="Poppins Bold" panose="00000800000000000000"/>
              <a:cs typeface="Poppins Bold" panose="00000800000000000000"/>
              <a:sym typeface="Poppins Bold" panose="00000800000000000000"/>
            </a:endParaRPr>
          </a:p>
        </p:txBody>
      </p:sp>
      <p:sp>
        <p:nvSpPr>
          <p:cNvPr id="16" name="TextBox 16"/>
          <p:cNvSpPr txBox="1"/>
          <p:nvPr/>
        </p:nvSpPr>
        <p:spPr>
          <a:xfrm>
            <a:off x="8284808" y="6366863"/>
            <a:ext cx="2298383" cy="1452976"/>
          </a:xfrm>
          <a:prstGeom prst="rect">
            <a:avLst/>
          </a:prstGeom>
        </p:spPr>
        <p:txBody>
          <a:bodyPr lIns="0" tIns="0" rIns="0" bIns="0" rtlCol="0" anchor="t">
            <a:spAutoFit/>
          </a:bodyPr>
          <a:lstStyle/>
          <a:p>
            <a:pPr algn="l">
              <a:lnSpc>
                <a:spcPts val="2865"/>
              </a:lnSpc>
            </a:pPr>
            <a:r>
              <a:rPr lang="en-US" sz="2045">
                <a:solidFill>
                  <a:srgbClr val="FFFFFF"/>
                </a:solidFill>
                <a:latin typeface="Poppins" panose="00000500000000000000"/>
                <a:ea typeface="Poppins" panose="00000500000000000000"/>
                <a:cs typeface="Poppins" panose="00000500000000000000"/>
                <a:sym typeface="Poppins" panose="00000500000000000000"/>
              </a:rPr>
              <a:t>Huangkun Chen</a:t>
            </a:r>
            <a:endParaRPr lang="en-US" sz="2045">
              <a:solidFill>
                <a:srgbClr val="FFFFFF"/>
              </a:solidFill>
              <a:latin typeface="Poppins" panose="00000500000000000000"/>
              <a:ea typeface="Poppins" panose="00000500000000000000"/>
              <a:cs typeface="Poppins" panose="00000500000000000000"/>
              <a:sym typeface="Poppins" panose="00000500000000000000"/>
            </a:endParaRPr>
          </a:p>
          <a:p>
            <a:pPr algn="l">
              <a:lnSpc>
                <a:spcPts val="2865"/>
              </a:lnSpc>
            </a:pPr>
            <a:r>
              <a:rPr lang="en-US" sz="2045">
                <a:solidFill>
                  <a:srgbClr val="FFFFFF"/>
                </a:solidFill>
                <a:latin typeface="Poppins" panose="00000500000000000000"/>
                <a:ea typeface="Poppins" panose="00000500000000000000"/>
                <a:cs typeface="Poppins" panose="00000500000000000000"/>
                <a:sym typeface="Poppins" panose="00000500000000000000"/>
              </a:rPr>
              <a:t>Yingtong Wang</a:t>
            </a:r>
            <a:endParaRPr lang="en-US" sz="2045">
              <a:solidFill>
                <a:srgbClr val="FFFFFF"/>
              </a:solidFill>
              <a:latin typeface="Poppins" panose="00000500000000000000"/>
              <a:ea typeface="Poppins" panose="00000500000000000000"/>
              <a:cs typeface="Poppins" panose="00000500000000000000"/>
              <a:sym typeface="Poppins" panose="00000500000000000000"/>
            </a:endParaRPr>
          </a:p>
          <a:p>
            <a:pPr algn="l">
              <a:lnSpc>
                <a:spcPts val="2865"/>
              </a:lnSpc>
            </a:pPr>
            <a:r>
              <a:rPr lang="en-US" sz="2045">
                <a:solidFill>
                  <a:srgbClr val="FFFFFF"/>
                </a:solidFill>
                <a:latin typeface="Poppins" panose="00000500000000000000"/>
                <a:ea typeface="Poppins" panose="00000500000000000000"/>
                <a:cs typeface="Poppins" panose="00000500000000000000"/>
                <a:sym typeface="Poppins" panose="00000500000000000000"/>
              </a:rPr>
              <a:t>Nikhil Ram Atluri</a:t>
            </a:r>
            <a:endParaRPr lang="en-US" sz="2045">
              <a:solidFill>
                <a:srgbClr val="FFFFFF"/>
              </a:solidFill>
              <a:latin typeface="Poppins" panose="00000500000000000000"/>
              <a:ea typeface="Poppins" panose="00000500000000000000"/>
              <a:cs typeface="Poppins" panose="00000500000000000000"/>
              <a:sym typeface="Poppins" panose="00000500000000000000"/>
            </a:endParaRPr>
          </a:p>
          <a:p>
            <a:pPr algn="l">
              <a:lnSpc>
                <a:spcPts val="2865"/>
              </a:lnSpc>
              <a:spcBef>
                <a:spcPct val="0"/>
              </a:spcBef>
            </a:pPr>
            <a:r>
              <a:rPr lang="en-US" sz="2045">
                <a:solidFill>
                  <a:srgbClr val="FFFFFF"/>
                </a:solidFill>
                <a:latin typeface="Poppins" panose="00000500000000000000"/>
                <a:ea typeface="Poppins" panose="00000500000000000000"/>
                <a:cs typeface="Poppins" panose="00000500000000000000"/>
                <a:sym typeface="Poppins" panose="00000500000000000000"/>
              </a:rPr>
              <a:t>Yingjie Chen</a:t>
            </a:r>
            <a:endParaRPr lang="en-US" sz="2045">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17" name="TextBox 17"/>
          <p:cNvSpPr txBox="1"/>
          <p:nvPr/>
        </p:nvSpPr>
        <p:spPr>
          <a:xfrm>
            <a:off x="569135" y="2419066"/>
            <a:ext cx="13065838" cy="1047751"/>
          </a:xfrm>
          <a:prstGeom prst="rect">
            <a:avLst/>
          </a:prstGeom>
        </p:spPr>
        <p:txBody>
          <a:bodyPr lIns="0" tIns="0" rIns="0" bIns="0" rtlCol="0" anchor="t">
            <a:spAutoFit/>
          </a:bodyPr>
          <a:lstStyle/>
          <a:p>
            <a:pPr algn="l">
              <a:lnSpc>
                <a:spcPts val="4200"/>
              </a:lnSpc>
            </a:pPr>
            <a:r>
              <a:rPr lang="en-US" sz="3000" b="1" i="1">
                <a:solidFill>
                  <a:srgbClr val="FFFFFF"/>
                </a:solidFill>
                <a:latin typeface="Poppins Bold Italics" panose="00000800000000000000"/>
                <a:ea typeface="Poppins Bold Italics" panose="00000800000000000000"/>
                <a:cs typeface="Poppins Bold Italics" panose="00000800000000000000"/>
                <a:sym typeface="Poppins Bold Italics" panose="00000800000000000000"/>
              </a:rPr>
              <a:t>Unveiling Fan Bias in NCAA Bracket Predictions: </a:t>
            </a:r>
            <a:endParaRPr lang="en-US" sz="3000" b="1" i="1">
              <a:solidFill>
                <a:srgbClr val="FFFFFF"/>
              </a:solidFill>
              <a:latin typeface="Poppins Bold Italics" panose="00000800000000000000"/>
              <a:ea typeface="Poppins Bold Italics" panose="00000800000000000000"/>
              <a:cs typeface="Poppins Bold Italics" panose="00000800000000000000"/>
              <a:sym typeface="Poppins Bold Italics" panose="00000800000000000000"/>
            </a:endParaRPr>
          </a:p>
          <a:p>
            <a:pPr algn="ctr">
              <a:lnSpc>
                <a:spcPts val="4200"/>
              </a:lnSpc>
            </a:pPr>
            <a:r>
              <a:rPr lang="en-US" sz="3000" i="1">
                <a:solidFill>
                  <a:srgbClr val="FFFFFF"/>
                </a:solidFill>
                <a:latin typeface="Poppins Italics" panose="00000500000000000000"/>
                <a:ea typeface="Poppins Italics" panose="00000500000000000000"/>
                <a:cs typeface="Poppins Italics" panose="00000500000000000000"/>
                <a:sym typeface="Poppins Italics" panose="00000500000000000000"/>
              </a:rPr>
              <a:t>Trends, Accuracy, and the Impact of School Affinity </a:t>
            </a:r>
            <a:endParaRPr lang="en-US" sz="3000" i="1">
              <a:solidFill>
                <a:srgbClr val="FFFFFF"/>
              </a:solidFill>
              <a:latin typeface="Poppins Italics" panose="00000500000000000000"/>
              <a:ea typeface="Poppins Italics" panose="00000500000000000000"/>
              <a:cs typeface="Poppins Italics" panose="00000500000000000000"/>
              <a:sym typeface="Poppins Italics" panose="00000500000000000000"/>
            </a:endParaRPr>
          </a:p>
        </p:txBody>
      </p:sp>
      <p:sp>
        <p:nvSpPr>
          <p:cNvPr id="18" name="TextBox 18"/>
          <p:cNvSpPr txBox="1"/>
          <p:nvPr/>
        </p:nvSpPr>
        <p:spPr>
          <a:xfrm>
            <a:off x="0" y="7972238"/>
            <a:ext cx="10583191" cy="430811"/>
          </a:xfrm>
          <a:prstGeom prst="rect">
            <a:avLst/>
          </a:prstGeom>
        </p:spPr>
        <p:txBody>
          <a:bodyPr lIns="0" tIns="0" rIns="0" bIns="0" rtlCol="0" anchor="t">
            <a:spAutoFit/>
          </a:bodyPr>
          <a:lstStyle/>
          <a:p>
            <a:pPr algn="r">
              <a:lnSpc>
                <a:spcPts val="3510"/>
              </a:lnSpc>
            </a:pPr>
            <a:r>
              <a:rPr lang="en-US" sz="2065" b="1">
                <a:solidFill>
                  <a:srgbClr val="A7A9AC"/>
                </a:solidFill>
                <a:latin typeface="Poppins Bold" panose="00000800000000000000"/>
                <a:ea typeface="Poppins Bold" panose="00000800000000000000"/>
                <a:cs typeface="Poppins Bold" panose="00000800000000000000"/>
                <a:sym typeface="Poppins Bold" panose="00000800000000000000"/>
              </a:rPr>
              <a:t>2025.2</a:t>
            </a:r>
            <a:endParaRPr lang="en-US" sz="2065" b="1">
              <a:solidFill>
                <a:srgbClr val="A7A9AC"/>
              </a:solidFill>
              <a:latin typeface="Poppins Bold" panose="00000800000000000000"/>
              <a:ea typeface="Poppins Bold" panose="00000800000000000000"/>
              <a:cs typeface="Poppins Bold" panose="00000800000000000000"/>
              <a:sym typeface="Poppins Bold" panose="0000080000000000000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22" b="-9222"/>
            </a:stretch>
          </a:blipFill>
        </p:spPr>
      </p:sp>
      <p:grpSp>
        <p:nvGrpSpPr>
          <p:cNvPr id="3" name="Group 3"/>
          <p:cNvGrpSpPr/>
          <p:nvPr/>
        </p:nvGrpSpPr>
        <p:grpSpPr>
          <a:xfrm rot="1362489">
            <a:off x="14677219" y="-806638"/>
            <a:ext cx="4852175" cy="4169838"/>
            <a:chOff x="0" y="0"/>
            <a:chExt cx="812800" cy="698500"/>
          </a:xfrm>
        </p:grpSpPr>
        <p:sp>
          <p:nvSpPr>
            <p:cNvPr id="4" name="Freeform 4"/>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8D2600">
                    <a:alpha val="100000"/>
                  </a:srgbClr>
                </a:gs>
                <a:gs pos="100000">
                  <a:srgbClr val="FF4500">
                    <a:alpha val="100000"/>
                  </a:srgbClr>
                </a:gs>
              </a:gsLst>
              <a:lin ang="0"/>
            </a:gradFill>
          </p:spPr>
        </p:sp>
        <p:sp>
          <p:nvSpPr>
            <p:cNvPr id="5" name="TextBox 5"/>
            <p:cNvSpPr txBox="1"/>
            <p:nvPr/>
          </p:nvSpPr>
          <p:spPr>
            <a:xfrm>
              <a:off x="114300" y="-57150"/>
              <a:ext cx="584200" cy="755650"/>
            </a:xfrm>
            <a:prstGeom prst="rect">
              <a:avLst/>
            </a:prstGeom>
          </p:spPr>
          <p:txBody>
            <a:bodyPr lIns="50800" tIns="50800" rIns="50800" bIns="50800" rtlCol="0" anchor="ctr"/>
            <a:lstStyle/>
            <a:p>
              <a:pPr algn="ctr">
                <a:lnSpc>
                  <a:spcPts val="2800"/>
                </a:lnSpc>
              </a:pPr>
            </a:p>
          </p:txBody>
        </p:sp>
      </p:grpSp>
      <p:sp>
        <p:nvSpPr>
          <p:cNvPr id="6" name="Freeform 6"/>
          <p:cNvSpPr/>
          <p:nvPr/>
        </p:nvSpPr>
        <p:spPr>
          <a:xfrm>
            <a:off x="5815722" y="2798531"/>
            <a:ext cx="2108456" cy="2099127"/>
          </a:xfrm>
          <a:custGeom>
            <a:avLst/>
            <a:gdLst/>
            <a:ahLst/>
            <a:cxnLst/>
            <a:rect l="l" t="t" r="r" b="b"/>
            <a:pathLst>
              <a:path w="2108456" h="2099127">
                <a:moveTo>
                  <a:pt x="0" y="0"/>
                </a:moveTo>
                <a:lnTo>
                  <a:pt x="2108456" y="0"/>
                </a:lnTo>
                <a:lnTo>
                  <a:pt x="2108456" y="2099127"/>
                </a:lnTo>
                <a:lnTo>
                  <a:pt x="0" y="2099127"/>
                </a:lnTo>
                <a:lnTo>
                  <a:pt x="0" y="0"/>
                </a:lnTo>
                <a:close/>
              </a:path>
            </a:pathLst>
          </a:custGeom>
          <a:blipFill>
            <a:blip r:embed="rId2"/>
            <a:stretch>
              <a:fillRect/>
            </a:stretch>
          </a:blipFill>
        </p:spPr>
      </p:sp>
      <p:sp>
        <p:nvSpPr>
          <p:cNvPr id="7" name="Freeform 7"/>
          <p:cNvSpPr/>
          <p:nvPr/>
        </p:nvSpPr>
        <p:spPr>
          <a:xfrm>
            <a:off x="2192830" y="2798531"/>
            <a:ext cx="2099127" cy="2099127"/>
          </a:xfrm>
          <a:custGeom>
            <a:avLst/>
            <a:gdLst/>
            <a:ahLst/>
            <a:cxnLst/>
            <a:rect l="l" t="t" r="r" b="b"/>
            <a:pathLst>
              <a:path w="2099127" h="2099127">
                <a:moveTo>
                  <a:pt x="0" y="0"/>
                </a:moveTo>
                <a:lnTo>
                  <a:pt x="2099126" y="0"/>
                </a:lnTo>
                <a:lnTo>
                  <a:pt x="2099126" y="2099127"/>
                </a:lnTo>
                <a:lnTo>
                  <a:pt x="0" y="2099127"/>
                </a:lnTo>
                <a:lnTo>
                  <a:pt x="0" y="0"/>
                </a:lnTo>
                <a:close/>
              </a:path>
            </a:pathLst>
          </a:custGeom>
          <a:blipFill>
            <a:blip r:embed="rId3"/>
            <a:stretch>
              <a:fillRect/>
            </a:stretch>
          </a:blipFill>
        </p:spPr>
      </p:sp>
      <p:sp>
        <p:nvSpPr>
          <p:cNvPr id="8" name="Freeform 8"/>
          <p:cNvSpPr/>
          <p:nvPr/>
        </p:nvSpPr>
        <p:spPr>
          <a:xfrm>
            <a:off x="9441750" y="2798531"/>
            <a:ext cx="2099127" cy="2099127"/>
          </a:xfrm>
          <a:custGeom>
            <a:avLst/>
            <a:gdLst/>
            <a:ahLst/>
            <a:cxnLst/>
            <a:rect l="l" t="t" r="r" b="b"/>
            <a:pathLst>
              <a:path w="2099127" h="2099127">
                <a:moveTo>
                  <a:pt x="0" y="0"/>
                </a:moveTo>
                <a:lnTo>
                  <a:pt x="2099127" y="0"/>
                </a:lnTo>
                <a:lnTo>
                  <a:pt x="2099127" y="2099127"/>
                </a:lnTo>
                <a:lnTo>
                  <a:pt x="0" y="2099127"/>
                </a:lnTo>
                <a:lnTo>
                  <a:pt x="0" y="0"/>
                </a:lnTo>
                <a:close/>
              </a:path>
            </a:pathLst>
          </a:custGeom>
          <a:blipFill>
            <a:blip r:embed="rId4"/>
            <a:stretch>
              <a:fillRect/>
            </a:stretch>
          </a:blipFill>
        </p:spPr>
      </p:sp>
      <p:sp>
        <p:nvSpPr>
          <p:cNvPr id="9" name="Freeform 9"/>
          <p:cNvSpPr/>
          <p:nvPr/>
        </p:nvSpPr>
        <p:spPr>
          <a:xfrm>
            <a:off x="13007077" y="2798531"/>
            <a:ext cx="2099127" cy="2099127"/>
          </a:xfrm>
          <a:custGeom>
            <a:avLst/>
            <a:gdLst/>
            <a:ahLst/>
            <a:cxnLst/>
            <a:rect l="l" t="t" r="r" b="b"/>
            <a:pathLst>
              <a:path w="2099127" h="2099127">
                <a:moveTo>
                  <a:pt x="0" y="0"/>
                </a:moveTo>
                <a:lnTo>
                  <a:pt x="2099127" y="0"/>
                </a:lnTo>
                <a:lnTo>
                  <a:pt x="2099127" y="2099127"/>
                </a:lnTo>
                <a:lnTo>
                  <a:pt x="0" y="2099127"/>
                </a:lnTo>
                <a:lnTo>
                  <a:pt x="0" y="0"/>
                </a:lnTo>
                <a:close/>
              </a:path>
            </a:pathLst>
          </a:custGeom>
          <a:blipFill>
            <a:blip r:embed="rId5"/>
            <a:stretch>
              <a:fillRect/>
            </a:stretch>
          </a:blipFill>
        </p:spPr>
      </p:sp>
      <p:sp>
        <p:nvSpPr>
          <p:cNvPr id="10" name="TextBox 10"/>
          <p:cNvSpPr txBox="1"/>
          <p:nvPr/>
        </p:nvSpPr>
        <p:spPr>
          <a:xfrm>
            <a:off x="839814" y="1109843"/>
            <a:ext cx="12995379" cy="1162050"/>
          </a:xfrm>
          <a:prstGeom prst="rect">
            <a:avLst/>
          </a:prstGeom>
        </p:spPr>
        <p:txBody>
          <a:bodyPr lIns="0" tIns="0" rIns="0" bIns="0" rtlCol="0" anchor="t">
            <a:spAutoFit/>
          </a:bodyPr>
          <a:lstStyle/>
          <a:p>
            <a:pPr algn="l">
              <a:lnSpc>
                <a:spcPts val="8550"/>
              </a:lnSpc>
            </a:pPr>
            <a:r>
              <a:rPr lang="en-US" sz="90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rPr>
              <a:t>TEAM ROLES &amp; CONTRIBUTIONS</a:t>
            </a:r>
            <a:endParaRPr lang="en-US" sz="90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endParaRPr>
          </a:p>
        </p:txBody>
      </p:sp>
      <p:sp>
        <p:nvSpPr>
          <p:cNvPr id="11" name="TextBox 11"/>
          <p:cNvSpPr txBox="1"/>
          <p:nvPr/>
        </p:nvSpPr>
        <p:spPr>
          <a:xfrm>
            <a:off x="1894393" y="5055354"/>
            <a:ext cx="2696000" cy="401116"/>
          </a:xfrm>
          <a:prstGeom prst="rect">
            <a:avLst/>
          </a:prstGeom>
        </p:spPr>
        <p:txBody>
          <a:bodyPr lIns="0" tIns="0" rIns="0" bIns="0" rtlCol="0" anchor="t">
            <a:spAutoFit/>
          </a:bodyPr>
          <a:lstStyle/>
          <a:p>
            <a:pPr algn="ctr">
              <a:lnSpc>
                <a:spcPts val="2935"/>
              </a:lnSpc>
            </a:pPr>
            <a:r>
              <a:rPr lang="en-US" sz="2445" b="1">
                <a:solidFill>
                  <a:srgbClr val="FFFFFF"/>
                </a:solidFill>
                <a:latin typeface="Poppins Bold" panose="00000800000000000000"/>
                <a:ea typeface="Poppins Bold" panose="00000800000000000000"/>
                <a:cs typeface="Poppins Bold" panose="00000800000000000000"/>
                <a:sym typeface="Poppins Bold" panose="00000800000000000000"/>
              </a:rPr>
              <a:t>Huangkun Chen</a:t>
            </a:r>
            <a:endParaRPr lang="en-US" sz="2445" b="1">
              <a:solidFill>
                <a:srgbClr val="FFFFFF"/>
              </a:solidFill>
              <a:latin typeface="Poppins Bold" panose="00000800000000000000"/>
              <a:ea typeface="Poppins Bold" panose="00000800000000000000"/>
              <a:cs typeface="Poppins Bold" panose="00000800000000000000"/>
              <a:sym typeface="Poppins Bold" panose="00000800000000000000"/>
            </a:endParaRPr>
          </a:p>
        </p:txBody>
      </p:sp>
      <p:sp>
        <p:nvSpPr>
          <p:cNvPr id="12" name="TextBox 12"/>
          <p:cNvSpPr txBox="1"/>
          <p:nvPr/>
        </p:nvSpPr>
        <p:spPr>
          <a:xfrm>
            <a:off x="5521950" y="5055354"/>
            <a:ext cx="2696000" cy="401116"/>
          </a:xfrm>
          <a:prstGeom prst="rect">
            <a:avLst/>
          </a:prstGeom>
        </p:spPr>
        <p:txBody>
          <a:bodyPr lIns="0" tIns="0" rIns="0" bIns="0" rtlCol="0" anchor="t">
            <a:spAutoFit/>
          </a:bodyPr>
          <a:lstStyle/>
          <a:p>
            <a:pPr algn="ctr">
              <a:lnSpc>
                <a:spcPts val="2935"/>
              </a:lnSpc>
            </a:pPr>
            <a:r>
              <a:rPr lang="en-US" sz="2445" b="1">
                <a:solidFill>
                  <a:srgbClr val="FFFFFF"/>
                </a:solidFill>
                <a:latin typeface="Poppins Bold" panose="00000800000000000000"/>
                <a:ea typeface="Poppins Bold" panose="00000800000000000000"/>
                <a:cs typeface="Poppins Bold" panose="00000800000000000000"/>
                <a:sym typeface="Poppins Bold" panose="00000800000000000000"/>
              </a:rPr>
              <a:t>Yingtong Wang</a:t>
            </a:r>
            <a:endParaRPr lang="en-US" sz="2445" b="1">
              <a:solidFill>
                <a:srgbClr val="FFFFFF"/>
              </a:solidFill>
              <a:latin typeface="Poppins Bold" panose="00000800000000000000"/>
              <a:ea typeface="Poppins Bold" panose="00000800000000000000"/>
              <a:cs typeface="Poppins Bold" panose="00000800000000000000"/>
              <a:sym typeface="Poppins Bold" panose="00000800000000000000"/>
            </a:endParaRPr>
          </a:p>
        </p:txBody>
      </p:sp>
      <p:sp>
        <p:nvSpPr>
          <p:cNvPr id="13" name="TextBox 13"/>
          <p:cNvSpPr txBox="1"/>
          <p:nvPr/>
        </p:nvSpPr>
        <p:spPr>
          <a:xfrm>
            <a:off x="9143314" y="5055354"/>
            <a:ext cx="2696000" cy="401116"/>
          </a:xfrm>
          <a:prstGeom prst="rect">
            <a:avLst/>
          </a:prstGeom>
        </p:spPr>
        <p:txBody>
          <a:bodyPr lIns="0" tIns="0" rIns="0" bIns="0" rtlCol="0" anchor="t">
            <a:spAutoFit/>
          </a:bodyPr>
          <a:lstStyle/>
          <a:p>
            <a:pPr algn="ctr">
              <a:lnSpc>
                <a:spcPts val="2935"/>
              </a:lnSpc>
            </a:pPr>
            <a:r>
              <a:rPr lang="en-US" sz="2445" b="1">
                <a:solidFill>
                  <a:srgbClr val="FFFFFF"/>
                </a:solidFill>
                <a:latin typeface="Poppins Bold" panose="00000800000000000000"/>
                <a:ea typeface="Poppins Bold" panose="00000800000000000000"/>
                <a:cs typeface="Poppins Bold" panose="00000800000000000000"/>
                <a:sym typeface="Poppins Bold" panose="00000800000000000000"/>
              </a:rPr>
              <a:t>Yingjie Chen</a:t>
            </a:r>
            <a:endParaRPr lang="en-US" sz="2445" b="1">
              <a:solidFill>
                <a:srgbClr val="FFFFFF"/>
              </a:solidFill>
              <a:latin typeface="Poppins Bold" panose="00000800000000000000"/>
              <a:ea typeface="Poppins Bold" panose="00000800000000000000"/>
              <a:cs typeface="Poppins Bold" panose="00000800000000000000"/>
              <a:sym typeface="Poppins Bold" panose="00000800000000000000"/>
            </a:endParaRPr>
          </a:p>
        </p:txBody>
      </p:sp>
      <p:sp>
        <p:nvSpPr>
          <p:cNvPr id="14" name="TextBox 14"/>
          <p:cNvSpPr txBox="1"/>
          <p:nvPr/>
        </p:nvSpPr>
        <p:spPr>
          <a:xfrm>
            <a:off x="12575937" y="5055354"/>
            <a:ext cx="3035353" cy="375920"/>
          </a:xfrm>
          <a:prstGeom prst="rect">
            <a:avLst/>
          </a:prstGeom>
        </p:spPr>
        <p:txBody>
          <a:bodyPr lIns="0" tIns="0" rIns="0" bIns="0" rtlCol="0" anchor="t">
            <a:spAutoFit/>
          </a:bodyPr>
          <a:lstStyle/>
          <a:p>
            <a:pPr algn="ctr">
              <a:lnSpc>
                <a:spcPts val="2935"/>
              </a:lnSpc>
            </a:pPr>
            <a:r>
              <a:rPr lang="en-US" sz="2445" b="1">
                <a:solidFill>
                  <a:srgbClr val="FFFFFF"/>
                </a:solidFill>
                <a:latin typeface="Poppins Bold" panose="00000800000000000000"/>
                <a:ea typeface="Poppins Bold" panose="00000800000000000000"/>
                <a:cs typeface="Poppins Bold" panose="00000800000000000000"/>
                <a:sym typeface="Poppins Bold" panose="00000800000000000000"/>
              </a:rPr>
              <a:t>Nikhil Ram Atluri</a:t>
            </a:r>
            <a:endParaRPr lang="en-US" sz="2445" b="1">
              <a:solidFill>
                <a:srgbClr val="FFFFFF"/>
              </a:solidFill>
              <a:latin typeface="Poppins Bold" panose="00000800000000000000"/>
              <a:ea typeface="Poppins Bold" panose="00000800000000000000"/>
              <a:cs typeface="Poppins Bold" panose="00000800000000000000"/>
              <a:sym typeface="Poppins Bold" panose="00000800000000000000"/>
            </a:endParaRPr>
          </a:p>
        </p:txBody>
      </p:sp>
      <p:sp>
        <p:nvSpPr>
          <p:cNvPr id="15" name="TextBox 15"/>
          <p:cNvSpPr txBox="1"/>
          <p:nvPr/>
        </p:nvSpPr>
        <p:spPr>
          <a:xfrm>
            <a:off x="1600621" y="5839020"/>
            <a:ext cx="3307032" cy="1530381"/>
          </a:xfrm>
          <a:prstGeom prst="rect">
            <a:avLst/>
          </a:prstGeom>
        </p:spPr>
        <p:txBody>
          <a:bodyPr lIns="0" tIns="0" rIns="0" bIns="0" rtlCol="0" anchor="t">
            <a:spAutoFit/>
          </a:bodyPr>
          <a:lstStyle/>
          <a:p>
            <a:pPr algn="ctr">
              <a:lnSpc>
                <a:spcPts val="3080"/>
              </a:lnSpc>
            </a:pPr>
            <a:r>
              <a:rPr lang="en-US" sz="2565" b="1">
                <a:solidFill>
                  <a:srgbClr val="D3410D"/>
                </a:solidFill>
                <a:latin typeface="Poppins Bold" panose="00000800000000000000"/>
                <a:ea typeface="Poppins Bold" panose="00000800000000000000"/>
                <a:cs typeface="Poppins Bold" panose="00000800000000000000"/>
                <a:sym typeface="Poppins Bold" panose="00000800000000000000"/>
              </a:rPr>
              <a:t>Leader</a:t>
            </a:r>
            <a:endParaRPr lang="en-US" sz="2565" b="1">
              <a:solidFill>
                <a:srgbClr val="D3410D"/>
              </a:solidFill>
              <a:latin typeface="Poppins Bold" panose="00000800000000000000"/>
              <a:ea typeface="Poppins Bold" panose="00000800000000000000"/>
              <a:cs typeface="Poppins Bold" panose="00000800000000000000"/>
              <a:sym typeface="Poppins Bold" panose="00000800000000000000"/>
            </a:endParaRPr>
          </a:p>
          <a:p>
            <a:pPr algn="ctr">
              <a:lnSpc>
                <a:spcPts val="2935"/>
              </a:lnSpc>
            </a:pPr>
            <a:r>
              <a:rPr lang="en-US" sz="2445">
                <a:solidFill>
                  <a:srgbClr val="FFFFFF"/>
                </a:solidFill>
                <a:latin typeface="Poppins" panose="00000500000000000000"/>
                <a:ea typeface="Poppins" panose="00000500000000000000"/>
                <a:cs typeface="Poppins" panose="00000500000000000000"/>
                <a:sym typeface="Poppins" panose="00000500000000000000"/>
              </a:rPr>
              <a:t>Presentation</a:t>
            </a:r>
            <a:endParaRPr lang="en-US" sz="2445">
              <a:solidFill>
                <a:srgbClr val="FFFFFF"/>
              </a:solidFill>
              <a:latin typeface="Poppins" panose="00000500000000000000"/>
              <a:ea typeface="Poppins" panose="00000500000000000000"/>
              <a:cs typeface="Poppins" panose="00000500000000000000"/>
              <a:sym typeface="Poppins" panose="00000500000000000000"/>
            </a:endParaRPr>
          </a:p>
          <a:p>
            <a:pPr algn="ctr">
              <a:lnSpc>
                <a:spcPts val="2935"/>
              </a:lnSpc>
            </a:pPr>
            <a:r>
              <a:rPr lang="en-US" sz="2445">
                <a:solidFill>
                  <a:srgbClr val="FFFFFF"/>
                </a:solidFill>
                <a:latin typeface="Poppins" panose="00000500000000000000"/>
                <a:ea typeface="Poppins" panose="00000500000000000000"/>
                <a:cs typeface="Poppins" panose="00000500000000000000"/>
                <a:sym typeface="Poppins" panose="00000500000000000000"/>
              </a:rPr>
              <a:t>Tableau Analysis</a:t>
            </a:r>
            <a:endParaRPr lang="en-US" sz="2445">
              <a:solidFill>
                <a:srgbClr val="FFFFFF"/>
              </a:solidFill>
              <a:latin typeface="Poppins" panose="00000500000000000000"/>
              <a:ea typeface="Poppins" panose="00000500000000000000"/>
              <a:cs typeface="Poppins" panose="00000500000000000000"/>
              <a:sym typeface="Poppins" panose="00000500000000000000"/>
            </a:endParaRPr>
          </a:p>
          <a:p>
            <a:pPr algn="ctr">
              <a:lnSpc>
                <a:spcPts val="2935"/>
              </a:lnSpc>
            </a:pPr>
            <a:r>
              <a:rPr lang="en-US" sz="2445">
                <a:solidFill>
                  <a:srgbClr val="FFFFFF"/>
                </a:solidFill>
                <a:latin typeface="Poppins" panose="00000500000000000000"/>
                <a:ea typeface="Poppins" panose="00000500000000000000"/>
                <a:cs typeface="Poppins" panose="00000500000000000000"/>
                <a:sym typeface="Poppins" panose="00000500000000000000"/>
              </a:rPr>
              <a:t>Kaggle Submission</a:t>
            </a:r>
            <a:endParaRPr lang="en-US" sz="2445">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16" name="TextBox 16"/>
          <p:cNvSpPr txBox="1"/>
          <p:nvPr/>
        </p:nvSpPr>
        <p:spPr>
          <a:xfrm>
            <a:off x="5216434" y="5850662"/>
            <a:ext cx="3307032" cy="1518739"/>
          </a:xfrm>
          <a:prstGeom prst="rect">
            <a:avLst/>
          </a:prstGeom>
        </p:spPr>
        <p:txBody>
          <a:bodyPr lIns="0" tIns="0" rIns="0" bIns="0" rtlCol="0" anchor="t">
            <a:spAutoFit/>
          </a:bodyPr>
          <a:lstStyle/>
          <a:p>
            <a:pPr algn="ctr">
              <a:lnSpc>
                <a:spcPts val="2935"/>
              </a:lnSpc>
            </a:pPr>
            <a:r>
              <a:rPr lang="en-US" sz="2445">
                <a:solidFill>
                  <a:srgbClr val="FFFFFF"/>
                </a:solidFill>
                <a:latin typeface="Poppins" panose="00000500000000000000"/>
                <a:ea typeface="Poppins" panose="00000500000000000000"/>
                <a:cs typeface="Poppins" panose="00000500000000000000"/>
                <a:sym typeface="Poppins" panose="00000500000000000000"/>
              </a:rPr>
              <a:t>Presentation</a:t>
            </a:r>
            <a:endParaRPr lang="en-US" sz="2445">
              <a:solidFill>
                <a:srgbClr val="FFFFFF"/>
              </a:solidFill>
              <a:latin typeface="Poppins" panose="00000500000000000000"/>
              <a:ea typeface="Poppins" panose="00000500000000000000"/>
              <a:cs typeface="Poppins" panose="00000500000000000000"/>
              <a:sym typeface="Poppins" panose="00000500000000000000"/>
            </a:endParaRPr>
          </a:p>
          <a:p>
            <a:pPr algn="ctr">
              <a:lnSpc>
                <a:spcPts val="2935"/>
              </a:lnSpc>
            </a:pPr>
            <a:r>
              <a:rPr lang="en-US" sz="2445">
                <a:solidFill>
                  <a:srgbClr val="FFFFFF"/>
                </a:solidFill>
                <a:latin typeface="Poppins" panose="00000500000000000000"/>
                <a:ea typeface="Poppins" panose="00000500000000000000"/>
                <a:cs typeface="Poppins" panose="00000500000000000000"/>
                <a:sym typeface="Poppins" panose="00000500000000000000"/>
              </a:rPr>
              <a:t>Tableau Analysis</a:t>
            </a:r>
            <a:endParaRPr lang="en-US" sz="2445">
              <a:solidFill>
                <a:srgbClr val="FFFFFF"/>
              </a:solidFill>
              <a:latin typeface="Poppins" panose="00000500000000000000"/>
              <a:ea typeface="Poppins" panose="00000500000000000000"/>
              <a:cs typeface="Poppins" panose="00000500000000000000"/>
              <a:sym typeface="Poppins" panose="00000500000000000000"/>
            </a:endParaRPr>
          </a:p>
          <a:p>
            <a:pPr algn="ctr">
              <a:lnSpc>
                <a:spcPts val="2935"/>
              </a:lnSpc>
            </a:pPr>
            <a:r>
              <a:rPr lang="en-US" sz="2445">
                <a:solidFill>
                  <a:srgbClr val="FFFFFF"/>
                </a:solidFill>
                <a:latin typeface="Poppins" panose="00000500000000000000"/>
                <a:ea typeface="Poppins" panose="00000500000000000000"/>
                <a:cs typeface="Poppins" panose="00000500000000000000"/>
                <a:sym typeface="Poppins" panose="00000500000000000000"/>
              </a:rPr>
              <a:t>Kaggle Submission</a:t>
            </a:r>
            <a:endParaRPr lang="en-US" sz="2445">
              <a:solidFill>
                <a:srgbClr val="FFFFFF"/>
              </a:solidFill>
              <a:latin typeface="Poppins" panose="00000500000000000000"/>
              <a:ea typeface="Poppins" panose="00000500000000000000"/>
              <a:cs typeface="Poppins" panose="00000500000000000000"/>
              <a:sym typeface="Poppins" panose="00000500000000000000"/>
            </a:endParaRPr>
          </a:p>
          <a:p>
            <a:pPr algn="ctr">
              <a:lnSpc>
                <a:spcPts val="2935"/>
              </a:lnSpc>
            </a:pPr>
            <a:r>
              <a:rPr lang="en-US" sz="2445">
                <a:solidFill>
                  <a:srgbClr val="FFFFFF"/>
                </a:solidFill>
                <a:latin typeface="Poppins" panose="00000500000000000000"/>
                <a:ea typeface="Poppins" panose="00000500000000000000"/>
                <a:cs typeface="Poppins" panose="00000500000000000000"/>
                <a:sym typeface="Poppins" panose="00000500000000000000"/>
              </a:rPr>
              <a:t>Task Allocation</a:t>
            </a:r>
            <a:endParaRPr lang="en-US" sz="2445">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17" name="TextBox 17"/>
          <p:cNvSpPr txBox="1"/>
          <p:nvPr/>
        </p:nvSpPr>
        <p:spPr>
          <a:xfrm>
            <a:off x="8828266" y="6223203"/>
            <a:ext cx="3307032" cy="773657"/>
          </a:xfrm>
          <a:prstGeom prst="rect">
            <a:avLst/>
          </a:prstGeom>
        </p:spPr>
        <p:txBody>
          <a:bodyPr lIns="0" tIns="0" rIns="0" bIns="0" rtlCol="0" anchor="t">
            <a:spAutoFit/>
          </a:bodyPr>
          <a:lstStyle/>
          <a:p>
            <a:pPr algn="ctr">
              <a:lnSpc>
                <a:spcPts val="2935"/>
              </a:lnSpc>
            </a:pPr>
            <a:r>
              <a:rPr lang="en-US" sz="2445">
                <a:solidFill>
                  <a:srgbClr val="FFFFFF"/>
                </a:solidFill>
                <a:latin typeface="Poppins" panose="00000500000000000000"/>
                <a:ea typeface="Poppins" panose="00000500000000000000"/>
                <a:cs typeface="Poppins" panose="00000500000000000000"/>
                <a:sym typeface="Poppins" panose="00000500000000000000"/>
              </a:rPr>
              <a:t>Tableau Analysis</a:t>
            </a:r>
            <a:endParaRPr lang="en-US" sz="2445">
              <a:solidFill>
                <a:srgbClr val="FFFFFF"/>
              </a:solidFill>
              <a:latin typeface="Poppins" panose="00000500000000000000"/>
              <a:ea typeface="Poppins" panose="00000500000000000000"/>
              <a:cs typeface="Poppins" panose="00000500000000000000"/>
              <a:sym typeface="Poppins" panose="00000500000000000000"/>
            </a:endParaRPr>
          </a:p>
          <a:p>
            <a:pPr algn="ctr">
              <a:lnSpc>
                <a:spcPts val="2935"/>
              </a:lnSpc>
            </a:pPr>
            <a:r>
              <a:rPr lang="en-US" sz="2445">
                <a:solidFill>
                  <a:srgbClr val="FFFFFF"/>
                </a:solidFill>
                <a:latin typeface="Poppins" panose="00000500000000000000"/>
                <a:ea typeface="Poppins" panose="00000500000000000000"/>
                <a:cs typeface="Poppins" panose="00000500000000000000"/>
                <a:sym typeface="Poppins" panose="00000500000000000000"/>
              </a:rPr>
              <a:t>Communication</a:t>
            </a:r>
            <a:endParaRPr lang="en-US" sz="2445">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18" name="TextBox 18"/>
          <p:cNvSpPr txBox="1"/>
          <p:nvPr/>
        </p:nvSpPr>
        <p:spPr>
          <a:xfrm>
            <a:off x="12440098" y="6223203"/>
            <a:ext cx="3307032" cy="773657"/>
          </a:xfrm>
          <a:prstGeom prst="rect">
            <a:avLst/>
          </a:prstGeom>
        </p:spPr>
        <p:txBody>
          <a:bodyPr lIns="0" tIns="0" rIns="0" bIns="0" rtlCol="0" anchor="t">
            <a:spAutoFit/>
          </a:bodyPr>
          <a:lstStyle/>
          <a:p>
            <a:pPr algn="ctr">
              <a:lnSpc>
                <a:spcPts val="2935"/>
              </a:lnSpc>
            </a:pPr>
            <a:r>
              <a:rPr lang="en-US" sz="2445">
                <a:solidFill>
                  <a:srgbClr val="FFFFFF"/>
                </a:solidFill>
                <a:latin typeface="Poppins" panose="00000500000000000000"/>
                <a:ea typeface="Poppins" panose="00000500000000000000"/>
                <a:cs typeface="Poppins" panose="00000500000000000000"/>
                <a:sym typeface="Poppins" panose="00000500000000000000"/>
              </a:rPr>
              <a:t>Tableau Analysis</a:t>
            </a:r>
            <a:endParaRPr lang="en-US" sz="2445">
              <a:solidFill>
                <a:srgbClr val="FFFFFF"/>
              </a:solidFill>
              <a:latin typeface="Poppins" panose="00000500000000000000"/>
              <a:ea typeface="Poppins" panose="00000500000000000000"/>
              <a:cs typeface="Poppins" panose="00000500000000000000"/>
              <a:sym typeface="Poppins" panose="00000500000000000000"/>
            </a:endParaRPr>
          </a:p>
          <a:p>
            <a:pPr algn="ctr">
              <a:lnSpc>
                <a:spcPts val="2935"/>
              </a:lnSpc>
            </a:pPr>
            <a:r>
              <a:rPr lang="en-US" sz="2445">
                <a:solidFill>
                  <a:srgbClr val="FFFFFF"/>
                </a:solidFill>
                <a:latin typeface="Poppins" panose="00000500000000000000"/>
                <a:ea typeface="Poppins" panose="00000500000000000000"/>
                <a:cs typeface="Poppins" panose="00000500000000000000"/>
                <a:sym typeface="Poppins" panose="00000500000000000000"/>
              </a:rPr>
              <a:t>Kaggle Submission</a:t>
            </a:r>
            <a:endParaRPr lang="en-US" sz="2445">
              <a:solidFill>
                <a:srgbClr val="FFFFFF"/>
              </a:solidFill>
              <a:latin typeface="Poppins" panose="00000500000000000000"/>
              <a:ea typeface="Poppins" panose="00000500000000000000"/>
              <a:cs typeface="Poppins" panose="00000500000000000000"/>
              <a:sym typeface="Poppins" panose="00000500000000000000"/>
            </a:endParaRPr>
          </a:p>
        </p:txBody>
      </p:sp>
      <p:grpSp>
        <p:nvGrpSpPr>
          <p:cNvPr id="19" name="Group 19"/>
          <p:cNvGrpSpPr/>
          <p:nvPr/>
        </p:nvGrpSpPr>
        <p:grpSpPr>
          <a:xfrm rot="1362489">
            <a:off x="-777195" y="8678585"/>
            <a:ext cx="3123449" cy="2684214"/>
            <a:chOff x="0" y="0"/>
            <a:chExt cx="812800" cy="698500"/>
          </a:xfrm>
        </p:grpSpPr>
        <p:sp>
          <p:nvSpPr>
            <p:cNvPr id="20" name="Freeform 20"/>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8D2600">
                    <a:alpha val="100000"/>
                  </a:srgbClr>
                </a:gs>
                <a:gs pos="100000">
                  <a:srgbClr val="FF4500">
                    <a:alpha val="100000"/>
                  </a:srgbClr>
                </a:gs>
              </a:gsLst>
              <a:lin ang="0"/>
            </a:gradFill>
          </p:spPr>
        </p:sp>
        <p:sp>
          <p:nvSpPr>
            <p:cNvPr id="21" name="TextBox 21"/>
            <p:cNvSpPr txBox="1"/>
            <p:nvPr/>
          </p:nvSpPr>
          <p:spPr>
            <a:xfrm>
              <a:off x="114300" y="-57150"/>
              <a:ext cx="584200" cy="755650"/>
            </a:xfrm>
            <a:prstGeom prst="rect">
              <a:avLst/>
            </a:prstGeom>
          </p:spPr>
          <p:txBody>
            <a:bodyPr lIns="50800" tIns="50800" rIns="50800" bIns="50800" rtlCol="0" anchor="ctr"/>
            <a:lstStyle/>
            <a:p>
              <a:pPr algn="ctr">
                <a:lnSpc>
                  <a:spcPts val="2800"/>
                </a:lnSpc>
              </a:pPr>
            </a:p>
          </p:txBody>
        </p:sp>
      </p:grpSp>
      <p:sp>
        <p:nvSpPr>
          <p:cNvPr id="22" name="TextBox 22"/>
          <p:cNvSpPr txBox="1"/>
          <p:nvPr/>
        </p:nvSpPr>
        <p:spPr>
          <a:xfrm>
            <a:off x="1519989" y="8121876"/>
            <a:ext cx="3468296" cy="319405"/>
          </a:xfrm>
          <a:prstGeom prst="rect">
            <a:avLst/>
          </a:prstGeom>
        </p:spPr>
        <p:txBody>
          <a:bodyPr lIns="0" tIns="0" rIns="0" bIns="0" rtlCol="0" anchor="t">
            <a:spAutoFit/>
          </a:bodyPr>
          <a:lstStyle/>
          <a:p>
            <a:pPr algn="ctr">
              <a:lnSpc>
                <a:spcPts val="2360"/>
              </a:lnSpc>
            </a:pPr>
            <a:r>
              <a:rPr lang="en-US" sz="2000">
                <a:solidFill>
                  <a:srgbClr val="FFFFFF"/>
                </a:solidFill>
                <a:latin typeface="Poppins" panose="00000500000000000000"/>
                <a:ea typeface="Poppins" panose="00000500000000000000"/>
                <a:cs typeface="Poppins" panose="00000500000000000000"/>
                <a:sym typeface="Poppins" panose="00000500000000000000"/>
              </a:rPr>
              <a:t>chen5180@purdue.edu</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23" name="TextBox 23"/>
          <p:cNvSpPr txBox="1"/>
          <p:nvPr/>
        </p:nvSpPr>
        <p:spPr>
          <a:xfrm>
            <a:off x="2269724" y="7664676"/>
            <a:ext cx="1945339" cy="333375"/>
          </a:xfrm>
          <a:prstGeom prst="rect">
            <a:avLst/>
          </a:prstGeom>
        </p:spPr>
        <p:txBody>
          <a:bodyPr lIns="0" tIns="0" rIns="0" bIns="0" rtlCol="0" anchor="t">
            <a:spAutoFit/>
          </a:bodyPr>
          <a:lstStyle/>
          <a:p>
            <a:pPr algn="ctr">
              <a:lnSpc>
                <a:spcPts val="2400"/>
              </a:lnSpc>
            </a:pPr>
            <a:r>
              <a:rPr lang="en-US" sz="2000" b="1">
                <a:solidFill>
                  <a:srgbClr val="D3410D"/>
                </a:solidFill>
                <a:latin typeface="Poppins Bold" panose="00000800000000000000"/>
                <a:ea typeface="Poppins Bold" panose="00000800000000000000"/>
                <a:cs typeface="Poppins Bold" panose="00000800000000000000"/>
                <a:sym typeface="Poppins Bold" panose="00000800000000000000"/>
              </a:rPr>
              <a:t>Email</a:t>
            </a:r>
            <a:endParaRPr lang="en-US" sz="2000" b="1">
              <a:solidFill>
                <a:srgbClr val="D3410D"/>
              </a:solidFill>
              <a:latin typeface="Poppins Bold" panose="00000800000000000000"/>
              <a:ea typeface="Poppins Bold" panose="00000800000000000000"/>
              <a:cs typeface="Poppins Bold" panose="00000800000000000000"/>
              <a:sym typeface="Poppins Bold" panose="00000800000000000000"/>
            </a:endParaRPr>
          </a:p>
        </p:txBody>
      </p:sp>
      <p:sp>
        <p:nvSpPr>
          <p:cNvPr id="24" name="TextBox 24"/>
          <p:cNvSpPr txBox="1"/>
          <p:nvPr/>
        </p:nvSpPr>
        <p:spPr>
          <a:xfrm>
            <a:off x="6091674" y="9701287"/>
            <a:ext cx="5130566" cy="319405"/>
          </a:xfrm>
          <a:prstGeom prst="rect">
            <a:avLst/>
          </a:prstGeom>
        </p:spPr>
        <p:txBody>
          <a:bodyPr lIns="0" tIns="0" rIns="0" bIns="0" rtlCol="0" anchor="t">
            <a:spAutoFit/>
          </a:bodyPr>
          <a:lstStyle/>
          <a:p>
            <a:pPr algn="ctr">
              <a:lnSpc>
                <a:spcPts val="2360"/>
              </a:lnSpc>
            </a:pPr>
            <a:r>
              <a:rPr lang="en-US" sz="2000">
                <a:solidFill>
                  <a:srgbClr val="FFFFFF"/>
                </a:solidFill>
                <a:latin typeface="Poppins" panose="00000500000000000000"/>
                <a:ea typeface="Poppins" panose="00000500000000000000"/>
                <a:cs typeface="Poppins" panose="00000500000000000000"/>
                <a:sym typeface="Poppins" panose="00000500000000000000"/>
              </a:rPr>
              <a:t>We are all Purdue Univeristy MSBAIMer !</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25" name="TextBox 25"/>
          <p:cNvSpPr txBox="1"/>
          <p:nvPr/>
        </p:nvSpPr>
        <p:spPr>
          <a:xfrm>
            <a:off x="5135802" y="8121876"/>
            <a:ext cx="3468296" cy="319405"/>
          </a:xfrm>
          <a:prstGeom prst="rect">
            <a:avLst/>
          </a:prstGeom>
        </p:spPr>
        <p:txBody>
          <a:bodyPr lIns="0" tIns="0" rIns="0" bIns="0" rtlCol="0" anchor="t">
            <a:spAutoFit/>
          </a:bodyPr>
          <a:lstStyle/>
          <a:p>
            <a:pPr algn="ctr">
              <a:lnSpc>
                <a:spcPts val="2360"/>
              </a:lnSpc>
            </a:pPr>
            <a:r>
              <a:rPr lang="en-US" sz="2000">
                <a:solidFill>
                  <a:srgbClr val="FFFFFF"/>
                </a:solidFill>
                <a:latin typeface="Poppins" panose="00000500000000000000"/>
                <a:ea typeface="Poppins" panose="00000500000000000000"/>
                <a:cs typeface="Poppins" panose="00000500000000000000"/>
                <a:sym typeface="Poppins" panose="00000500000000000000"/>
              </a:rPr>
              <a:t>wang6679@purdue.edu</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26" name="TextBox 26"/>
          <p:cNvSpPr txBox="1"/>
          <p:nvPr/>
        </p:nvSpPr>
        <p:spPr>
          <a:xfrm>
            <a:off x="5778882" y="7691648"/>
            <a:ext cx="1945339" cy="333375"/>
          </a:xfrm>
          <a:prstGeom prst="rect">
            <a:avLst/>
          </a:prstGeom>
        </p:spPr>
        <p:txBody>
          <a:bodyPr lIns="0" tIns="0" rIns="0" bIns="0" rtlCol="0" anchor="t">
            <a:spAutoFit/>
          </a:bodyPr>
          <a:lstStyle/>
          <a:p>
            <a:pPr algn="ctr">
              <a:lnSpc>
                <a:spcPts val="2400"/>
              </a:lnSpc>
            </a:pPr>
            <a:r>
              <a:rPr lang="en-US" sz="2000" b="1">
                <a:solidFill>
                  <a:srgbClr val="D3410D"/>
                </a:solidFill>
                <a:latin typeface="Poppins Bold" panose="00000800000000000000"/>
                <a:ea typeface="Poppins Bold" panose="00000800000000000000"/>
                <a:cs typeface="Poppins Bold" panose="00000800000000000000"/>
                <a:sym typeface="Poppins Bold" panose="00000800000000000000"/>
              </a:rPr>
              <a:t>Email</a:t>
            </a:r>
            <a:endParaRPr lang="en-US" sz="2000" b="1">
              <a:solidFill>
                <a:srgbClr val="D3410D"/>
              </a:solidFill>
              <a:latin typeface="Poppins Bold" panose="00000800000000000000"/>
              <a:ea typeface="Poppins Bold" panose="00000800000000000000"/>
              <a:cs typeface="Poppins Bold" panose="00000800000000000000"/>
              <a:sym typeface="Poppins Bold" panose="00000800000000000000"/>
            </a:endParaRPr>
          </a:p>
        </p:txBody>
      </p:sp>
      <p:sp>
        <p:nvSpPr>
          <p:cNvPr id="27" name="TextBox 27"/>
          <p:cNvSpPr txBox="1"/>
          <p:nvPr/>
        </p:nvSpPr>
        <p:spPr>
          <a:xfrm>
            <a:off x="8757166" y="8148848"/>
            <a:ext cx="3468296" cy="319405"/>
          </a:xfrm>
          <a:prstGeom prst="rect">
            <a:avLst/>
          </a:prstGeom>
        </p:spPr>
        <p:txBody>
          <a:bodyPr lIns="0" tIns="0" rIns="0" bIns="0" rtlCol="0" anchor="t">
            <a:spAutoFit/>
          </a:bodyPr>
          <a:lstStyle/>
          <a:p>
            <a:pPr algn="ctr">
              <a:lnSpc>
                <a:spcPts val="2360"/>
              </a:lnSpc>
            </a:pPr>
            <a:r>
              <a:rPr lang="en-US" sz="2000">
                <a:solidFill>
                  <a:srgbClr val="FFFFFF"/>
                </a:solidFill>
                <a:latin typeface="Poppins" panose="00000500000000000000"/>
                <a:ea typeface="Poppins" panose="00000500000000000000"/>
                <a:cs typeface="Poppins" panose="00000500000000000000"/>
                <a:sym typeface="Poppins" panose="00000500000000000000"/>
              </a:rPr>
              <a:t>chen5301@purdue.edu</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28" name="TextBox 28"/>
          <p:cNvSpPr txBox="1"/>
          <p:nvPr/>
        </p:nvSpPr>
        <p:spPr>
          <a:xfrm>
            <a:off x="9518644" y="7664676"/>
            <a:ext cx="1945339" cy="333375"/>
          </a:xfrm>
          <a:prstGeom prst="rect">
            <a:avLst/>
          </a:prstGeom>
        </p:spPr>
        <p:txBody>
          <a:bodyPr lIns="0" tIns="0" rIns="0" bIns="0" rtlCol="0" anchor="t">
            <a:spAutoFit/>
          </a:bodyPr>
          <a:lstStyle/>
          <a:p>
            <a:pPr algn="ctr">
              <a:lnSpc>
                <a:spcPts val="2400"/>
              </a:lnSpc>
            </a:pPr>
            <a:r>
              <a:rPr lang="en-US" sz="2000" b="1">
                <a:solidFill>
                  <a:srgbClr val="D3410D"/>
                </a:solidFill>
                <a:latin typeface="Poppins Bold" panose="00000800000000000000"/>
                <a:ea typeface="Poppins Bold" panose="00000800000000000000"/>
                <a:cs typeface="Poppins Bold" panose="00000800000000000000"/>
                <a:sym typeface="Poppins Bold" panose="00000800000000000000"/>
              </a:rPr>
              <a:t>Email</a:t>
            </a:r>
            <a:endParaRPr lang="en-US" sz="2000" b="1">
              <a:solidFill>
                <a:srgbClr val="D3410D"/>
              </a:solidFill>
              <a:latin typeface="Poppins Bold" panose="00000800000000000000"/>
              <a:ea typeface="Poppins Bold" panose="00000800000000000000"/>
              <a:cs typeface="Poppins Bold" panose="00000800000000000000"/>
              <a:sym typeface="Poppins Bold" panose="00000800000000000000"/>
            </a:endParaRPr>
          </a:p>
        </p:txBody>
      </p:sp>
      <p:sp>
        <p:nvSpPr>
          <p:cNvPr id="29" name="TextBox 29"/>
          <p:cNvSpPr txBox="1"/>
          <p:nvPr/>
        </p:nvSpPr>
        <p:spPr>
          <a:xfrm>
            <a:off x="12325629" y="8148848"/>
            <a:ext cx="3468296" cy="319405"/>
          </a:xfrm>
          <a:prstGeom prst="rect">
            <a:avLst/>
          </a:prstGeom>
        </p:spPr>
        <p:txBody>
          <a:bodyPr lIns="0" tIns="0" rIns="0" bIns="0" rtlCol="0" anchor="t">
            <a:spAutoFit/>
          </a:bodyPr>
          <a:lstStyle/>
          <a:p>
            <a:pPr algn="ctr">
              <a:lnSpc>
                <a:spcPts val="2360"/>
              </a:lnSpc>
            </a:pPr>
            <a:r>
              <a:rPr lang="en-US" sz="2000">
                <a:solidFill>
                  <a:srgbClr val="FFFFFF"/>
                </a:solidFill>
                <a:latin typeface="Poppins" panose="00000500000000000000"/>
                <a:ea typeface="Poppins" panose="00000500000000000000"/>
                <a:cs typeface="Poppins" panose="00000500000000000000"/>
                <a:sym typeface="Poppins" panose="00000500000000000000"/>
              </a:rPr>
              <a:t>atlurin@purdue.edu</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30" name="TextBox 30"/>
          <p:cNvSpPr txBox="1"/>
          <p:nvPr/>
        </p:nvSpPr>
        <p:spPr>
          <a:xfrm>
            <a:off x="13120944" y="7691648"/>
            <a:ext cx="1945339" cy="333375"/>
          </a:xfrm>
          <a:prstGeom prst="rect">
            <a:avLst/>
          </a:prstGeom>
        </p:spPr>
        <p:txBody>
          <a:bodyPr lIns="0" tIns="0" rIns="0" bIns="0" rtlCol="0" anchor="t">
            <a:spAutoFit/>
          </a:bodyPr>
          <a:lstStyle/>
          <a:p>
            <a:pPr algn="ctr">
              <a:lnSpc>
                <a:spcPts val="2400"/>
              </a:lnSpc>
            </a:pPr>
            <a:r>
              <a:rPr lang="en-US" sz="2000" b="1">
                <a:solidFill>
                  <a:srgbClr val="D3410D"/>
                </a:solidFill>
                <a:latin typeface="Poppins Bold" panose="00000800000000000000"/>
                <a:ea typeface="Poppins Bold" panose="00000800000000000000"/>
                <a:cs typeface="Poppins Bold" panose="00000800000000000000"/>
                <a:sym typeface="Poppins Bold" panose="00000800000000000000"/>
              </a:rPr>
              <a:t>Email</a:t>
            </a:r>
            <a:endParaRPr lang="en-US" sz="2000" b="1">
              <a:solidFill>
                <a:srgbClr val="D3410D"/>
              </a:solidFill>
              <a:latin typeface="Poppins Bold" panose="00000800000000000000"/>
              <a:ea typeface="Poppins Bold" panose="00000800000000000000"/>
              <a:cs typeface="Poppins Bold" panose="00000800000000000000"/>
              <a:sym typeface="Poppins Bold" panose="0000080000000000000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1188349" y="1784005"/>
            <a:ext cx="9344750" cy="1162050"/>
          </a:xfrm>
          <a:prstGeom prst="rect">
            <a:avLst/>
          </a:prstGeom>
        </p:spPr>
        <p:txBody>
          <a:bodyPr lIns="0" tIns="0" rIns="0" bIns="0" rtlCol="0" anchor="t">
            <a:spAutoFit/>
          </a:bodyPr>
          <a:lstStyle/>
          <a:p>
            <a:pPr marL="0" lvl="0" indent="0" algn="l">
              <a:lnSpc>
                <a:spcPts val="8550"/>
              </a:lnSpc>
              <a:spcBef>
                <a:spcPct val="0"/>
              </a:spcBef>
            </a:pPr>
            <a:r>
              <a:rPr lang="en-US" sz="90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rPr>
              <a:t>TABLE OF CONTENTS</a:t>
            </a:r>
            <a:endParaRPr lang="en-US" sz="90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endParaRPr>
          </a:p>
        </p:txBody>
      </p:sp>
      <p:sp>
        <p:nvSpPr>
          <p:cNvPr id="3" name="TextBox 3"/>
          <p:cNvSpPr txBox="1"/>
          <p:nvPr/>
        </p:nvSpPr>
        <p:spPr>
          <a:xfrm>
            <a:off x="1028700" y="1146175"/>
            <a:ext cx="1873255" cy="263525"/>
          </a:xfrm>
          <a:prstGeom prst="rect">
            <a:avLst/>
          </a:prstGeom>
        </p:spPr>
        <p:txBody>
          <a:bodyPr lIns="0" tIns="0" rIns="0" bIns="0" rtlCol="0" anchor="t">
            <a:spAutoFit/>
          </a:bodyPr>
          <a:lstStyle/>
          <a:p>
            <a:pPr algn="l">
              <a:lnSpc>
                <a:spcPts val="1900"/>
              </a:lnSpc>
            </a:pPr>
            <a:r>
              <a:rPr lang="en-US" sz="20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rPr>
              <a:t>CCAC</a:t>
            </a:r>
            <a:endParaRPr lang="en-US" sz="20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endParaRPr>
          </a:p>
        </p:txBody>
      </p:sp>
      <p:sp>
        <p:nvSpPr>
          <p:cNvPr id="4" name="TextBox 4"/>
          <p:cNvSpPr txBox="1"/>
          <p:nvPr/>
        </p:nvSpPr>
        <p:spPr>
          <a:xfrm>
            <a:off x="2296091" y="3042830"/>
            <a:ext cx="7719883" cy="625476"/>
          </a:xfrm>
          <a:prstGeom prst="rect">
            <a:avLst/>
          </a:prstGeom>
        </p:spPr>
        <p:txBody>
          <a:bodyPr lIns="0" tIns="0" rIns="0" bIns="0" rtlCol="0" anchor="t">
            <a:spAutoFit/>
          </a:bodyPr>
          <a:lstStyle/>
          <a:p>
            <a:pPr algn="l">
              <a:lnSpc>
                <a:spcPts val="4900"/>
              </a:lnSpc>
            </a:pPr>
            <a:r>
              <a:rPr lang="en-US" sz="3500" b="1">
                <a:solidFill>
                  <a:srgbClr val="FFFFFF"/>
                </a:solidFill>
                <a:latin typeface="Poppins Bold" panose="00000800000000000000"/>
                <a:ea typeface="Poppins Bold" panose="00000800000000000000"/>
                <a:cs typeface="Poppins Bold" panose="00000800000000000000"/>
                <a:sym typeface="Poppins Bold" panose="00000800000000000000"/>
              </a:rPr>
              <a:t>Introduction &amp; Problem Framing</a:t>
            </a:r>
            <a:endParaRPr lang="en-US" sz="3500" b="1">
              <a:solidFill>
                <a:srgbClr val="FFFFFF"/>
              </a:solidFill>
              <a:latin typeface="Poppins Bold" panose="00000800000000000000"/>
              <a:ea typeface="Poppins Bold" panose="00000800000000000000"/>
              <a:cs typeface="Poppins Bold" panose="00000800000000000000"/>
              <a:sym typeface="Poppins Bold" panose="00000800000000000000"/>
            </a:endParaRPr>
          </a:p>
        </p:txBody>
      </p:sp>
      <p:sp>
        <p:nvSpPr>
          <p:cNvPr id="5" name="TextBox 5"/>
          <p:cNvSpPr txBox="1"/>
          <p:nvPr/>
        </p:nvSpPr>
        <p:spPr>
          <a:xfrm>
            <a:off x="877978" y="3220631"/>
            <a:ext cx="1873255" cy="460374"/>
          </a:xfrm>
          <a:prstGeom prst="rect">
            <a:avLst/>
          </a:prstGeom>
        </p:spPr>
        <p:txBody>
          <a:bodyPr lIns="0" tIns="0" rIns="0" bIns="0" rtlCol="0" anchor="t">
            <a:spAutoFit/>
          </a:bodyPr>
          <a:lstStyle/>
          <a:p>
            <a:pPr algn="l">
              <a:lnSpc>
                <a:spcPts val="3515"/>
              </a:lnSpc>
            </a:pPr>
            <a:r>
              <a:rPr lang="en-US" sz="37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rPr>
              <a:t>PART 1</a:t>
            </a:r>
            <a:endParaRPr lang="en-US" sz="37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endParaRPr>
          </a:p>
        </p:txBody>
      </p:sp>
      <p:sp>
        <p:nvSpPr>
          <p:cNvPr id="6" name="TextBox 6"/>
          <p:cNvSpPr txBox="1"/>
          <p:nvPr/>
        </p:nvSpPr>
        <p:spPr>
          <a:xfrm>
            <a:off x="2277041" y="5120525"/>
            <a:ext cx="7719883" cy="625476"/>
          </a:xfrm>
          <a:prstGeom prst="rect">
            <a:avLst/>
          </a:prstGeom>
        </p:spPr>
        <p:txBody>
          <a:bodyPr lIns="0" tIns="0" rIns="0" bIns="0" rtlCol="0" anchor="t">
            <a:spAutoFit/>
          </a:bodyPr>
          <a:lstStyle/>
          <a:p>
            <a:pPr algn="l">
              <a:lnSpc>
                <a:spcPts val="4900"/>
              </a:lnSpc>
            </a:pPr>
            <a:r>
              <a:rPr lang="en-US" sz="3500" b="1">
                <a:solidFill>
                  <a:srgbClr val="FFFFFF"/>
                </a:solidFill>
                <a:latin typeface="Poppins Bold" panose="00000800000000000000"/>
                <a:ea typeface="Poppins Bold" panose="00000800000000000000"/>
                <a:cs typeface="Poppins Bold" panose="00000800000000000000"/>
                <a:sym typeface="Poppins Bold" panose="00000800000000000000"/>
              </a:rPr>
              <a:t>Data &amp; Feature Engineering</a:t>
            </a:r>
            <a:endParaRPr lang="en-US" sz="3500" b="1">
              <a:solidFill>
                <a:srgbClr val="FFFFFF"/>
              </a:solidFill>
              <a:latin typeface="Poppins Bold" panose="00000800000000000000"/>
              <a:ea typeface="Poppins Bold" panose="00000800000000000000"/>
              <a:cs typeface="Poppins Bold" panose="00000800000000000000"/>
              <a:sym typeface="Poppins Bold" panose="00000800000000000000"/>
            </a:endParaRPr>
          </a:p>
        </p:txBody>
      </p:sp>
      <p:sp>
        <p:nvSpPr>
          <p:cNvPr id="7" name="TextBox 7"/>
          <p:cNvSpPr txBox="1"/>
          <p:nvPr/>
        </p:nvSpPr>
        <p:spPr>
          <a:xfrm>
            <a:off x="2277041" y="7143001"/>
            <a:ext cx="7719883" cy="625476"/>
          </a:xfrm>
          <a:prstGeom prst="rect">
            <a:avLst/>
          </a:prstGeom>
        </p:spPr>
        <p:txBody>
          <a:bodyPr lIns="0" tIns="0" rIns="0" bIns="0" rtlCol="0" anchor="t">
            <a:spAutoFit/>
          </a:bodyPr>
          <a:lstStyle/>
          <a:p>
            <a:pPr algn="l">
              <a:lnSpc>
                <a:spcPts val="4900"/>
              </a:lnSpc>
            </a:pPr>
            <a:r>
              <a:rPr lang="en-US" sz="3500" b="1">
                <a:solidFill>
                  <a:srgbClr val="FFFFFF"/>
                </a:solidFill>
                <a:latin typeface="Poppins Bold" panose="00000800000000000000"/>
                <a:ea typeface="Poppins Bold" panose="00000800000000000000"/>
                <a:cs typeface="Poppins Bold" panose="00000800000000000000"/>
                <a:sym typeface="Poppins Bold" panose="00000800000000000000"/>
              </a:rPr>
              <a:t>Predictive Modeling &amp; Analysis</a:t>
            </a:r>
            <a:endParaRPr lang="en-US" sz="3500" b="1">
              <a:solidFill>
                <a:srgbClr val="FFFFFF"/>
              </a:solidFill>
              <a:latin typeface="Poppins Bold" panose="00000800000000000000"/>
              <a:ea typeface="Poppins Bold" panose="00000800000000000000"/>
              <a:cs typeface="Poppins Bold" panose="00000800000000000000"/>
              <a:sym typeface="Poppins Bold" panose="00000800000000000000"/>
            </a:endParaRPr>
          </a:p>
        </p:txBody>
      </p:sp>
      <p:sp>
        <p:nvSpPr>
          <p:cNvPr id="8" name="TextBox 8"/>
          <p:cNvSpPr txBox="1"/>
          <p:nvPr/>
        </p:nvSpPr>
        <p:spPr>
          <a:xfrm>
            <a:off x="11965579" y="3079247"/>
            <a:ext cx="7719883" cy="625476"/>
          </a:xfrm>
          <a:prstGeom prst="rect">
            <a:avLst/>
          </a:prstGeom>
        </p:spPr>
        <p:txBody>
          <a:bodyPr lIns="0" tIns="0" rIns="0" bIns="0" rtlCol="0" anchor="t">
            <a:spAutoFit/>
          </a:bodyPr>
          <a:lstStyle/>
          <a:p>
            <a:pPr algn="l">
              <a:lnSpc>
                <a:spcPts val="4900"/>
              </a:lnSpc>
            </a:pPr>
            <a:r>
              <a:rPr lang="en-US" sz="3500" b="1">
                <a:solidFill>
                  <a:srgbClr val="FFFFFF"/>
                </a:solidFill>
                <a:latin typeface="Poppins Bold" panose="00000800000000000000"/>
                <a:ea typeface="Poppins Bold" panose="00000800000000000000"/>
                <a:cs typeface="Poppins Bold" panose="00000800000000000000"/>
                <a:sym typeface="Poppins Bold" panose="00000800000000000000"/>
              </a:rPr>
              <a:t>Key Findings &amp; Insights</a:t>
            </a:r>
            <a:endParaRPr lang="en-US" sz="3500" b="1">
              <a:solidFill>
                <a:srgbClr val="FFFFFF"/>
              </a:solidFill>
              <a:latin typeface="Poppins Bold" panose="00000800000000000000"/>
              <a:ea typeface="Poppins Bold" panose="00000800000000000000"/>
              <a:cs typeface="Poppins Bold" panose="00000800000000000000"/>
              <a:sym typeface="Poppins Bold" panose="00000800000000000000"/>
            </a:endParaRPr>
          </a:p>
        </p:txBody>
      </p:sp>
      <p:sp>
        <p:nvSpPr>
          <p:cNvPr id="9" name="TextBox 9"/>
          <p:cNvSpPr txBox="1"/>
          <p:nvPr/>
        </p:nvSpPr>
        <p:spPr>
          <a:xfrm>
            <a:off x="11965579" y="5522664"/>
            <a:ext cx="7719883" cy="625476"/>
          </a:xfrm>
          <a:prstGeom prst="rect">
            <a:avLst/>
          </a:prstGeom>
        </p:spPr>
        <p:txBody>
          <a:bodyPr lIns="0" tIns="0" rIns="0" bIns="0" rtlCol="0" anchor="t">
            <a:spAutoFit/>
          </a:bodyPr>
          <a:lstStyle/>
          <a:p>
            <a:pPr algn="l">
              <a:lnSpc>
                <a:spcPts val="4900"/>
              </a:lnSpc>
            </a:pPr>
            <a:r>
              <a:rPr lang="en-US" sz="3500" b="1">
                <a:solidFill>
                  <a:srgbClr val="FFFFFF"/>
                </a:solidFill>
                <a:latin typeface="Poppins Bold" panose="00000800000000000000"/>
                <a:ea typeface="Poppins Bold" panose="00000800000000000000"/>
                <a:cs typeface="Poppins Bold" panose="00000800000000000000"/>
                <a:sym typeface="Poppins Bold" panose="00000800000000000000"/>
              </a:rPr>
              <a:t>Conclusion &amp; Future Work</a:t>
            </a:r>
            <a:endParaRPr lang="en-US" sz="3500" b="1">
              <a:solidFill>
                <a:srgbClr val="FFFFFF"/>
              </a:solidFill>
              <a:latin typeface="Poppins Bold" panose="00000800000000000000"/>
              <a:ea typeface="Poppins Bold" panose="00000800000000000000"/>
              <a:cs typeface="Poppins Bold" panose="00000800000000000000"/>
              <a:sym typeface="Poppins Bold" panose="00000800000000000000"/>
            </a:endParaRPr>
          </a:p>
        </p:txBody>
      </p:sp>
      <p:sp>
        <p:nvSpPr>
          <p:cNvPr id="10" name="TextBox 10"/>
          <p:cNvSpPr txBox="1"/>
          <p:nvPr/>
        </p:nvSpPr>
        <p:spPr>
          <a:xfrm>
            <a:off x="2277041" y="5831726"/>
            <a:ext cx="1563767" cy="358775"/>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Poppins" panose="00000500000000000000"/>
                <a:ea typeface="Poppins" panose="00000500000000000000"/>
                <a:cs typeface="Poppins" panose="00000500000000000000"/>
                <a:sym typeface="Poppins" panose="00000500000000000000"/>
              </a:rPr>
              <a:t>Data Source</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11" name="TextBox 11"/>
          <p:cNvSpPr txBox="1"/>
          <p:nvPr/>
        </p:nvSpPr>
        <p:spPr>
          <a:xfrm>
            <a:off x="2277041" y="6285751"/>
            <a:ext cx="2484954" cy="358775"/>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Poppins" panose="00000500000000000000"/>
                <a:ea typeface="Poppins" panose="00000500000000000000"/>
                <a:cs typeface="Poppins" panose="00000500000000000000"/>
                <a:sym typeface="Poppins" panose="00000500000000000000"/>
              </a:rPr>
              <a:t>Data Preprocessing</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12" name="TextBox 12"/>
          <p:cNvSpPr txBox="1"/>
          <p:nvPr/>
        </p:nvSpPr>
        <p:spPr>
          <a:xfrm>
            <a:off x="2277041" y="6701676"/>
            <a:ext cx="2371130" cy="358775"/>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Poppins" panose="00000500000000000000"/>
                <a:ea typeface="Poppins" panose="00000500000000000000"/>
                <a:cs typeface="Poppins" panose="00000500000000000000"/>
                <a:sym typeface="Poppins" panose="00000500000000000000"/>
              </a:rPr>
              <a:t>Data Relationships</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13" name="TextBox 13"/>
          <p:cNvSpPr txBox="1"/>
          <p:nvPr/>
        </p:nvSpPr>
        <p:spPr>
          <a:xfrm>
            <a:off x="11965579" y="3814046"/>
            <a:ext cx="1830229" cy="358775"/>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Poppins" panose="00000500000000000000"/>
                <a:ea typeface="Poppins" panose="00000500000000000000"/>
                <a:cs typeface="Poppins" panose="00000500000000000000"/>
                <a:sym typeface="Poppins" panose="00000500000000000000"/>
              </a:rPr>
              <a:t>Trend Analysis</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14" name="TextBox 14"/>
          <p:cNvSpPr txBox="1"/>
          <p:nvPr/>
        </p:nvSpPr>
        <p:spPr>
          <a:xfrm>
            <a:off x="11984391" y="4247400"/>
            <a:ext cx="3892748" cy="358775"/>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Poppins" panose="00000500000000000000"/>
                <a:ea typeface="Poppins" panose="00000500000000000000"/>
                <a:cs typeface="Poppins" panose="00000500000000000000"/>
                <a:sym typeface="Poppins" panose="00000500000000000000"/>
              </a:rPr>
              <a:t>Bias Detection (School affinity)</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15" name="TextBox 15"/>
          <p:cNvSpPr txBox="1"/>
          <p:nvPr/>
        </p:nvSpPr>
        <p:spPr>
          <a:xfrm>
            <a:off x="11965579" y="4706981"/>
            <a:ext cx="2575560" cy="358775"/>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Poppins" panose="00000500000000000000"/>
                <a:ea typeface="Poppins" panose="00000500000000000000"/>
                <a:cs typeface="Poppins" panose="00000500000000000000"/>
                <a:sym typeface="Poppins" panose="00000500000000000000"/>
              </a:rPr>
              <a:t>Prediction vs. Reality</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16" name="TextBox 16"/>
          <p:cNvSpPr txBox="1"/>
          <p:nvPr/>
        </p:nvSpPr>
        <p:spPr>
          <a:xfrm>
            <a:off x="11965579" y="5097214"/>
            <a:ext cx="3219926" cy="358775"/>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Poppins" panose="00000500000000000000"/>
                <a:ea typeface="Poppins" panose="00000500000000000000"/>
                <a:cs typeface="Poppins" panose="00000500000000000000"/>
                <a:sym typeface="Poppins" panose="00000500000000000000"/>
              </a:rPr>
              <a:t>Home Advantage Impact</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17" name="TextBox 17"/>
          <p:cNvSpPr txBox="1"/>
          <p:nvPr/>
        </p:nvSpPr>
        <p:spPr>
          <a:xfrm>
            <a:off x="11984391" y="6176715"/>
            <a:ext cx="1945005" cy="358775"/>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Poppins" panose="00000500000000000000"/>
                <a:ea typeface="Poppins" panose="00000500000000000000"/>
                <a:cs typeface="Poppins" panose="00000500000000000000"/>
                <a:sym typeface="Poppins" panose="00000500000000000000"/>
              </a:rPr>
              <a:t>Key Takeaways</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18" name="TextBox 18"/>
          <p:cNvSpPr txBox="1"/>
          <p:nvPr/>
        </p:nvSpPr>
        <p:spPr>
          <a:xfrm>
            <a:off x="11965579" y="6590303"/>
            <a:ext cx="1501616" cy="358775"/>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Poppins" panose="00000500000000000000"/>
                <a:ea typeface="Poppins" panose="00000500000000000000"/>
                <a:cs typeface="Poppins" panose="00000500000000000000"/>
                <a:sym typeface="Poppins" panose="00000500000000000000"/>
              </a:rPr>
              <a:t>Future Work</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19" name="TextBox 19"/>
          <p:cNvSpPr txBox="1"/>
          <p:nvPr/>
        </p:nvSpPr>
        <p:spPr>
          <a:xfrm>
            <a:off x="877978" y="5309437"/>
            <a:ext cx="1873255" cy="460374"/>
          </a:xfrm>
          <a:prstGeom prst="rect">
            <a:avLst/>
          </a:prstGeom>
        </p:spPr>
        <p:txBody>
          <a:bodyPr lIns="0" tIns="0" rIns="0" bIns="0" rtlCol="0" anchor="t">
            <a:spAutoFit/>
          </a:bodyPr>
          <a:lstStyle/>
          <a:p>
            <a:pPr algn="l">
              <a:lnSpc>
                <a:spcPts val="3515"/>
              </a:lnSpc>
            </a:pPr>
            <a:r>
              <a:rPr lang="en-US" sz="37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rPr>
              <a:t>PART 2</a:t>
            </a:r>
            <a:endParaRPr lang="en-US" sz="37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endParaRPr>
          </a:p>
        </p:txBody>
      </p:sp>
      <p:sp>
        <p:nvSpPr>
          <p:cNvPr id="20" name="TextBox 20"/>
          <p:cNvSpPr txBox="1"/>
          <p:nvPr/>
        </p:nvSpPr>
        <p:spPr>
          <a:xfrm>
            <a:off x="877978" y="7403351"/>
            <a:ext cx="1873255" cy="460374"/>
          </a:xfrm>
          <a:prstGeom prst="rect">
            <a:avLst/>
          </a:prstGeom>
        </p:spPr>
        <p:txBody>
          <a:bodyPr lIns="0" tIns="0" rIns="0" bIns="0" rtlCol="0" anchor="t">
            <a:spAutoFit/>
          </a:bodyPr>
          <a:lstStyle/>
          <a:p>
            <a:pPr algn="l">
              <a:lnSpc>
                <a:spcPts val="3515"/>
              </a:lnSpc>
            </a:pPr>
            <a:r>
              <a:rPr lang="en-US" sz="37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rPr>
              <a:t>PART 3</a:t>
            </a:r>
            <a:endParaRPr lang="en-US" sz="37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endParaRPr>
          </a:p>
        </p:txBody>
      </p:sp>
      <p:sp>
        <p:nvSpPr>
          <p:cNvPr id="21" name="TextBox 21"/>
          <p:cNvSpPr txBox="1"/>
          <p:nvPr/>
        </p:nvSpPr>
        <p:spPr>
          <a:xfrm>
            <a:off x="10533099" y="3220631"/>
            <a:ext cx="1873255" cy="460374"/>
          </a:xfrm>
          <a:prstGeom prst="rect">
            <a:avLst/>
          </a:prstGeom>
        </p:spPr>
        <p:txBody>
          <a:bodyPr lIns="0" tIns="0" rIns="0" bIns="0" rtlCol="0" anchor="t">
            <a:spAutoFit/>
          </a:bodyPr>
          <a:lstStyle/>
          <a:p>
            <a:pPr algn="l">
              <a:lnSpc>
                <a:spcPts val="3515"/>
              </a:lnSpc>
            </a:pPr>
            <a:r>
              <a:rPr lang="en-US" sz="37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rPr>
              <a:t>PART 4</a:t>
            </a:r>
            <a:endParaRPr lang="en-US" sz="37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endParaRPr>
          </a:p>
        </p:txBody>
      </p:sp>
      <p:sp>
        <p:nvSpPr>
          <p:cNvPr id="22" name="TextBox 22"/>
          <p:cNvSpPr txBox="1"/>
          <p:nvPr/>
        </p:nvSpPr>
        <p:spPr>
          <a:xfrm>
            <a:off x="10533099" y="5706314"/>
            <a:ext cx="1873255" cy="460374"/>
          </a:xfrm>
          <a:prstGeom prst="rect">
            <a:avLst/>
          </a:prstGeom>
        </p:spPr>
        <p:txBody>
          <a:bodyPr lIns="0" tIns="0" rIns="0" bIns="0" rtlCol="0" anchor="t">
            <a:spAutoFit/>
          </a:bodyPr>
          <a:lstStyle/>
          <a:p>
            <a:pPr algn="l">
              <a:lnSpc>
                <a:spcPts val="3515"/>
              </a:lnSpc>
            </a:pPr>
            <a:r>
              <a:rPr lang="en-US" sz="37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rPr>
              <a:t>PART 5</a:t>
            </a:r>
            <a:endParaRPr lang="en-US" sz="37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endParaRPr>
          </a:p>
        </p:txBody>
      </p:sp>
      <p:sp>
        <p:nvSpPr>
          <p:cNvPr id="23" name="AutoShape 23"/>
          <p:cNvSpPr/>
          <p:nvPr/>
        </p:nvSpPr>
        <p:spPr>
          <a:xfrm flipH="1">
            <a:off x="10015974" y="3003472"/>
            <a:ext cx="19050" cy="5935667"/>
          </a:xfrm>
          <a:prstGeom prst="line">
            <a:avLst/>
          </a:prstGeom>
          <a:ln w="85725" cap="flat">
            <a:solidFill>
              <a:srgbClr val="A7A9AC"/>
            </a:solidFill>
            <a:prstDash val="lgDash"/>
            <a:headEnd type="none" w="sm" len="sm"/>
            <a:tailEnd type="none" w="sm" len="sm"/>
          </a:ln>
        </p:spPr>
      </p:sp>
      <p:sp>
        <p:nvSpPr>
          <p:cNvPr id="24" name="TextBox 24"/>
          <p:cNvSpPr txBox="1"/>
          <p:nvPr/>
        </p:nvSpPr>
        <p:spPr>
          <a:xfrm>
            <a:off x="10533099" y="7266702"/>
            <a:ext cx="1873255" cy="460374"/>
          </a:xfrm>
          <a:prstGeom prst="rect">
            <a:avLst/>
          </a:prstGeom>
        </p:spPr>
        <p:txBody>
          <a:bodyPr lIns="0" tIns="0" rIns="0" bIns="0" rtlCol="0" anchor="t">
            <a:spAutoFit/>
          </a:bodyPr>
          <a:lstStyle/>
          <a:p>
            <a:pPr algn="l">
              <a:lnSpc>
                <a:spcPts val="3515"/>
              </a:lnSpc>
            </a:pPr>
            <a:r>
              <a:rPr lang="en-US" sz="37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rPr>
              <a:t>APPENDIX</a:t>
            </a:r>
            <a:endParaRPr lang="en-US" sz="37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endParaRPr>
          </a:p>
        </p:txBody>
      </p:sp>
      <p:sp>
        <p:nvSpPr>
          <p:cNvPr id="25" name="TextBox 25"/>
          <p:cNvSpPr txBox="1"/>
          <p:nvPr/>
        </p:nvSpPr>
        <p:spPr>
          <a:xfrm>
            <a:off x="11965579" y="7892300"/>
            <a:ext cx="2513647" cy="358775"/>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Poppins" panose="00000500000000000000"/>
                <a:ea typeface="Poppins" panose="00000500000000000000"/>
                <a:cs typeface="Poppins" panose="00000500000000000000"/>
                <a:sym typeface="Poppins" panose="00000500000000000000"/>
              </a:rPr>
              <a:t>Team Contributions</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26" name="TextBox 26"/>
          <p:cNvSpPr txBox="1"/>
          <p:nvPr/>
        </p:nvSpPr>
        <p:spPr>
          <a:xfrm>
            <a:off x="11965579" y="8232025"/>
            <a:ext cx="2359462" cy="358775"/>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Poppins" panose="00000500000000000000"/>
                <a:ea typeface="Poppins" panose="00000500000000000000"/>
                <a:cs typeface="Poppins" panose="00000500000000000000"/>
                <a:sym typeface="Poppins" panose="00000500000000000000"/>
              </a:rPr>
              <a:t>Acknowledgments</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27" name="TextBox 27"/>
          <p:cNvSpPr txBox="1"/>
          <p:nvPr/>
        </p:nvSpPr>
        <p:spPr>
          <a:xfrm>
            <a:off x="2312164" y="3726700"/>
            <a:ext cx="2462570" cy="358775"/>
          </a:xfrm>
          <a:prstGeom prst="rect">
            <a:avLst/>
          </a:prstGeom>
        </p:spPr>
        <p:txBody>
          <a:bodyPr lIns="0" tIns="0" rIns="0" bIns="0" rtlCol="0" anchor="t">
            <a:spAutoFit/>
          </a:bodyPr>
          <a:lstStyle/>
          <a:p>
            <a:pPr algn="l">
              <a:lnSpc>
                <a:spcPts val="2800"/>
              </a:lnSpc>
              <a:spcBef>
                <a:spcPct val="0"/>
              </a:spcBef>
            </a:pPr>
            <a:r>
              <a:rPr lang="en-US" sz="2000">
                <a:solidFill>
                  <a:srgbClr val="FFFFFF"/>
                </a:solidFill>
                <a:latin typeface="Poppins" panose="00000500000000000000"/>
                <a:ea typeface="Poppins" panose="00000500000000000000"/>
                <a:cs typeface="Poppins" panose="00000500000000000000"/>
                <a:sym typeface="Poppins" panose="00000500000000000000"/>
              </a:rPr>
              <a:t>Problem Statement</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28" name="TextBox 28"/>
          <p:cNvSpPr txBox="1"/>
          <p:nvPr/>
        </p:nvSpPr>
        <p:spPr>
          <a:xfrm>
            <a:off x="2312164" y="4181519"/>
            <a:ext cx="2165152" cy="358775"/>
          </a:xfrm>
          <a:prstGeom prst="rect">
            <a:avLst/>
          </a:prstGeom>
        </p:spPr>
        <p:txBody>
          <a:bodyPr lIns="0" tIns="0" rIns="0" bIns="0" rtlCol="0" anchor="t">
            <a:spAutoFit/>
          </a:bodyPr>
          <a:lstStyle/>
          <a:p>
            <a:pPr algn="l">
              <a:lnSpc>
                <a:spcPts val="2800"/>
              </a:lnSpc>
              <a:spcBef>
                <a:spcPct val="0"/>
              </a:spcBef>
            </a:pPr>
            <a:r>
              <a:rPr lang="en-US" sz="2000">
                <a:solidFill>
                  <a:srgbClr val="FFFFFF"/>
                </a:solidFill>
                <a:latin typeface="Poppins" panose="00000500000000000000"/>
                <a:ea typeface="Poppins" panose="00000500000000000000"/>
                <a:cs typeface="Poppins" panose="00000500000000000000"/>
                <a:sym typeface="Poppins" panose="00000500000000000000"/>
              </a:rPr>
              <a:t>Key Assumptions</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29" name="TextBox 29"/>
          <p:cNvSpPr txBox="1"/>
          <p:nvPr/>
        </p:nvSpPr>
        <p:spPr>
          <a:xfrm>
            <a:off x="2312164" y="4636337"/>
            <a:ext cx="2022991" cy="358775"/>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Poppins" panose="00000500000000000000"/>
                <a:ea typeface="Poppins" panose="00000500000000000000"/>
                <a:cs typeface="Poppins" panose="00000500000000000000"/>
                <a:sym typeface="Poppins" panose="00000500000000000000"/>
              </a:rPr>
              <a:t>Success Metrics</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30" name="TextBox 30"/>
          <p:cNvSpPr txBox="1"/>
          <p:nvPr/>
        </p:nvSpPr>
        <p:spPr>
          <a:xfrm>
            <a:off x="2277041" y="7800800"/>
            <a:ext cx="3807857" cy="358775"/>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Poppins" panose="00000500000000000000"/>
                <a:ea typeface="Poppins" panose="00000500000000000000"/>
                <a:cs typeface="Poppins" panose="00000500000000000000"/>
                <a:sym typeface="Poppins" panose="00000500000000000000"/>
              </a:rPr>
              <a:t>Predictive Modeling Approach</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31" name="TextBox 31"/>
          <p:cNvSpPr txBox="1"/>
          <p:nvPr/>
        </p:nvSpPr>
        <p:spPr>
          <a:xfrm>
            <a:off x="2312164" y="8188150"/>
            <a:ext cx="2488287" cy="358775"/>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Poppins" panose="00000500000000000000"/>
                <a:ea typeface="Poppins" panose="00000500000000000000"/>
                <a:cs typeface="Poppins" panose="00000500000000000000"/>
                <a:sym typeface="Poppins" panose="00000500000000000000"/>
              </a:rPr>
              <a:t>Model Performance</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22" b="-9222"/>
            </a:stretch>
          </a:blipFill>
        </p:spPr>
      </p:sp>
      <p:grpSp>
        <p:nvGrpSpPr>
          <p:cNvPr id="3" name="Group 3"/>
          <p:cNvGrpSpPr/>
          <p:nvPr/>
        </p:nvGrpSpPr>
        <p:grpSpPr>
          <a:xfrm rot="0">
            <a:off x="-223578" y="4945216"/>
            <a:ext cx="3976178" cy="10781843"/>
            <a:chOff x="0" y="0"/>
            <a:chExt cx="472130" cy="1280233"/>
          </a:xfrm>
        </p:grpSpPr>
        <p:sp>
          <p:nvSpPr>
            <p:cNvPr id="4" name="Freeform 4"/>
            <p:cNvSpPr/>
            <p:nvPr/>
          </p:nvSpPr>
          <p:spPr>
            <a:xfrm>
              <a:off x="0" y="0"/>
              <a:ext cx="472130" cy="1280233"/>
            </a:xfrm>
            <a:custGeom>
              <a:avLst/>
              <a:gdLst/>
              <a:ahLst/>
              <a:cxnLst/>
              <a:rect l="l" t="t" r="r" b="b"/>
              <a:pathLst>
                <a:path w="472130" h="1280233">
                  <a:moveTo>
                    <a:pt x="203200" y="0"/>
                  </a:moveTo>
                  <a:lnTo>
                    <a:pt x="472130" y="0"/>
                  </a:lnTo>
                  <a:lnTo>
                    <a:pt x="268930" y="1280233"/>
                  </a:lnTo>
                  <a:lnTo>
                    <a:pt x="0" y="1280233"/>
                  </a:lnTo>
                  <a:lnTo>
                    <a:pt x="203200" y="0"/>
                  </a:lnTo>
                  <a:close/>
                </a:path>
              </a:pathLst>
            </a:custGeom>
            <a:gradFill rotWithShape="1">
              <a:gsLst>
                <a:gs pos="0">
                  <a:srgbClr val="8D2600">
                    <a:alpha val="100000"/>
                  </a:srgbClr>
                </a:gs>
                <a:gs pos="100000">
                  <a:srgbClr val="FF4500">
                    <a:alpha val="100000"/>
                  </a:srgbClr>
                </a:gs>
              </a:gsLst>
              <a:lin ang="0"/>
            </a:gradFill>
          </p:spPr>
        </p:sp>
        <p:sp>
          <p:nvSpPr>
            <p:cNvPr id="5" name="TextBox 5"/>
            <p:cNvSpPr txBox="1"/>
            <p:nvPr/>
          </p:nvSpPr>
          <p:spPr>
            <a:xfrm>
              <a:off x="101600" y="-57150"/>
              <a:ext cx="268930" cy="1337383"/>
            </a:xfrm>
            <a:prstGeom prst="rect">
              <a:avLst/>
            </a:prstGeom>
          </p:spPr>
          <p:txBody>
            <a:bodyPr lIns="50800" tIns="50800" rIns="50800" bIns="50800" rtlCol="0" anchor="ctr"/>
            <a:lstStyle/>
            <a:p>
              <a:pPr algn="ctr">
                <a:lnSpc>
                  <a:spcPts val="2800"/>
                </a:lnSpc>
              </a:pPr>
            </a:p>
          </p:txBody>
        </p:sp>
      </p:grpSp>
      <p:grpSp>
        <p:nvGrpSpPr>
          <p:cNvPr id="6" name="Group 6"/>
          <p:cNvGrpSpPr/>
          <p:nvPr/>
        </p:nvGrpSpPr>
        <p:grpSpPr>
          <a:xfrm rot="0">
            <a:off x="1551304" y="2186357"/>
            <a:ext cx="2602929" cy="2331842"/>
            <a:chOff x="0" y="0"/>
            <a:chExt cx="1429066" cy="1280233"/>
          </a:xfrm>
        </p:grpSpPr>
        <p:sp>
          <p:nvSpPr>
            <p:cNvPr id="7" name="Freeform 7"/>
            <p:cNvSpPr/>
            <p:nvPr/>
          </p:nvSpPr>
          <p:spPr>
            <a:xfrm>
              <a:off x="0" y="0"/>
              <a:ext cx="1429066" cy="1280233"/>
            </a:xfrm>
            <a:custGeom>
              <a:avLst/>
              <a:gdLst/>
              <a:ahLst/>
              <a:cxnLst/>
              <a:rect l="l" t="t" r="r" b="b"/>
              <a:pathLst>
                <a:path w="1429066" h="1280233">
                  <a:moveTo>
                    <a:pt x="203200" y="0"/>
                  </a:moveTo>
                  <a:lnTo>
                    <a:pt x="1429066" y="0"/>
                  </a:lnTo>
                  <a:lnTo>
                    <a:pt x="1225866" y="1280233"/>
                  </a:lnTo>
                  <a:lnTo>
                    <a:pt x="0" y="1280233"/>
                  </a:lnTo>
                  <a:lnTo>
                    <a:pt x="203200" y="0"/>
                  </a:lnTo>
                  <a:close/>
                </a:path>
              </a:pathLst>
            </a:custGeom>
            <a:gradFill rotWithShape="1">
              <a:gsLst>
                <a:gs pos="0">
                  <a:srgbClr val="8D2600">
                    <a:alpha val="100000"/>
                  </a:srgbClr>
                </a:gs>
                <a:gs pos="100000">
                  <a:srgbClr val="FF4500">
                    <a:alpha val="100000"/>
                  </a:srgbClr>
                </a:gs>
              </a:gsLst>
              <a:lin ang="0"/>
            </a:gradFill>
          </p:spPr>
        </p:sp>
        <p:sp>
          <p:nvSpPr>
            <p:cNvPr id="8" name="TextBox 8"/>
            <p:cNvSpPr txBox="1"/>
            <p:nvPr/>
          </p:nvSpPr>
          <p:spPr>
            <a:xfrm>
              <a:off x="101600" y="-57150"/>
              <a:ext cx="1225866" cy="1337383"/>
            </a:xfrm>
            <a:prstGeom prst="rect">
              <a:avLst/>
            </a:prstGeom>
          </p:spPr>
          <p:txBody>
            <a:bodyPr lIns="50800" tIns="50800" rIns="50800" bIns="50800" rtlCol="0" anchor="ctr"/>
            <a:lstStyle/>
            <a:p>
              <a:pPr algn="ctr">
                <a:lnSpc>
                  <a:spcPts val="2800"/>
                </a:lnSpc>
              </a:pPr>
            </a:p>
          </p:txBody>
        </p:sp>
      </p:grpSp>
      <p:grpSp>
        <p:nvGrpSpPr>
          <p:cNvPr id="9" name="Group 9"/>
          <p:cNvGrpSpPr/>
          <p:nvPr/>
        </p:nvGrpSpPr>
        <p:grpSpPr>
          <a:xfrm rot="0">
            <a:off x="3609316" y="-247421"/>
            <a:ext cx="3976178" cy="10781843"/>
            <a:chOff x="0" y="0"/>
            <a:chExt cx="472130" cy="1280233"/>
          </a:xfrm>
        </p:grpSpPr>
        <p:sp>
          <p:nvSpPr>
            <p:cNvPr id="10" name="Freeform 10"/>
            <p:cNvSpPr/>
            <p:nvPr/>
          </p:nvSpPr>
          <p:spPr>
            <a:xfrm>
              <a:off x="0" y="0"/>
              <a:ext cx="472130" cy="1280233"/>
            </a:xfrm>
            <a:custGeom>
              <a:avLst/>
              <a:gdLst/>
              <a:ahLst/>
              <a:cxnLst/>
              <a:rect l="l" t="t" r="r" b="b"/>
              <a:pathLst>
                <a:path w="472130" h="1280233">
                  <a:moveTo>
                    <a:pt x="203200" y="0"/>
                  </a:moveTo>
                  <a:lnTo>
                    <a:pt x="472130" y="0"/>
                  </a:lnTo>
                  <a:lnTo>
                    <a:pt x="268930" y="1280233"/>
                  </a:lnTo>
                  <a:lnTo>
                    <a:pt x="0" y="1280233"/>
                  </a:lnTo>
                  <a:lnTo>
                    <a:pt x="203200" y="0"/>
                  </a:lnTo>
                  <a:close/>
                </a:path>
              </a:pathLst>
            </a:custGeom>
            <a:gradFill rotWithShape="1">
              <a:gsLst>
                <a:gs pos="0">
                  <a:srgbClr val="8D2600">
                    <a:alpha val="100000"/>
                  </a:srgbClr>
                </a:gs>
                <a:gs pos="100000">
                  <a:srgbClr val="FF4500">
                    <a:alpha val="100000"/>
                  </a:srgbClr>
                </a:gs>
              </a:gsLst>
              <a:lin ang="0"/>
            </a:gradFill>
          </p:spPr>
        </p:sp>
        <p:sp>
          <p:nvSpPr>
            <p:cNvPr id="11" name="TextBox 11"/>
            <p:cNvSpPr txBox="1"/>
            <p:nvPr/>
          </p:nvSpPr>
          <p:spPr>
            <a:xfrm>
              <a:off x="101600" y="-57150"/>
              <a:ext cx="268930" cy="1337383"/>
            </a:xfrm>
            <a:prstGeom prst="rect">
              <a:avLst/>
            </a:prstGeom>
          </p:spPr>
          <p:txBody>
            <a:bodyPr lIns="50800" tIns="50800" rIns="50800" bIns="50800" rtlCol="0" anchor="ctr"/>
            <a:lstStyle/>
            <a:p>
              <a:pPr algn="ctr">
                <a:lnSpc>
                  <a:spcPts val="2800"/>
                </a:lnSpc>
              </a:pPr>
            </a:p>
          </p:txBody>
        </p:sp>
      </p:grpSp>
      <p:sp>
        <p:nvSpPr>
          <p:cNvPr id="12" name="Freeform 12"/>
          <p:cNvSpPr/>
          <p:nvPr/>
        </p:nvSpPr>
        <p:spPr>
          <a:xfrm>
            <a:off x="-1803374" y="4945216"/>
            <a:ext cx="10096228" cy="7534310"/>
          </a:xfrm>
          <a:custGeom>
            <a:avLst/>
            <a:gdLst/>
            <a:ahLst/>
            <a:cxnLst/>
            <a:rect l="l" t="t" r="r" b="b"/>
            <a:pathLst>
              <a:path w="10096228" h="7534310">
                <a:moveTo>
                  <a:pt x="0" y="0"/>
                </a:moveTo>
                <a:lnTo>
                  <a:pt x="10096228" y="0"/>
                </a:lnTo>
                <a:lnTo>
                  <a:pt x="10096228" y="7534311"/>
                </a:lnTo>
                <a:lnTo>
                  <a:pt x="0" y="7534311"/>
                </a:lnTo>
                <a:lnTo>
                  <a:pt x="0" y="0"/>
                </a:lnTo>
                <a:close/>
              </a:path>
            </a:pathLst>
          </a:custGeom>
          <a:blipFill>
            <a:blip r:embed="rId2"/>
            <a:stretch>
              <a:fillRect/>
            </a:stretch>
          </a:blipFill>
        </p:spPr>
      </p:sp>
      <p:sp>
        <p:nvSpPr>
          <p:cNvPr id="13" name="TextBox 13"/>
          <p:cNvSpPr txBox="1"/>
          <p:nvPr/>
        </p:nvSpPr>
        <p:spPr>
          <a:xfrm>
            <a:off x="1028700" y="1146175"/>
            <a:ext cx="1873255" cy="263525"/>
          </a:xfrm>
          <a:prstGeom prst="rect">
            <a:avLst/>
          </a:prstGeom>
        </p:spPr>
        <p:txBody>
          <a:bodyPr lIns="0" tIns="0" rIns="0" bIns="0" rtlCol="0" anchor="t">
            <a:spAutoFit/>
          </a:bodyPr>
          <a:lstStyle/>
          <a:p>
            <a:pPr algn="l">
              <a:lnSpc>
                <a:spcPts val="1900"/>
              </a:lnSpc>
            </a:pPr>
            <a:r>
              <a:rPr lang="en-US" sz="20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rPr>
              <a:t>CCAC</a:t>
            </a:r>
            <a:endParaRPr lang="en-US" sz="20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endParaRPr>
          </a:p>
        </p:txBody>
      </p:sp>
      <p:sp>
        <p:nvSpPr>
          <p:cNvPr id="14" name="TextBox 14"/>
          <p:cNvSpPr txBox="1"/>
          <p:nvPr/>
        </p:nvSpPr>
        <p:spPr>
          <a:xfrm>
            <a:off x="8292854" y="3842331"/>
            <a:ext cx="8826797" cy="2076250"/>
          </a:xfrm>
          <a:prstGeom prst="rect">
            <a:avLst/>
          </a:prstGeom>
        </p:spPr>
        <p:txBody>
          <a:bodyPr lIns="0" tIns="0" rIns="0" bIns="0" rtlCol="0" anchor="t">
            <a:spAutoFit/>
          </a:bodyPr>
          <a:lstStyle/>
          <a:p>
            <a:pPr algn="ctr">
              <a:lnSpc>
                <a:spcPts val="15385"/>
              </a:lnSpc>
            </a:pPr>
            <a:r>
              <a:rPr lang="en-US" sz="16195"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rPr>
              <a:t>PART 1</a:t>
            </a:r>
            <a:endParaRPr lang="en-US" sz="16195"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endParaRPr>
          </a:p>
        </p:txBody>
      </p:sp>
      <p:sp>
        <p:nvSpPr>
          <p:cNvPr id="15" name="TextBox 15"/>
          <p:cNvSpPr txBox="1"/>
          <p:nvPr/>
        </p:nvSpPr>
        <p:spPr>
          <a:xfrm>
            <a:off x="10002099" y="5690721"/>
            <a:ext cx="7719883" cy="625476"/>
          </a:xfrm>
          <a:prstGeom prst="rect">
            <a:avLst/>
          </a:prstGeom>
        </p:spPr>
        <p:txBody>
          <a:bodyPr lIns="0" tIns="0" rIns="0" bIns="0" rtlCol="0" anchor="t">
            <a:spAutoFit/>
          </a:bodyPr>
          <a:lstStyle/>
          <a:p>
            <a:pPr algn="l">
              <a:lnSpc>
                <a:spcPts val="4900"/>
              </a:lnSpc>
            </a:pPr>
            <a:r>
              <a:rPr lang="en-US" sz="3500" b="1">
                <a:solidFill>
                  <a:srgbClr val="FFFFFF"/>
                </a:solidFill>
                <a:latin typeface="Poppins Bold" panose="00000800000000000000"/>
                <a:ea typeface="Poppins Bold" panose="00000800000000000000"/>
                <a:cs typeface="Poppins Bold" panose="00000800000000000000"/>
                <a:sym typeface="Poppins Bold" panose="00000800000000000000"/>
              </a:rPr>
              <a:t>Introduction &amp; Problem Framing</a:t>
            </a:r>
            <a:endParaRPr lang="en-US" sz="3500" b="1">
              <a:solidFill>
                <a:srgbClr val="FFFFFF"/>
              </a:solidFill>
              <a:latin typeface="Poppins Bold" panose="00000800000000000000"/>
              <a:ea typeface="Poppins Bold" panose="00000800000000000000"/>
              <a:cs typeface="Poppins Bold" panose="00000800000000000000"/>
              <a:sym typeface="Poppins Bold" panose="00000800000000000000"/>
            </a:endParaRPr>
          </a:p>
        </p:txBody>
      </p:sp>
      <p:sp>
        <p:nvSpPr>
          <p:cNvPr id="16" name="TextBox 16"/>
          <p:cNvSpPr txBox="1"/>
          <p:nvPr/>
        </p:nvSpPr>
        <p:spPr>
          <a:xfrm>
            <a:off x="10002099" y="6443463"/>
            <a:ext cx="2462570" cy="358775"/>
          </a:xfrm>
          <a:prstGeom prst="rect">
            <a:avLst/>
          </a:prstGeom>
        </p:spPr>
        <p:txBody>
          <a:bodyPr lIns="0" tIns="0" rIns="0" bIns="0" rtlCol="0" anchor="t">
            <a:spAutoFit/>
          </a:bodyPr>
          <a:lstStyle/>
          <a:p>
            <a:pPr algn="l">
              <a:lnSpc>
                <a:spcPts val="2800"/>
              </a:lnSpc>
              <a:spcBef>
                <a:spcPct val="0"/>
              </a:spcBef>
            </a:pPr>
            <a:r>
              <a:rPr lang="en-US" sz="2000">
                <a:solidFill>
                  <a:srgbClr val="FFFFFF"/>
                </a:solidFill>
                <a:latin typeface="Poppins" panose="00000500000000000000"/>
                <a:ea typeface="Poppins" panose="00000500000000000000"/>
                <a:cs typeface="Poppins" panose="00000500000000000000"/>
                <a:sym typeface="Poppins" panose="00000500000000000000"/>
              </a:rPr>
              <a:t>Problem Statement</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17" name="TextBox 17"/>
          <p:cNvSpPr txBox="1"/>
          <p:nvPr/>
        </p:nvSpPr>
        <p:spPr>
          <a:xfrm>
            <a:off x="10002099" y="6898282"/>
            <a:ext cx="2165152" cy="358775"/>
          </a:xfrm>
          <a:prstGeom prst="rect">
            <a:avLst/>
          </a:prstGeom>
        </p:spPr>
        <p:txBody>
          <a:bodyPr lIns="0" tIns="0" rIns="0" bIns="0" rtlCol="0" anchor="t">
            <a:spAutoFit/>
          </a:bodyPr>
          <a:lstStyle/>
          <a:p>
            <a:pPr algn="l">
              <a:lnSpc>
                <a:spcPts val="2800"/>
              </a:lnSpc>
              <a:spcBef>
                <a:spcPct val="0"/>
              </a:spcBef>
            </a:pPr>
            <a:r>
              <a:rPr lang="en-US" sz="2000">
                <a:solidFill>
                  <a:srgbClr val="FFFFFF"/>
                </a:solidFill>
                <a:latin typeface="Poppins" panose="00000500000000000000"/>
                <a:ea typeface="Poppins" panose="00000500000000000000"/>
                <a:cs typeface="Poppins" panose="00000500000000000000"/>
                <a:sym typeface="Poppins" panose="00000500000000000000"/>
              </a:rPr>
              <a:t>Key Assumptions</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18" name="TextBox 18"/>
          <p:cNvSpPr txBox="1"/>
          <p:nvPr/>
        </p:nvSpPr>
        <p:spPr>
          <a:xfrm>
            <a:off x="10002099" y="7353101"/>
            <a:ext cx="2022991" cy="358775"/>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Poppins" panose="00000500000000000000"/>
                <a:ea typeface="Poppins" panose="00000500000000000000"/>
                <a:cs typeface="Poppins" panose="00000500000000000000"/>
                <a:sym typeface="Poppins" panose="00000500000000000000"/>
              </a:rPr>
              <a:t>Success Metrics</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22" b="-9222"/>
            </a:stretch>
          </a:blipFill>
        </p:spPr>
      </p:sp>
      <p:sp>
        <p:nvSpPr>
          <p:cNvPr id="3" name="Freeform 3"/>
          <p:cNvSpPr/>
          <p:nvPr/>
        </p:nvSpPr>
        <p:spPr>
          <a:xfrm>
            <a:off x="16980002" y="1070402"/>
            <a:ext cx="279298" cy="278282"/>
          </a:xfrm>
          <a:custGeom>
            <a:avLst/>
            <a:gdLst/>
            <a:ahLst/>
            <a:cxnLst/>
            <a:rect l="l" t="t" r="r" b="b"/>
            <a:pathLst>
              <a:path w="279298" h="278282">
                <a:moveTo>
                  <a:pt x="0" y="0"/>
                </a:moveTo>
                <a:lnTo>
                  <a:pt x="279298" y="0"/>
                </a:lnTo>
                <a:lnTo>
                  <a:pt x="279298" y="278282"/>
                </a:lnTo>
                <a:lnTo>
                  <a:pt x="0" y="2782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rot="0">
            <a:off x="11627245" y="-114545"/>
            <a:ext cx="7700180" cy="10516090"/>
            <a:chOff x="0" y="0"/>
            <a:chExt cx="5462150" cy="7459626"/>
          </a:xfrm>
        </p:grpSpPr>
        <p:sp>
          <p:nvSpPr>
            <p:cNvPr id="5" name="Freeform 5"/>
            <p:cNvSpPr/>
            <p:nvPr/>
          </p:nvSpPr>
          <p:spPr>
            <a:xfrm>
              <a:off x="0" y="0"/>
              <a:ext cx="5462150" cy="7459627"/>
            </a:xfrm>
            <a:custGeom>
              <a:avLst/>
              <a:gdLst/>
              <a:ahLst/>
              <a:cxnLst/>
              <a:rect l="l" t="t" r="r" b="b"/>
              <a:pathLst>
                <a:path w="5462150" h="7459627">
                  <a:moveTo>
                    <a:pt x="0" y="7459627"/>
                  </a:moveTo>
                  <a:lnTo>
                    <a:pt x="634727" y="0"/>
                  </a:lnTo>
                  <a:lnTo>
                    <a:pt x="5462150" y="0"/>
                  </a:lnTo>
                  <a:lnTo>
                    <a:pt x="4827423" y="7459627"/>
                  </a:lnTo>
                  <a:close/>
                </a:path>
              </a:pathLst>
            </a:custGeom>
            <a:blipFill>
              <a:blip r:embed="rId4"/>
              <a:stretch>
                <a:fillRect t="-4917" b="-4917"/>
              </a:stretch>
            </a:blipFill>
          </p:spPr>
        </p:sp>
      </p:grpSp>
      <p:grpSp>
        <p:nvGrpSpPr>
          <p:cNvPr id="6" name="Group 6"/>
          <p:cNvGrpSpPr/>
          <p:nvPr/>
        </p:nvGrpSpPr>
        <p:grpSpPr>
          <a:xfrm rot="0">
            <a:off x="10903345" y="0"/>
            <a:ext cx="1808337" cy="10287000"/>
            <a:chOff x="0" y="0"/>
            <a:chExt cx="406400" cy="2311868"/>
          </a:xfrm>
        </p:grpSpPr>
        <p:sp>
          <p:nvSpPr>
            <p:cNvPr id="7" name="Freeform 7"/>
            <p:cNvSpPr/>
            <p:nvPr/>
          </p:nvSpPr>
          <p:spPr>
            <a:xfrm>
              <a:off x="0" y="0"/>
              <a:ext cx="406400" cy="2311868"/>
            </a:xfrm>
            <a:custGeom>
              <a:avLst/>
              <a:gdLst/>
              <a:ahLst/>
              <a:cxnLst/>
              <a:rect l="l" t="t" r="r" b="b"/>
              <a:pathLst>
                <a:path w="406400" h="2311868">
                  <a:moveTo>
                    <a:pt x="203200" y="0"/>
                  </a:moveTo>
                  <a:lnTo>
                    <a:pt x="406400" y="0"/>
                  </a:lnTo>
                  <a:lnTo>
                    <a:pt x="203200" y="2311868"/>
                  </a:lnTo>
                  <a:lnTo>
                    <a:pt x="0" y="2311868"/>
                  </a:lnTo>
                  <a:lnTo>
                    <a:pt x="203200" y="0"/>
                  </a:lnTo>
                  <a:close/>
                </a:path>
              </a:pathLst>
            </a:custGeom>
            <a:gradFill rotWithShape="1">
              <a:gsLst>
                <a:gs pos="0">
                  <a:srgbClr val="8D2600">
                    <a:alpha val="100000"/>
                  </a:srgbClr>
                </a:gs>
                <a:gs pos="100000">
                  <a:srgbClr val="FF4500">
                    <a:alpha val="100000"/>
                  </a:srgbClr>
                </a:gs>
              </a:gsLst>
              <a:lin ang="0"/>
            </a:gradFill>
          </p:spPr>
        </p:sp>
        <p:sp>
          <p:nvSpPr>
            <p:cNvPr id="8" name="TextBox 8"/>
            <p:cNvSpPr txBox="1"/>
            <p:nvPr/>
          </p:nvSpPr>
          <p:spPr>
            <a:xfrm>
              <a:off x="101600" y="-57150"/>
              <a:ext cx="203200" cy="2369018"/>
            </a:xfrm>
            <a:prstGeom prst="rect">
              <a:avLst/>
            </a:prstGeom>
          </p:spPr>
          <p:txBody>
            <a:bodyPr lIns="50800" tIns="50800" rIns="50800" bIns="50800" rtlCol="0" anchor="ctr"/>
            <a:lstStyle/>
            <a:p>
              <a:pPr algn="ctr">
                <a:lnSpc>
                  <a:spcPts val="2800"/>
                </a:lnSpc>
              </a:pPr>
            </a:p>
          </p:txBody>
        </p:sp>
      </p:grpSp>
      <p:grpSp>
        <p:nvGrpSpPr>
          <p:cNvPr id="9" name="Group 9"/>
          <p:cNvGrpSpPr/>
          <p:nvPr/>
        </p:nvGrpSpPr>
        <p:grpSpPr>
          <a:xfrm rot="0">
            <a:off x="9884170" y="7610784"/>
            <a:ext cx="978559" cy="2691847"/>
            <a:chOff x="0" y="0"/>
            <a:chExt cx="840427" cy="2311868"/>
          </a:xfrm>
        </p:grpSpPr>
        <p:sp>
          <p:nvSpPr>
            <p:cNvPr id="10" name="Freeform 10"/>
            <p:cNvSpPr/>
            <p:nvPr/>
          </p:nvSpPr>
          <p:spPr>
            <a:xfrm>
              <a:off x="0" y="0"/>
              <a:ext cx="840427" cy="2311868"/>
            </a:xfrm>
            <a:custGeom>
              <a:avLst/>
              <a:gdLst/>
              <a:ahLst/>
              <a:cxnLst/>
              <a:rect l="l" t="t" r="r" b="b"/>
              <a:pathLst>
                <a:path w="840427" h="2311868">
                  <a:moveTo>
                    <a:pt x="203200" y="0"/>
                  </a:moveTo>
                  <a:lnTo>
                    <a:pt x="840427" y="0"/>
                  </a:lnTo>
                  <a:lnTo>
                    <a:pt x="637227" y="2311868"/>
                  </a:lnTo>
                  <a:lnTo>
                    <a:pt x="0" y="2311868"/>
                  </a:lnTo>
                  <a:lnTo>
                    <a:pt x="203200" y="0"/>
                  </a:lnTo>
                  <a:close/>
                </a:path>
              </a:pathLst>
            </a:custGeom>
            <a:gradFill rotWithShape="1">
              <a:gsLst>
                <a:gs pos="0">
                  <a:srgbClr val="8D2600">
                    <a:alpha val="100000"/>
                  </a:srgbClr>
                </a:gs>
                <a:gs pos="100000">
                  <a:srgbClr val="FF4500">
                    <a:alpha val="100000"/>
                  </a:srgbClr>
                </a:gs>
              </a:gsLst>
              <a:lin ang="0"/>
            </a:gradFill>
          </p:spPr>
        </p:sp>
        <p:sp>
          <p:nvSpPr>
            <p:cNvPr id="11" name="TextBox 11"/>
            <p:cNvSpPr txBox="1"/>
            <p:nvPr/>
          </p:nvSpPr>
          <p:spPr>
            <a:xfrm>
              <a:off x="101600" y="-57150"/>
              <a:ext cx="637227" cy="2369018"/>
            </a:xfrm>
            <a:prstGeom prst="rect">
              <a:avLst/>
            </a:prstGeom>
          </p:spPr>
          <p:txBody>
            <a:bodyPr lIns="50800" tIns="50800" rIns="50800" bIns="50800" rtlCol="0" anchor="ctr"/>
            <a:lstStyle/>
            <a:p>
              <a:pPr algn="ctr">
                <a:lnSpc>
                  <a:spcPts val="2800"/>
                </a:lnSpc>
              </a:pPr>
            </a:p>
          </p:txBody>
        </p:sp>
      </p:grpSp>
      <p:sp>
        <p:nvSpPr>
          <p:cNvPr id="12" name="TextBox 12"/>
          <p:cNvSpPr txBox="1"/>
          <p:nvPr/>
        </p:nvSpPr>
        <p:spPr>
          <a:xfrm>
            <a:off x="1188349" y="1784005"/>
            <a:ext cx="9344750" cy="1162050"/>
          </a:xfrm>
          <a:prstGeom prst="rect">
            <a:avLst/>
          </a:prstGeom>
        </p:spPr>
        <p:txBody>
          <a:bodyPr lIns="0" tIns="0" rIns="0" bIns="0" rtlCol="0" anchor="t">
            <a:spAutoFit/>
          </a:bodyPr>
          <a:lstStyle/>
          <a:p>
            <a:pPr marL="0" lvl="0" indent="0" algn="l">
              <a:lnSpc>
                <a:spcPts val="8550"/>
              </a:lnSpc>
              <a:spcBef>
                <a:spcPct val="0"/>
              </a:spcBef>
            </a:pPr>
            <a:r>
              <a:rPr lang="en-US" sz="9000" i="1" u="none" strike="noStrike">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rPr>
              <a:t>PROBLEM STATEMENT</a:t>
            </a:r>
            <a:endParaRPr lang="en-US" sz="9000" i="1" u="none" strike="noStrike">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endParaRPr>
          </a:p>
        </p:txBody>
      </p:sp>
      <p:sp>
        <p:nvSpPr>
          <p:cNvPr id="13" name="TextBox 13"/>
          <p:cNvSpPr txBox="1"/>
          <p:nvPr/>
        </p:nvSpPr>
        <p:spPr>
          <a:xfrm>
            <a:off x="1627904" y="3558061"/>
            <a:ext cx="8745545" cy="3269266"/>
          </a:xfrm>
          <a:prstGeom prst="rect">
            <a:avLst/>
          </a:prstGeom>
        </p:spPr>
        <p:txBody>
          <a:bodyPr lIns="0" tIns="0" rIns="0" bIns="0" rtlCol="0" anchor="t">
            <a:spAutoFit/>
          </a:bodyPr>
          <a:lstStyle/>
          <a:p>
            <a:pPr algn="just">
              <a:lnSpc>
                <a:spcPts val="4275"/>
              </a:lnSpc>
            </a:pPr>
            <a:r>
              <a:rPr lang="en-US" sz="2515" b="1">
                <a:solidFill>
                  <a:srgbClr val="A7A9AC"/>
                </a:solidFill>
                <a:latin typeface="Arial Bold" panose="020B0802020202020204"/>
                <a:ea typeface="Arial Bold" panose="020B0802020202020204"/>
                <a:cs typeface="Arial Bold" panose="020B0802020202020204"/>
                <a:sym typeface="Arial Bold" panose="020B0802020202020204"/>
              </a:rPr>
              <a:t>“ </a:t>
            </a:r>
            <a:r>
              <a:rPr lang="en-US" sz="2515">
                <a:solidFill>
                  <a:srgbClr val="FFFFFF"/>
                </a:solidFill>
                <a:latin typeface="Arial" panose="020B0604020202020204"/>
                <a:ea typeface="Arial" panose="020B0604020202020204"/>
                <a:cs typeface="Arial" panose="020B0604020202020204"/>
                <a:sym typeface="Arial" panose="020B0604020202020204"/>
              </a:rPr>
              <a:t>Our goal is to develop a </a:t>
            </a:r>
            <a:r>
              <a:rPr lang="en-US" sz="2515" b="1">
                <a:solidFill>
                  <a:srgbClr val="D3410D"/>
                </a:solidFill>
                <a:latin typeface="Arial Bold" panose="020B0802020202020204"/>
                <a:ea typeface="Arial Bold" panose="020B0802020202020204"/>
                <a:cs typeface="Arial Bold" panose="020B0802020202020204"/>
                <a:sym typeface="Arial Bold" panose="020B0802020202020204"/>
              </a:rPr>
              <a:t>predictive model</a:t>
            </a:r>
            <a:r>
              <a:rPr lang="en-US" sz="2515">
                <a:solidFill>
                  <a:srgbClr val="FFFFFF"/>
                </a:solidFill>
                <a:latin typeface="Arial" panose="020B0604020202020204"/>
                <a:ea typeface="Arial" panose="020B0604020202020204"/>
                <a:cs typeface="Arial" panose="020B0604020202020204"/>
                <a:sym typeface="Arial" panose="020B0604020202020204"/>
              </a:rPr>
              <a:t> based on fan-submitted bracket data to forecast the winners of the NCAA semifinals and national championship. Beyond that, we aim to analyze whether </a:t>
            </a:r>
            <a:r>
              <a:rPr lang="en-US" sz="2515" b="1">
                <a:solidFill>
                  <a:srgbClr val="D3410D"/>
                </a:solidFill>
                <a:latin typeface="Arial Bold" panose="020B0802020202020204"/>
                <a:ea typeface="Arial Bold" panose="020B0802020202020204"/>
                <a:cs typeface="Arial Bold" panose="020B0802020202020204"/>
                <a:sym typeface="Arial Bold" panose="020B0802020202020204"/>
              </a:rPr>
              <a:t>school affinity influences fan predictions</a:t>
            </a:r>
            <a:r>
              <a:rPr lang="en-US" sz="2515">
                <a:solidFill>
                  <a:srgbClr val="FFFFFF"/>
                </a:solidFill>
                <a:latin typeface="Arial" panose="020B0604020202020204"/>
                <a:ea typeface="Arial" panose="020B0604020202020204"/>
                <a:cs typeface="Arial" panose="020B0604020202020204"/>
                <a:sym typeface="Arial" panose="020B0604020202020204"/>
              </a:rPr>
              <a:t>—specifically, whether fans are more likely to support certain teams based on </a:t>
            </a:r>
            <a:r>
              <a:rPr lang="en-US" sz="2515" b="1">
                <a:solidFill>
                  <a:srgbClr val="D3410D"/>
                </a:solidFill>
                <a:latin typeface="Arial Bold" panose="020B0802020202020204"/>
                <a:ea typeface="Arial Bold" panose="020B0802020202020204"/>
                <a:cs typeface="Arial Bold" panose="020B0802020202020204"/>
                <a:sym typeface="Arial Bold" panose="020B0802020202020204"/>
              </a:rPr>
              <a:t>geographic proximity </a:t>
            </a:r>
            <a:r>
              <a:rPr lang="en-US" sz="2515">
                <a:solidFill>
                  <a:srgbClr val="FFFFFF"/>
                </a:solidFill>
                <a:latin typeface="Arial" panose="020B0604020202020204"/>
                <a:ea typeface="Arial" panose="020B0604020202020204"/>
                <a:cs typeface="Arial" panose="020B0604020202020204"/>
                <a:sym typeface="Arial" panose="020B0604020202020204"/>
              </a:rPr>
              <a:t>or historical loyalty. </a:t>
            </a:r>
            <a:r>
              <a:rPr lang="en-US" sz="2515" b="1">
                <a:solidFill>
                  <a:srgbClr val="A7A9AC"/>
                </a:solidFill>
                <a:latin typeface="Arial Bold" panose="020B0802020202020204"/>
                <a:ea typeface="Arial Bold" panose="020B0802020202020204"/>
                <a:cs typeface="Arial Bold" panose="020B0802020202020204"/>
                <a:sym typeface="Arial Bold" panose="020B0802020202020204"/>
              </a:rPr>
              <a:t>”</a:t>
            </a:r>
            <a:endParaRPr lang="en-US" sz="2515" b="1">
              <a:solidFill>
                <a:srgbClr val="A7A9AC"/>
              </a:solidFill>
              <a:latin typeface="Arial Bold" panose="020B0802020202020204"/>
              <a:ea typeface="Arial Bold" panose="020B0802020202020204"/>
              <a:cs typeface="Arial Bold" panose="020B0802020202020204"/>
              <a:sym typeface="Arial Bold" panose="020B0802020202020204"/>
            </a:endParaRPr>
          </a:p>
        </p:txBody>
      </p:sp>
      <p:sp>
        <p:nvSpPr>
          <p:cNvPr id="14" name="TextBox 14"/>
          <p:cNvSpPr txBox="1"/>
          <p:nvPr/>
        </p:nvSpPr>
        <p:spPr>
          <a:xfrm>
            <a:off x="1028700" y="1146175"/>
            <a:ext cx="1873255" cy="263525"/>
          </a:xfrm>
          <a:prstGeom prst="rect">
            <a:avLst/>
          </a:prstGeom>
        </p:spPr>
        <p:txBody>
          <a:bodyPr lIns="0" tIns="0" rIns="0" bIns="0" rtlCol="0" anchor="t">
            <a:spAutoFit/>
          </a:bodyPr>
          <a:lstStyle/>
          <a:p>
            <a:pPr algn="l">
              <a:lnSpc>
                <a:spcPts val="1900"/>
              </a:lnSpc>
            </a:pPr>
            <a:r>
              <a:rPr lang="en-US" sz="20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rPr>
              <a:t>CCAC</a:t>
            </a:r>
            <a:endParaRPr lang="en-US" sz="20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2221944" y="2017565"/>
            <a:ext cx="13844112" cy="6798946"/>
          </a:xfrm>
          <a:prstGeom prst="rect">
            <a:avLst/>
          </a:prstGeom>
        </p:spPr>
        <p:txBody>
          <a:bodyPr lIns="0" tIns="0" rIns="0" bIns="0" rtlCol="0" anchor="t">
            <a:spAutoFit/>
          </a:bodyPr>
          <a:lstStyle/>
          <a:p>
            <a:pPr algn="ctr">
              <a:lnSpc>
                <a:spcPts val="3920"/>
              </a:lnSpc>
            </a:pPr>
            <a:r>
              <a:rPr lang="en-US" sz="2800" b="1">
                <a:solidFill>
                  <a:srgbClr val="FFFFFF"/>
                </a:solidFill>
                <a:latin typeface="Poppins Bold" panose="00000800000000000000"/>
                <a:ea typeface="Poppins Bold" panose="00000800000000000000"/>
                <a:cs typeface="Poppins Bold" panose="00000800000000000000"/>
                <a:sym typeface="Poppins Bold" panose="00000800000000000000"/>
              </a:rPr>
              <a:t> Do prediction trends change over time?</a:t>
            </a:r>
            <a:endParaRPr lang="en-US" sz="2800" b="1">
              <a:solidFill>
                <a:srgbClr val="FFFFFF"/>
              </a:solidFill>
              <a:latin typeface="Poppins Bold" panose="00000800000000000000"/>
              <a:ea typeface="Poppins Bold" panose="00000800000000000000"/>
              <a:cs typeface="Poppins Bold" panose="00000800000000000000"/>
              <a:sym typeface="Poppins Bold" panose="00000800000000000000"/>
            </a:endParaRPr>
          </a:p>
          <a:p>
            <a:pPr algn="ctr">
              <a:lnSpc>
                <a:spcPts val="3640"/>
              </a:lnSpc>
            </a:pPr>
            <a:r>
              <a:rPr lang="en-US" sz="2600">
                <a:solidFill>
                  <a:srgbClr val="FFFFFF"/>
                </a:solidFill>
                <a:latin typeface="Poppins" panose="00000500000000000000"/>
                <a:ea typeface="Poppins" panose="00000500000000000000"/>
                <a:cs typeface="Poppins" panose="00000500000000000000"/>
                <a:sym typeface="Poppins" panose="00000500000000000000"/>
              </a:rPr>
              <a:t> </a:t>
            </a:r>
            <a:r>
              <a:rPr lang="en-US" sz="2600">
                <a:solidFill>
                  <a:srgbClr val="A7A9AC"/>
                </a:solidFill>
                <a:latin typeface="Poppins" panose="00000500000000000000"/>
                <a:ea typeface="Poppins" panose="00000500000000000000"/>
                <a:cs typeface="Poppins" panose="00000500000000000000"/>
                <a:sym typeface="Poppins" panose="00000500000000000000"/>
              </a:rPr>
              <a:t>(Macro-level trend)</a:t>
            </a:r>
            <a:endParaRPr lang="en-US" sz="2600">
              <a:solidFill>
                <a:srgbClr val="A7A9AC"/>
              </a:solidFill>
              <a:latin typeface="Poppins" panose="00000500000000000000"/>
              <a:ea typeface="Poppins" panose="00000500000000000000"/>
              <a:cs typeface="Poppins" panose="00000500000000000000"/>
              <a:sym typeface="Poppins" panose="00000500000000000000"/>
            </a:endParaRPr>
          </a:p>
          <a:p>
            <a:pPr algn="ctr">
              <a:lnSpc>
                <a:spcPts val="3920"/>
              </a:lnSpc>
            </a:pPr>
            <a:r>
              <a:rPr lang="en-US" sz="2800">
                <a:solidFill>
                  <a:srgbClr val="FFFFFF"/>
                </a:solidFill>
                <a:latin typeface="Poppins" panose="00000500000000000000"/>
                <a:ea typeface="Poppins" panose="00000500000000000000"/>
                <a:cs typeface="Poppins" panose="00000500000000000000"/>
                <a:sym typeface="Poppins" panose="00000500000000000000"/>
              </a:rPr>
              <a:t>↓</a:t>
            </a:r>
            <a:endParaRPr lang="en-US" sz="2800">
              <a:solidFill>
                <a:srgbClr val="FFFFFF"/>
              </a:solidFill>
              <a:latin typeface="Poppins" panose="00000500000000000000"/>
              <a:ea typeface="Poppins" panose="00000500000000000000"/>
              <a:cs typeface="Poppins" panose="00000500000000000000"/>
              <a:sym typeface="Poppins" panose="00000500000000000000"/>
            </a:endParaRPr>
          </a:p>
          <a:p>
            <a:pPr algn="ctr">
              <a:lnSpc>
                <a:spcPts val="3920"/>
              </a:lnSpc>
            </a:pPr>
          </a:p>
          <a:p>
            <a:pPr algn="ctr">
              <a:lnSpc>
                <a:spcPts val="3920"/>
              </a:lnSpc>
            </a:pPr>
            <a:r>
              <a:rPr lang="en-US" sz="2800" b="1">
                <a:solidFill>
                  <a:srgbClr val="FFFFFF"/>
                </a:solidFill>
                <a:latin typeface="Poppins Bold" panose="00000800000000000000"/>
                <a:ea typeface="Poppins Bold" panose="00000800000000000000"/>
                <a:cs typeface="Poppins Bold" panose="00000800000000000000"/>
                <a:sym typeface="Poppins Bold" panose="00000800000000000000"/>
              </a:rPr>
              <a:t> Is there significant fan bias in predictions?</a:t>
            </a:r>
            <a:r>
              <a:rPr lang="en-US" sz="2800">
                <a:solidFill>
                  <a:srgbClr val="FFFFFF"/>
                </a:solidFill>
                <a:latin typeface="Poppins" panose="00000500000000000000"/>
                <a:ea typeface="Poppins" panose="00000500000000000000"/>
                <a:cs typeface="Poppins" panose="00000500000000000000"/>
                <a:sym typeface="Poppins" panose="00000500000000000000"/>
              </a:rPr>
              <a:t> </a:t>
            </a:r>
            <a:endParaRPr lang="en-US" sz="2800">
              <a:solidFill>
                <a:srgbClr val="FFFFFF"/>
              </a:solidFill>
              <a:latin typeface="Poppins" panose="00000500000000000000"/>
              <a:ea typeface="Poppins" panose="00000500000000000000"/>
              <a:cs typeface="Poppins" panose="00000500000000000000"/>
              <a:sym typeface="Poppins" panose="00000500000000000000"/>
            </a:endParaRPr>
          </a:p>
          <a:p>
            <a:pPr algn="ctr">
              <a:lnSpc>
                <a:spcPts val="3640"/>
              </a:lnSpc>
            </a:pPr>
            <a:r>
              <a:rPr lang="en-US" sz="2600">
                <a:solidFill>
                  <a:srgbClr val="A7A9AC"/>
                </a:solidFill>
                <a:latin typeface="Poppins" panose="00000500000000000000"/>
                <a:ea typeface="Poppins" panose="00000500000000000000"/>
                <a:cs typeface="Poppins" panose="00000500000000000000"/>
                <a:sym typeface="Poppins" panose="00000500000000000000"/>
              </a:rPr>
              <a:t>(Core factor driving prediction behavior)</a:t>
            </a:r>
            <a:endParaRPr lang="en-US" sz="2600">
              <a:solidFill>
                <a:srgbClr val="A7A9AC"/>
              </a:solidFill>
              <a:latin typeface="Poppins" panose="00000500000000000000"/>
              <a:ea typeface="Poppins" panose="00000500000000000000"/>
              <a:cs typeface="Poppins" panose="00000500000000000000"/>
              <a:sym typeface="Poppins" panose="00000500000000000000"/>
            </a:endParaRPr>
          </a:p>
          <a:p>
            <a:pPr algn="ctr">
              <a:lnSpc>
                <a:spcPts val="3920"/>
              </a:lnSpc>
            </a:pPr>
            <a:r>
              <a:rPr lang="en-US" sz="2800">
                <a:solidFill>
                  <a:srgbClr val="FFFFFF"/>
                </a:solidFill>
                <a:latin typeface="Poppins" panose="00000500000000000000"/>
                <a:ea typeface="Poppins" panose="00000500000000000000"/>
                <a:cs typeface="Poppins" panose="00000500000000000000"/>
                <a:sym typeface="Poppins" panose="00000500000000000000"/>
              </a:rPr>
              <a:t>↓</a:t>
            </a:r>
            <a:endParaRPr lang="en-US" sz="2800">
              <a:solidFill>
                <a:srgbClr val="FFFFFF"/>
              </a:solidFill>
              <a:latin typeface="Poppins" panose="00000500000000000000"/>
              <a:ea typeface="Poppins" panose="00000500000000000000"/>
              <a:cs typeface="Poppins" panose="00000500000000000000"/>
              <a:sym typeface="Poppins" panose="00000500000000000000"/>
            </a:endParaRPr>
          </a:p>
          <a:p>
            <a:pPr algn="ctr">
              <a:lnSpc>
                <a:spcPts val="3920"/>
              </a:lnSpc>
            </a:pPr>
          </a:p>
          <a:p>
            <a:pPr algn="ctr">
              <a:lnSpc>
                <a:spcPts val="3920"/>
              </a:lnSpc>
            </a:pPr>
            <a:r>
              <a:rPr lang="en-US" sz="2800" b="1">
                <a:solidFill>
                  <a:srgbClr val="FFFFFF"/>
                </a:solidFill>
                <a:latin typeface="Poppins Bold" panose="00000800000000000000"/>
                <a:ea typeface="Poppins Bold" panose="00000800000000000000"/>
                <a:cs typeface="Poppins Bold" panose="00000800000000000000"/>
                <a:sym typeface="Poppins Bold" panose="00000800000000000000"/>
              </a:rPr>
              <a:t>Do fan predictions accurately reflect a team’s actual competitive strength?</a:t>
            </a:r>
            <a:r>
              <a:rPr lang="en-US" sz="2800">
                <a:solidFill>
                  <a:srgbClr val="FFFFFF"/>
                </a:solidFill>
                <a:latin typeface="Poppins" panose="00000500000000000000"/>
                <a:ea typeface="Poppins" panose="00000500000000000000"/>
                <a:cs typeface="Poppins" panose="00000500000000000000"/>
                <a:sym typeface="Poppins" panose="00000500000000000000"/>
              </a:rPr>
              <a:t> </a:t>
            </a:r>
            <a:endParaRPr lang="en-US" sz="2800">
              <a:solidFill>
                <a:srgbClr val="FFFFFF"/>
              </a:solidFill>
              <a:latin typeface="Poppins" panose="00000500000000000000"/>
              <a:ea typeface="Poppins" panose="00000500000000000000"/>
              <a:cs typeface="Poppins" panose="00000500000000000000"/>
              <a:sym typeface="Poppins" panose="00000500000000000000"/>
            </a:endParaRPr>
          </a:p>
          <a:p>
            <a:pPr algn="ctr">
              <a:lnSpc>
                <a:spcPts val="3640"/>
              </a:lnSpc>
            </a:pPr>
            <a:r>
              <a:rPr lang="en-US" sz="2600">
                <a:solidFill>
                  <a:srgbClr val="A7A9AC"/>
                </a:solidFill>
                <a:latin typeface="Poppins" panose="00000500000000000000"/>
                <a:ea typeface="Poppins" panose="00000500000000000000"/>
                <a:cs typeface="Poppins" panose="00000500000000000000"/>
                <a:sym typeface="Poppins" panose="00000500000000000000"/>
              </a:rPr>
              <a:t>（Impact of prediction bias)</a:t>
            </a:r>
            <a:endParaRPr lang="en-US" sz="2600">
              <a:solidFill>
                <a:srgbClr val="A7A9AC"/>
              </a:solidFill>
              <a:latin typeface="Poppins" panose="00000500000000000000"/>
              <a:ea typeface="Poppins" panose="00000500000000000000"/>
              <a:cs typeface="Poppins" panose="00000500000000000000"/>
              <a:sym typeface="Poppins" panose="00000500000000000000"/>
            </a:endParaRPr>
          </a:p>
          <a:p>
            <a:pPr algn="ctr">
              <a:lnSpc>
                <a:spcPts val="3920"/>
              </a:lnSpc>
            </a:pPr>
            <a:r>
              <a:rPr lang="en-US" sz="2800">
                <a:solidFill>
                  <a:srgbClr val="FFFFFF"/>
                </a:solidFill>
                <a:latin typeface="Poppins" panose="00000500000000000000"/>
                <a:ea typeface="Poppins" panose="00000500000000000000"/>
                <a:cs typeface="Poppins" panose="00000500000000000000"/>
                <a:sym typeface="Poppins" panose="00000500000000000000"/>
              </a:rPr>
              <a:t>↓</a:t>
            </a:r>
            <a:endParaRPr lang="en-US" sz="2800">
              <a:solidFill>
                <a:srgbClr val="FFFFFF"/>
              </a:solidFill>
              <a:latin typeface="Poppins" panose="00000500000000000000"/>
              <a:ea typeface="Poppins" panose="00000500000000000000"/>
              <a:cs typeface="Poppins" panose="00000500000000000000"/>
              <a:sym typeface="Poppins" panose="00000500000000000000"/>
            </a:endParaRPr>
          </a:p>
          <a:p>
            <a:pPr algn="ctr">
              <a:lnSpc>
                <a:spcPts val="3920"/>
              </a:lnSpc>
            </a:pPr>
          </a:p>
          <a:p>
            <a:pPr algn="ctr">
              <a:lnSpc>
                <a:spcPts val="3920"/>
              </a:lnSpc>
            </a:pPr>
            <a:r>
              <a:rPr lang="en-US" sz="2800" b="1">
                <a:solidFill>
                  <a:srgbClr val="FFFFFF"/>
                </a:solidFill>
                <a:latin typeface="Poppins Bold" panose="00000800000000000000"/>
                <a:ea typeface="Poppins Bold" panose="00000800000000000000"/>
                <a:cs typeface="Poppins Bold" panose="00000800000000000000"/>
                <a:sym typeface="Poppins Bold" panose="00000800000000000000"/>
              </a:rPr>
              <a:t>Does home vs. away performance further influence fan predictions?</a:t>
            </a:r>
            <a:endParaRPr lang="en-US" sz="2800" b="1">
              <a:solidFill>
                <a:srgbClr val="FFFFFF"/>
              </a:solidFill>
              <a:latin typeface="Poppins Bold" panose="00000800000000000000"/>
              <a:ea typeface="Poppins Bold" panose="00000800000000000000"/>
              <a:cs typeface="Poppins Bold" panose="00000800000000000000"/>
              <a:sym typeface="Poppins Bold" panose="00000800000000000000"/>
            </a:endParaRPr>
          </a:p>
          <a:p>
            <a:pPr algn="ctr">
              <a:lnSpc>
                <a:spcPts val="3640"/>
              </a:lnSpc>
            </a:pPr>
            <a:r>
              <a:rPr lang="en-US" sz="2600">
                <a:solidFill>
                  <a:srgbClr val="A7A9AC"/>
                </a:solidFill>
                <a:latin typeface="Poppins" panose="00000500000000000000"/>
                <a:ea typeface="Poppins" panose="00000500000000000000"/>
                <a:cs typeface="Poppins" panose="00000500000000000000"/>
                <a:sym typeface="Poppins" panose="00000500000000000000"/>
              </a:rPr>
              <a:t> (Additional external factor)</a:t>
            </a:r>
            <a:endParaRPr lang="en-US" sz="2600">
              <a:solidFill>
                <a:srgbClr val="A7A9AC"/>
              </a:solidFill>
              <a:latin typeface="Poppins" panose="00000500000000000000"/>
              <a:ea typeface="Poppins" panose="00000500000000000000"/>
              <a:cs typeface="Poppins" panose="00000500000000000000"/>
              <a:sym typeface="Poppins" panose="00000500000000000000"/>
            </a:endParaRPr>
          </a:p>
        </p:txBody>
      </p:sp>
      <p:sp>
        <p:nvSpPr>
          <p:cNvPr id="3" name="TextBox 3"/>
          <p:cNvSpPr txBox="1"/>
          <p:nvPr/>
        </p:nvSpPr>
        <p:spPr>
          <a:xfrm>
            <a:off x="1188349" y="1285743"/>
            <a:ext cx="4756056" cy="419099"/>
          </a:xfrm>
          <a:prstGeom prst="rect">
            <a:avLst/>
          </a:prstGeom>
        </p:spPr>
        <p:txBody>
          <a:bodyPr lIns="0" tIns="0" rIns="0" bIns="0" rtlCol="0" anchor="t">
            <a:spAutoFit/>
          </a:bodyPr>
          <a:lstStyle/>
          <a:p>
            <a:pPr algn="l">
              <a:lnSpc>
                <a:spcPts val="3135"/>
              </a:lnSpc>
            </a:pPr>
            <a:r>
              <a:rPr lang="en-US" sz="33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rPr>
              <a:t>ADDITIONAL ANALYTICS</a:t>
            </a:r>
            <a:endParaRPr lang="en-US" sz="33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endParaRPr>
          </a:p>
        </p:txBody>
      </p:sp>
      <p:grpSp>
        <p:nvGrpSpPr>
          <p:cNvPr id="4" name="Group 4"/>
          <p:cNvGrpSpPr/>
          <p:nvPr/>
        </p:nvGrpSpPr>
        <p:grpSpPr>
          <a:xfrm rot="-2700000">
            <a:off x="16770020" y="-1065294"/>
            <a:ext cx="978559" cy="4549674"/>
            <a:chOff x="0" y="0"/>
            <a:chExt cx="840427" cy="3907446"/>
          </a:xfrm>
        </p:grpSpPr>
        <p:sp>
          <p:nvSpPr>
            <p:cNvPr id="5" name="Freeform 5"/>
            <p:cNvSpPr/>
            <p:nvPr/>
          </p:nvSpPr>
          <p:spPr>
            <a:xfrm>
              <a:off x="0" y="0"/>
              <a:ext cx="840427" cy="3907446"/>
            </a:xfrm>
            <a:custGeom>
              <a:avLst/>
              <a:gdLst/>
              <a:ahLst/>
              <a:cxnLst/>
              <a:rect l="l" t="t" r="r" b="b"/>
              <a:pathLst>
                <a:path w="840427" h="3907446">
                  <a:moveTo>
                    <a:pt x="203200" y="0"/>
                  </a:moveTo>
                  <a:lnTo>
                    <a:pt x="840427" y="0"/>
                  </a:lnTo>
                  <a:lnTo>
                    <a:pt x="637227" y="3907446"/>
                  </a:lnTo>
                  <a:lnTo>
                    <a:pt x="0" y="3907446"/>
                  </a:lnTo>
                  <a:lnTo>
                    <a:pt x="203200" y="0"/>
                  </a:lnTo>
                  <a:close/>
                </a:path>
              </a:pathLst>
            </a:custGeom>
            <a:gradFill rotWithShape="1">
              <a:gsLst>
                <a:gs pos="0">
                  <a:srgbClr val="8D2600">
                    <a:alpha val="100000"/>
                  </a:srgbClr>
                </a:gs>
                <a:gs pos="100000">
                  <a:srgbClr val="FF4500">
                    <a:alpha val="100000"/>
                  </a:srgbClr>
                </a:gs>
              </a:gsLst>
              <a:lin ang="0"/>
            </a:gradFill>
          </p:spPr>
        </p:sp>
        <p:sp>
          <p:nvSpPr>
            <p:cNvPr id="6" name="TextBox 6"/>
            <p:cNvSpPr txBox="1"/>
            <p:nvPr/>
          </p:nvSpPr>
          <p:spPr>
            <a:xfrm>
              <a:off x="101600" y="-57150"/>
              <a:ext cx="637227" cy="3964596"/>
            </a:xfrm>
            <a:prstGeom prst="rect">
              <a:avLst/>
            </a:prstGeom>
          </p:spPr>
          <p:txBody>
            <a:bodyPr lIns="50800" tIns="50800" rIns="50800" bIns="50800" rtlCol="0" anchor="ctr"/>
            <a:lstStyle/>
            <a:p>
              <a:pPr algn="ctr">
                <a:lnSpc>
                  <a:spcPts val="2800"/>
                </a:lnSpc>
              </a:p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22" b="-9222"/>
            </a:stretch>
          </a:blipFill>
        </p:spPr>
      </p:sp>
      <p:sp>
        <p:nvSpPr>
          <p:cNvPr id="3" name="TextBox 3"/>
          <p:cNvSpPr txBox="1"/>
          <p:nvPr/>
        </p:nvSpPr>
        <p:spPr>
          <a:xfrm>
            <a:off x="5128069" y="989942"/>
            <a:ext cx="1537379" cy="358742"/>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Poppins" panose="00000500000000000000"/>
                <a:ea typeface="Poppins" panose="00000500000000000000"/>
                <a:cs typeface="Poppins" panose="00000500000000000000"/>
                <a:sym typeface="Poppins" panose="00000500000000000000"/>
              </a:rPr>
              <a:t>Home</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4" name="TextBox 4"/>
          <p:cNvSpPr txBox="1"/>
          <p:nvPr/>
        </p:nvSpPr>
        <p:spPr>
          <a:xfrm>
            <a:off x="9144000" y="872434"/>
            <a:ext cx="7794678" cy="1162050"/>
          </a:xfrm>
          <a:prstGeom prst="rect">
            <a:avLst/>
          </a:prstGeom>
        </p:spPr>
        <p:txBody>
          <a:bodyPr lIns="0" tIns="0" rIns="0" bIns="0" rtlCol="0" anchor="t">
            <a:spAutoFit/>
          </a:bodyPr>
          <a:lstStyle/>
          <a:p>
            <a:pPr algn="l">
              <a:lnSpc>
                <a:spcPts val="8550"/>
              </a:lnSpc>
            </a:pPr>
            <a:r>
              <a:rPr lang="en-US" sz="90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rPr>
              <a:t>KEY ASSUMPTIONS</a:t>
            </a:r>
            <a:endParaRPr lang="en-US" sz="90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endParaRPr>
          </a:p>
        </p:txBody>
      </p:sp>
      <p:sp>
        <p:nvSpPr>
          <p:cNvPr id="5" name="TextBox 5"/>
          <p:cNvSpPr txBox="1"/>
          <p:nvPr/>
        </p:nvSpPr>
        <p:spPr>
          <a:xfrm>
            <a:off x="8046692" y="2785621"/>
            <a:ext cx="9863888" cy="3717926"/>
          </a:xfrm>
          <a:prstGeom prst="rect">
            <a:avLst/>
          </a:prstGeom>
        </p:spPr>
        <p:txBody>
          <a:bodyPr lIns="0" tIns="0" rIns="0" bIns="0" rtlCol="0" anchor="t">
            <a:spAutoFit/>
          </a:bodyPr>
          <a:lstStyle/>
          <a:p>
            <a:pPr marL="539750" lvl="1" indent="-269875" algn="just">
              <a:lnSpc>
                <a:spcPts val="4250"/>
              </a:lnSpc>
              <a:buAutoNum type="arabicPeriod"/>
            </a:pPr>
            <a:r>
              <a:rPr lang="en-US" sz="2500" b="1">
                <a:solidFill>
                  <a:srgbClr val="FFFFFF"/>
                </a:solidFill>
                <a:latin typeface="Poppins Bold" panose="00000800000000000000"/>
                <a:ea typeface="Poppins Bold" panose="00000800000000000000"/>
                <a:cs typeface="Poppins Bold" panose="00000800000000000000"/>
                <a:sym typeface="Poppins Bold" panose="00000800000000000000"/>
              </a:rPr>
              <a:t>Fan-submitted brackets accurately represent </a:t>
            </a:r>
            <a:r>
              <a:rPr lang="en-US" sz="2500" b="1">
                <a:solidFill>
                  <a:srgbClr val="D3410D"/>
                </a:solidFill>
                <a:latin typeface="Poppins Bold" panose="00000800000000000000"/>
                <a:ea typeface="Poppins Bold" panose="00000800000000000000"/>
                <a:cs typeface="Poppins Bold" panose="00000800000000000000"/>
                <a:sym typeface="Poppins Bold" panose="00000800000000000000"/>
              </a:rPr>
              <a:t>real prediction behavior</a:t>
            </a:r>
            <a:r>
              <a:rPr lang="en-US" sz="2500" b="1">
                <a:solidFill>
                  <a:srgbClr val="FFFFFF"/>
                </a:solidFill>
                <a:latin typeface="Poppins Bold" panose="00000800000000000000"/>
                <a:ea typeface="Poppins Bold" panose="00000800000000000000"/>
                <a:cs typeface="Poppins Bold" panose="00000800000000000000"/>
                <a:sym typeface="Poppins Bold" panose="00000800000000000000"/>
              </a:rPr>
              <a:t>.</a:t>
            </a:r>
            <a:endParaRPr lang="en-US" sz="2500" b="1">
              <a:solidFill>
                <a:srgbClr val="FFFFFF"/>
              </a:solidFill>
              <a:latin typeface="Poppins Bold" panose="00000800000000000000"/>
              <a:ea typeface="Poppins Bold" panose="00000800000000000000"/>
              <a:cs typeface="Poppins Bold" panose="00000800000000000000"/>
              <a:sym typeface="Poppins Bold" panose="00000800000000000000"/>
            </a:endParaRPr>
          </a:p>
          <a:p>
            <a:pPr marL="539750" lvl="1" indent="-269875" algn="just">
              <a:lnSpc>
                <a:spcPts val="4250"/>
              </a:lnSpc>
              <a:buAutoNum type="arabicPeriod"/>
            </a:pPr>
            <a:r>
              <a:rPr lang="en-US" sz="2500" b="1">
                <a:solidFill>
                  <a:srgbClr val="FFFFFF"/>
                </a:solidFill>
                <a:latin typeface="Poppins Bold" panose="00000800000000000000"/>
                <a:ea typeface="Poppins Bold" panose="00000800000000000000"/>
                <a:cs typeface="Poppins Bold" panose="00000800000000000000"/>
                <a:sym typeface="Poppins Bold" panose="00000800000000000000"/>
              </a:rPr>
              <a:t>The selected features </a:t>
            </a:r>
            <a:r>
              <a:rPr lang="en-US" sz="2500" b="1">
                <a:solidFill>
                  <a:srgbClr val="D3410D"/>
                </a:solidFill>
                <a:latin typeface="Poppins Bold" panose="00000800000000000000"/>
                <a:ea typeface="Poppins Bold" panose="00000800000000000000"/>
                <a:cs typeface="Poppins Bold" panose="00000800000000000000"/>
                <a:sym typeface="Poppins Bold" panose="00000800000000000000"/>
              </a:rPr>
              <a:t>sufficiently describe</a:t>
            </a:r>
            <a:r>
              <a:rPr lang="en-US" sz="2500" b="1">
                <a:solidFill>
                  <a:srgbClr val="FFFFFF"/>
                </a:solidFill>
                <a:latin typeface="Poppins Bold" panose="00000800000000000000"/>
                <a:ea typeface="Poppins Bold" panose="00000800000000000000"/>
                <a:cs typeface="Poppins Bold" panose="00000800000000000000"/>
                <a:sym typeface="Poppins Bold" panose="00000800000000000000"/>
              </a:rPr>
              <a:t> fan prediction patterns.</a:t>
            </a:r>
            <a:endParaRPr lang="en-US" sz="2500" b="1">
              <a:solidFill>
                <a:srgbClr val="FFFFFF"/>
              </a:solidFill>
              <a:latin typeface="Poppins Bold" panose="00000800000000000000"/>
              <a:ea typeface="Poppins Bold" panose="00000800000000000000"/>
              <a:cs typeface="Poppins Bold" panose="00000800000000000000"/>
              <a:sym typeface="Poppins Bold" panose="00000800000000000000"/>
            </a:endParaRPr>
          </a:p>
          <a:p>
            <a:pPr marL="539750" lvl="1" indent="-269875" algn="just">
              <a:lnSpc>
                <a:spcPts val="4250"/>
              </a:lnSpc>
              <a:buAutoNum type="arabicPeriod"/>
            </a:pPr>
            <a:r>
              <a:rPr lang="en-US" sz="2500" b="1">
                <a:solidFill>
                  <a:srgbClr val="FFFFFF"/>
                </a:solidFill>
                <a:latin typeface="Poppins Bold" panose="00000800000000000000"/>
                <a:ea typeface="Poppins Bold" panose="00000800000000000000"/>
                <a:cs typeface="Poppins Bold" panose="00000800000000000000"/>
                <a:sym typeface="Poppins Bold" panose="00000800000000000000"/>
              </a:rPr>
              <a:t> Data distributions remain </a:t>
            </a:r>
            <a:r>
              <a:rPr lang="en-US" sz="2500" b="1">
                <a:solidFill>
                  <a:srgbClr val="D3410D"/>
                </a:solidFill>
                <a:latin typeface="Poppins Bold" panose="00000800000000000000"/>
                <a:ea typeface="Poppins Bold" panose="00000800000000000000"/>
                <a:cs typeface="Poppins Bold" panose="00000800000000000000"/>
                <a:sym typeface="Poppins Bold" panose="00000800000000000000"/>
              </a:rPr>
              <a:t>consistent</a:t>
            </a:r>
            <a:r>
              <a:rPr lang="en-US" sz="2500" b="1">
                <a:solidFill>
                  <a:srgbClr val="FFFFFF"/>
                </a:solidFill>
                <a:latin typeface="Poppins Bold" panose="00000800000000000000"/>
                <a:ea typeface="Poppins Bold" panose="00000800000000000000"/>
                <a:cs typeface="Poppins Bold" panose="00000800000000000000"/>
                <a:sym typeface="Poppins Bold" panose="00000800000000000000"/>
              </a:rPr>
              <a:t> between training and testing sets.</a:t>
            </a:r>
            <a:endParaRPr lang="en-US" sz="2500" b="1">
              <a:solidFill>
                <a:srgbClr val="FFFFFF"/>
              </a:solidFill>
              <a:latin typeface="Poppins Bold" panose="00000800000000000000"/>
              <a:ea typeface="Poppins Bold" panose="00000800000000000000"/>
              <a:cs typeface="Poppins Bold" panose="00000800000000000000"/>
              <a:sym typeface="Poppins Bold" panose="00000800000000000000"/>
            </a:endParaRPr>
          </a:p>
          <a:p>
            <a:pPr marL="539750" lvl="1" indent="-269875" algn="just">
              <a:lnSpc>
                <a:spcPts val="4250"/>
              </a:lnSpc>
              <a:buAutoNum type="arabicPeriod"/>
            </a:pPr>
            <a:r>
              <a:rPr lang="en-US" sz="2500" b="1">
                <a:solidFill>
                  <a:srgbClr val="FFFFFF"/>
                </a:solidFill>
                <a:latin typeface="Poppins Bold" panose="00000800000000000000"/>
                <a:ea typeface="Poppins Bold" panose="00000800000000000000"/>
                <a:cs typeface="Poppins Bold" panose="00000800000000000000"/>
                <a:sym typeface="Poppins Bold" panose="00000800000000000000"/>
              </a:rPr>
              <a:t>Each fan’s prediction is</a:t>
            </a:r>
            <a:r>
              <a:rPr lang="en-US" sz="2500" b="1">
                <a:solidFill>
                  <a:srgbClr val="D3410D"/>
                </a:solidFill>
                <a:latin typeface="Poppins Bold" panose="00000800000000000000"/>
                <a:ea typeface="Poppins Bold" panose="00000800000000000000"/>
                <a:cs typeface="Poppins Bold" panose="00000800000000000000"/>
                <a:sym typeface="Poppins Bold" panose="00000800000000000000"/>
              </a:rPr>
              <a:t> independent</a:t>
            </a:r>
            <a:r>
              <a:rPr lang="en-US" sz="2500" b="1">
                <a:solidFill>
                  <a:srgbClr val="FFFFFF"/>
                </a:solidFill>
                <a:latin typeface="Poppins Bold" panose="00000800000000000000"/>
                <a:ea typeface="Poppins Bold" panose="00000800000000000000"/>
                <a:cs typeface="Poppins Bold" panose="00000800000000000000"/>
                <a:sym typeface="Poppins Bold" panose="00000800000000000000"/>
              </a:rPr>
              <a:t> of others.</a:t>
            </a:r>
            <a:endParaRPr lang="en-US" sz="2500" b="1">
              <a:solidFill>
                <a:srgbClr val="FFFFFF"/>
              </a:solidFill>
              <a:latin typeface="Poppins Bold" panose="00000800000000000000"/>
              <a:ea typeface="Poppins Bold" panose="00000800000000000000"/>
              <a:cs typeface="Poppins Bold" panose="00000800000000000000"/>
              <a:sym typeface="Poppins Bold" panose="00000800000000000000"/>
            </a:endParaRPr>
          </a:p>
        </p:txBody>
      </p:sp>
      <p:grpSp>
        <p:nvGrpSpPr>
          <p:cNvPr id="6" name="Group 6"/>
          <p:cNvGrpSpPr/>
          <p:nvPr/>
        </p:nvGrpSpPr>
        <p:grpSpPr>
          <a:xfrm rot="0">
            <a:off x="251095" y="-114545"/>
            <a:ext cx="7700180" cy="10516090"/>
            <a:chOff x="0" y="0"/>
            <a:chExt cx="5462150" cy="7459626"/>
          </a:xfrm>
        </p:grpSpPr>
        <p:sp>
          <p:nvSpPr>
            <p:cNvPr id="7" name="Freeform 7"/>
            <p:cNvSpPr/>
            <p:nvPr/>
          </p:nvSpPr>
          <p:spPr>
            <a:xfrm>
              <a:off x="0" y="0"/>
              <a:ext cx="5462150" cy="7459627"/>
            </a:xfrm>
            <a:custGeom>
              <a:avLst/>
              <a:gdLst/>
              <a:ahLst/>
              <a:cxnLst/>
              <a:rect l="l" t="t" r="r" b="b"/>
              <a:pathLst>
                <a:path w="5462150" h="7459627">
                  <a:moveTo>
                    <a:pt x="0" y="7459627"/>
                  </a:moveTo>
                  <a:lnTo>
                    <a:pt x="634727" y="0"/>
                  </a:lnTo>
                  <a:lnTo>
                    <a:pt x="5462150" y="0"/>
                  </a:lnTo>
                  <a:lnTo>
                    <a:pt x="4827423" y="7459627"/>
                  </a:lnTo>
                  <a:close/>
                </a:path>
              </a:pathLst>
            </a:custGeom>
            <a:blipFill>
              <a:blip r:embed="rId2"/>
              <a:stretch>
                <a:fillRect t="-4917" b="-4917"/>
              </a:stretch>
            </a:blipFill>
          </p:spPr>
        </p:sp>
      </p:grpSp>
      <p:grpSp>
        <p:nvGrpSpPr>
          <p:cNvPr id="8" name="Group 8"/>
          <p:cNvGrpSpPr/>
          <p:nvPr/>
        </p:nvGrpSpPr>
        <p:grpSpPr>
          <a:xfrm rot="0">
            <a:off x="-1057903" y="-479363"/>
            <a:ext cx="1808337" cy="10287000"/>
            <a:chOff x="0" y="0"/>
            <a:chExt cx="406400" cy="2311868"/>
          </a:xfrm>
        </p:grpSpPr>
        <p:sp>
          <p:nvSpPr>
            <p:cNvPr id="9" name="Freeform 9"/>
            <p:cNvSpPr/>
            <p:nvPr/>
          </p:nvSpPr>
          <p:spPr>
            <a:xfrm>
              <a:off x="0" y="0"/>
              <a:ext cx="406400" cy="2311868"/>
            </a:xfrm>
            <a:custGeom>
              <a:avLst/>
              <a:gdLst/>
              <a:ahLst/>
              <a:cxnLst/>
              <a:rect l="l" t="t" r="r" b="b"/>
              <a:pathLst>
                <a:path w="406400" h="2311868">
                  <a:moveTo>
                    <a:pt x="203200" y="0"/>
                  </a:moveTo>
                  <a:lnTo>
                    <a:pt x="406400" y="0"/>
                  </a:lnTo>
                  <a:lnTo>
                    <a:pt x="203200" y="2311868"/>
                  </a:lnTo>
                  <a:lnTo>
                    <a:pt x="0" y="2311868"/>
                  </a:lnTo>
                  <a:lnTo>
                    <a:pt x="203200" y="0"/>
                  </a:lnTo>
                  <a:close/>
                </a:path>
              </a:pathLst>
            </a:custGeom>
            <a:gradFill rotWithShape="1">
              <a:gsLst>
                <a:gs pos="0">
                  <a:srgbClr val="8D2600">
                    <a:alpha val="100000"/>
                  </a:srgbClr>
                </a:gs>
                <a:gs pos="100000">
                  <a:srgbClr val="FF4500">
                    <a:alpha val="100000"/>
                  </a:srgbClr>
                </a:gs>
              </a:gsLst>
              <a:lin ang="0"/>
            </a:gradFill>
          </p:spPr>
        </p:sp>
        <p:sp>
          <p:nvSpPr>
            <p:cNvPr id="10" name="TextBox 10"/>
            <p:cNvSpPr txBox="1"/>
            <p:nvPr/>
          </p:nvSpPr>
          <p:spPr>
            <a:xfrm>
              <a:off x="101600" y="-57150"/>
              <a:ext cx="203200" cy="2369018"/>
            </a:xfrm>
            <a:prstGeom prst="rect">
              <a:avLst/>
            </a:prstGeom>
          </p:spPr>
          <p:txBody>
            <a:bodyPr lIns="50800" tIns="50800" rIns="50800" bIns="50800" rtlCol="0" anchor="ctr"/>
            <a:lstStyle/>
            <a:p>
              <a:pPr algn="ctr">
                <a:lnSpc>
                  <a:spcPts val="2800"/>
                </a:lnSpc>
              </a:pPr>
            </a:p>
          </p:txBody>
        </p:sp>
      </p:grpSp>
      <p:sp>
        <p:nvSpPr>
          <p:cNvPr id="11" name="TextBox 11"/>
          <p:cNvSpPr txBox="1"/>
          <p:nvPr/>
        </p:nvSpPr>
        <p:spPr>
          <a:xfrm>
            <a:off x="8438056" y="2296672"/>
            <a:ext cx="3204158" cy="441324"/>
          </a:xfrm>
          <a:prstGeom prst="rect">
            <a:avLst/>
          </a:prstGeom>
        </p:spPr>
        <p:txBody>
          <a:bodyPr lIns="0" tIns="0" rIns="0" bIns="0" rtlCol="0" anchor="t">
            <a:spAutoFit/>
          </a:bodyPr>
          <a:lstStyle/>
          <a:p>
            <a:pPr algn="l">
              <a:lnSpc>
                <a:spcPts val="3230"/>
              </a:lnSpc>
            </a:pPr>
            <a:r>
              <a:rPr lang="en-US" sz="34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rPr>
              <a:t>DATA ASSUMPTIONS</a:t>
            </a:r>
            <a:endParaRPr lang="en-US" sz="34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endParaRPr>
          </a:p>
        </p:txBody>
      </p:sp>
      <p:sp>
        <p:nvSpPr>
          <p:cNvPr id="12" name="TextBox 12"/>
          <p:cNvSpPr txBox="1"/>
          <p:nvPr/>
        </p:nvSpPr>
        <p:spPr>
          <a:xfrm>
            <a:off x="8046692" y="6985604"/>
            <a:ext cx="4435740" cy="441324"/>
          </a:xfrm>
          <a:prstGeom prst="rect">
            <a:avLst/>
          </a:prstGeom>
        </p:spPr>
        <p:txBody>
          <a:bodyPr lIns="0" tIns="0" rIns="0" bIns="0" rtlCol="0" anchor="t">
            <a:spAutoFit/>
          </a:bodyPr>
          <a:lstStyle/>
          <a:p>
            <a:pPr algn="l">
              <a:lnSpc>
                <a:spcPts val="3230"/>
              </a:lnSpc>
            </a:pPr>
            <a:r>
              <a:rPr lang="en-US" sz="34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rPr>
              <a:t>MODELING ASSUMPTIONS</a:t>
            </a:r>
            <a:endParaRPr lang="en-US" sz="34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endParaRPr>
          </a:p>
        </p:txBody>
      </p:sp>
      <p:sp>
        <p:nvSpPr>
          <p:cNvPr id="13" name="TextBox 13"/>
          <p:cNvSpPr txBox="1"/>
          <p:nvPr/>
        </p:nvSpPr>
        <p:spPr>
          <a:xfrm>
            <a:off x="7753142" y="7689911"/>
            <a:ext cx="10241308" cy="2117726"/>
          </a:xfrm>
          <a:prstGeom prst="rect">
            <a:avLst/>
          </a:prstGeom>
        </p:spPr>
        <p:txBody>
          <a:bodyPr lIns="0" tIns="0" rIns="0" bIns="0" rtlCol="0" anchor="t">
            <a:spAutoFit/>
          </a:bodyPr>
          <a:lstStyle/>
          <a:p>
            <a:pPr marL="539750" lvl="1" indent="-269875" algn="just">
              <a:lnSpc>
                <a:spcPts val="4250"/>
              </a:lnSpc>
              <a:buAutoNum type="arabicPeriod"/>
            </a:pPr>
            <a:r>
              <a:rPr lang="en-US" sz="2500" b="1">
                <a:solidFill>
                  <a:srgbClr val="D3410D"/>
                </a:solidFill>
                <a:latin typeface="Poppins Bold" panose="00000800000000000000"/>
                <a:ea typeface="Poppins Bold" panose="00000800000000000000"/>
                <a:cs typeface="Poppins Bold" panose="00000800000000000000"/>
                <a:sym typeface="Poppins Bold" panose="00000800000000000000"/>
              </a:rPr>
              <a:t>XGBoost</a:t>
            </a:r>
            <a:r>
              <a:rPr lang="en-US" sz="2500" b="1">
                <a:solidFill>
                  <a:srgbClr val="FFFFFF"/>
                </a:solidFill>
                <a:latin typeface="Poppins Bold" panose="00000800000000000000"/>
                <a:ea typeface="Poppins Bold" panose="00000800000000000000"/>
                <a:cs typeface="Poppins Bold" panose="00000800000000000000"/>
                <a:sym typeface="Poppins Bold" panose="00000800000000000000"/>
              </a:rPr>
              <a:t>  are suitable for this classification task.</a:t>
            </a:r>
            <a:endParaRPr lang="en-US" sz="2500" b="1">
              <a:solidFill>
                <a:srgbClr val="FFFFFF"/>
              </a:solidFill>
              <a:latin typeface="Poppins Bold" panose="00000800000000000000"/>
              <a:ea typeface="Poppins Bold" panose="00000800000000000000"/>
              <a:cs typeface="Poppins Bold" panose="00000800000000000000"/>
              <a:sym typeface="Poppins Bold" panose="00000800000000000000"/>
            </a:endParaRPr>
          </a:p>
          <a:p>
            <a:pPr marL="539750" lvl="1" indent="-269875" algn="just">
              <a:lnSpc>
                <a:spcPts val="4250"/>
              </a:lnSpc>
              <a:buAutoNum type="arabicPeriod"/>
            </a:pPr>
            <a:r>
              <a:rPr lang="en-US" sz="2500" b="1">
                <a:solidFill>
                  <a:srgbClr val="FFFFFF"/>
                </a:solidFill>
                <a:latin typeface="Poppins Bold" panose="00000800000000000000"/>
                <a:ea typeface="Poppins Bold" panose="00000800000000000000"/>
                <a:cs typeface="Poppins Bold" panose="00000800000000000000"/>
                <a:sym typeface="Poppins Bold" panose="00000800000000000000"/>
              </a:rPr>
              <a:t>Feature engineering improves predictive performance. </a:t>
            </a:r>
            <a:endParaRPr lang="en-US" sz="2500" b="1">
              <a:solidFill>
                <a:srgbClr val="FFFFFF"/>
              </a:solidFill>
              <a:latin typeface="Poppins Bold" panose="00000800000000000000"/>
              <a:ea typeface="Poppins Bold" panose="00000800000000000000"/>
              <a:cs typeface="Poppins Bold" panose="00000800000000000000"/>
              <a:sym typeface="Poppins Bold" panose="00000800000000000000"/>
            </a:endParaRPr>
          </a:p>
          <a:p>
            <a:pPr marL="539750" lvl="1" indent="-269875" algn="just">
              <a:lnSpc>
                <a:spcPts val="4250"/>
              </a:lnSpc>
              <a:buAutoNum type="arabicPeriod"/>
            </a:pPr>
            <a:r>
              <a:rPr lang="en-US" sz="2500" b="1">
                <a:solidFill>
                  <a:srgbClr val="FFFFFF"/>
                </a:solidFill>
                <a:latin typeface="Poppins Bold" panose="00000800000000000000"/>
                <a:ea typeface="Poppins Bold" panose="00000800000000000000"/>
                <a:cs typeface="Poppins Bold" panose="00000800000000000000"/>
                <a:sym typeface="Poppins Bold" panose="00000800000000000000"/>
              </a:rPr>
              <a:t>The model is robust to overfitting.</a:t>
            </a:r>
            <a:endParaRPr lang="en-US" sz="2500" b="1">
              <a:solidFill>
                <a:srgbClr val="FFFFFF"/>
              </a:solidFill>
              <a:latin typeface="Poppins Bold" panose="00000800000000000000"/>
              <a:ea typeface="Poppins Bold" panose="00000800000000000000"/>
              <a:cs typeface="Poppins Bold" panose="00000800000000000000"/>
              <a:sym typeface="Poppins Bold" panose="00000800000000000000"/>
            </a:endParaRPr>
          </a:p>
          <a:p>
            <a:pPr marL="539750" lvl="1" indent="-269875" algn="just">
              <a:lnSpc>
                <a:spcPts val="4250"/>
              </a:lnSpc>
              <a:buAutoNum type="arabicPeriod"/>
            </a:pPr>
            <a:r>
              <a:rPr lang="en-US" sz="2500" b="1">
                <a:solidFill>
                  <a:srgbClr val="D3410D"/>
                </a:solidFill>
                <a:latin typeface="Poppins Bold" panose="00000800000000000000"/>
                <a:ea typeface="Poppins Bold" panose="00000800000000000000"/>
                <a:cs typeface="Poppins Bold" panose="00000800000000000000"/>
                <a:sym typeface="Poppins Bold" panose="00000800000000000000"/>
              </a:rPr>
              <a:t>AUC-ROC</a:t>
            </a:r>
            <a:r>
              <a:rPr lang="en-US" sz="2500" b="1">
                <a:solidFill>
                  <a:srgbClr val="FFFFFF"/>
                </a:solidFill>
                <a:latin typeface="Poppins Bold" panose="00000800000000000000"/>
                <a:ea typeface="Poppins Bold" panose="00000800000000000000"/>
                <a:cs typeface="Poppins Bold" panose="00000800000000000000"/>
                <a:sym typeface="Poppins Bold" panose="00000800000000000000"/>
              </a:rPr>
              <a:t> is appropriate evaluation metrics.</a:t>
            </a:r>
            <a:endParaRPr lang="en-US" sz="2500" b="1">
              <a:solidFill>
                <a:srgbClr val="FFFFFF"/>
              </a:solidFill>
              <a:latin typeface="Poppins Bold" panose="00000800000000000000"/>
              <a:ea typeface="Poppins Bold" panose="00000800000000000000"/>
              <a:cs typeface="Poppins Bold" panose="00000800000000000000"/>
              <a:sym typeface="Poppins Bold" panose="0000080000000000000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22" b="-9222"/>
            </a:stretch>
          </a:blipFill>
        </p:spPr>
      </p:sp>
      <p:grpSp>
        <p:nvGrpSpPr>
          <p:cNvPr id="3" name="Group 3"/>
          <p:cNvGrpSpPr/>
          <p:nvPr/>
        </p:nvGrpSpPr>
        <p:grpSpPr>
          <a:xfrm rot="0">
            <a:off x="3375421" y="3058581"/>
            <a:ext cx="4852175" cy="4169838"/>
            <a:chOff x="0" y="0"/>
            <a:chExt cx="812800" cy="698500"/>
          </a:xfrm>
        </p:grpSpPr>
        <p:sp>
          <p:nvSpPr>
            <p:cNvPr id="4" name="Freeform 4"/>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8D2600">
                    <a:alpha val="100000"/>
                  </a:srgbClr>
                </a:gs>
                <a:gs pos="100000">
                  <a:srgbClr val="FF4500">
                    <a:alpha val="100000"/>
                  </a:srgbClr>
                </a:gs>
              </a:gsLst>
              <a:lin ang="0"/>
            </a:gradFill>
          </p:spPr>
        </p:sp>
        <p:sp>
          <p:nvSpPr>
            <p:cNvPr id="5" name="TextBox 5"/>
            <p:cNvSpPr txBox="1"/>
            <p:nvPr/>
          </p:nvSpPr>
          <p:spPr>
            <a:xfrm>
              <a:off x="114300" y="-57150"/>
              <a:ext cx="584200" cy="755650"/>
            </a:xfrm>
            <a:prstGeom prst="rect">
              <a:avLst/>
            </a:prstGeom>
          </p:spPr>
          <p:txBody>
            <a:bodyPr lIns="50800" tIns="50800" rIns="50800" bIns="50800" rtlCol="0" anchor="ctr"/>
            <a:lstStyle/>
            <a:p>
              <a:pPr algn="ctr">
                <a:lnSpc>
                  <a:spcPts val="2800"/>
                </a:lnSpc>
              </a:pPr>
            </a:p>
          </p:txBody>
        </p:sp>
      </p:grpSp>
      <p:grpSp>
        <p:nvGrpSpPr>
          <p:cNvPr id="6" name="Group 6"/>
          <p:cNvGrpSpPr/>
          <p:nvPr/>
        </p:nvGrpSpPr>
        <p:grpSpPr>
          <a:xfrm rot="0">
            <a:off x="-1646722" y="2560019"/>
            <a:ext cx="9186486" cy="5246370"/>
            <a:chOff x="0" y="0"/>
            <a:chExt cx="1223086" cy="698500"/>
          </a:xfrm>
        </p:grpSpPr>
        <p:sp>
          <p:nvSpPr>
            <p:cNvPr id="7" name="Freeform 7"/>
            <p:cNvSpPr/>
            <p:nvPr/>
          </p:nvSpPr>
          <p:spPr>
            <a:xfrm>
              <a:off x="0" y="0"/>
              <a:ext cx="1223086" cy="698500"/>
            </a:xfrm>
            <a:custGeom>
              <a:avLst/>
              <a:gdLst/>
              <a:ahLst/>
              <a:cxnLst/>
              <a:rect l="l" t="t" r="r" b="b"/>
              <a:pathLst>
                <a:path w="1223086" h="698500">
                  <a:moveTo>
                    <a:pt x="1223086" y="349250"/>
                  </a:moveTo>
                  <a:lnTo>
                    <a:pt x="1019886" y="698500"/>
                  </a:lnTo>
                  <a:lnTo>
                    <a:pt x="203200" y="698500"/>
                  </a:lnTo>
                  <a:lnTo>
                    <a:pt x="0" y="349250"/>
                  </a:lnTo>
                  <a:lnTo>
                    <a:pt x="203200" y="0"/>
                  </a:lnTo>
                  <a:lnTo>
                    <a:pt x="1019886" y="0"/>
                  </a:lnTo>
                  <a:lnTo>
                    <a:pt x="1223086" y="349250"/>
                  </a:lnTo>
                  <a:close/>
                </a:path>
              </a:pathLst>
            </a:custGeom>
            <a:blipFill>
              <a:blip r:embed="rId2"/>
              <a:stretch>
                <a:fillRect t="-8367" b="-8367"/>
              </a:stretch>
            </a:blipFill>
          </p:spPr>
        </p:sp>
      </p:grpSp>
      <p:sp>
        <p:nvSpPr>
          <p:cNvPr id="8" name="TextBox 8"/>
          <p:cNvSpPr txBox="1"/>
          <p:nvPr/>
        </p:nvSpPr>
        <p:spPr>
          <a:xfrm>
            <a:off x="378809" y="812077"/>
            <a:ext cx="7848787" cy="1162050"/>
          </a:xfrm>
          <a:prstGeom prst="rect">
            <a:avLst/>
          </a:prstGeom>
        </p:spPr>
        <p:txBody>
          <a:bodyPr lIns="0" tIns="0" rIns="0" bIns="0" rtlCol="0" anchor="t">
            <a:spAutoFit/>
          </a:bodyPr>
          <a:lstStyle/>
          <a:p>
            <a:pPr algn="l">
              <a:lnSpc>
                <a:spcPts val="8550"/>
              </a:lnSpc>
            </a:pPr>
            <a:r>
              <a:rPr lang="en-US" sz="90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rPr>
              <a:t>SUCCESS METRICS</a:t>
            </a:r>
            <a:endParaRPr lang="en-US" sz="90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endParaRPr>
          </a:p>
        </p:txBody>
      </p:sp>
      <p:sp>
        <p:nvSpPr>
          <p:cNvPr id="9" name="TextBox 9"/>
          <p:cNvSpPr txBox="1"/>
          <p:nvPr/>
        </p:nvSpPr>
        <p:spPr>
          <a:xfrm>
            <a:off x="8581346" y="2253266"/>
            <a:ext cx="9309370" cy="2237740"/>
          </a:xfrm>
          <a:prstGeom prst="rect">
            <a:avLst/>
          </a:prstGeom>
        </p:spPr>
        <p:txBody>
          <a:bodyPr lIns="0" tIns="0" rIns="0" bIns="0" rtlCol="0" anchor="t">
            <a:spAutoFit/>
          </a:bodyPr>
          <a:lstStyle/>
          <a:p>
            <a:pPr algn="just">
              <a:lnSpc>
                <a:spcPts val="4200"/>
              </a:lnSpc>
              <a:spcBef>
                <a:spcPct val="0"/>
              </a:spcBef>
            </a:pPr>
            <a:r>
              <a:rPr lang="en-US" sz="3000" b="1">
                <a:solidFill>
                  <a:srgbClr val="FFFFFF"/>
                </a:solidFill>
                <a:latin typeface="Poppins Bold" panose="00000800000000000000"/>
                <a:ea typeface="Poppins Bold" panose="00000800000000000000"/>
                <a:cs typeface="Poppins Bold" panose="00000800000000000000"/>
                <a:sym typeface="Poppins Bold" panose="00000800000000000000"/>
              </a:rPr>
              <a:t>1. </a:t>
            </a:r>
            <a:r>
              <a:rPr lang="en-US" sz="3000" b="1">
                <a:solidFill>
                  <a:srgbClr val="FFFFFF"/>
                </a:solidFill>
                <a:latin typeface="Poppins Bold" panose="00000800000000000000"/>
                <a:ea typeface="Poppins Bold" panose="00000800000000000000"/>
                <a:cs typeface="Poppins Bold" panose="00000800000000000000"/>
                <a:sym typeface="Poppins Bold" panose="00000800000000000000"/>
              </a:rPr>
              <a:t>Predictive Model Performance Metrics (Evaluating Model Accuracy)</a:t>
            </a:r>
            <a:endParaRPr lang="en-US" sz="3000" b="1">
              <a:solidFill>
                <a:srgbClr val="FFFFFF"/>
              </a:solidFill>
              <a:latin typeface="Poppins Bold" panose="00000800000000000000"/>
              <a:ea typeface="Poppins Bold" panose="00000800000000000000"/>
              <a:cs typeface="Poppins Bold" panose="00000800000000000000"/>
              <a:sym typeface="Poppins Bold" panose="00000800000000000000"/>
            </a:endParaRPr>
          </a:p>
          <a:p>
            <a:pPr algn="just">
              <a:lnSpc>
                <a:spcPts val="2800"/>
              </a:lnSpc>
              <a:spcBef>
                <a:spcPct val="0"/>
              </a:spcBef>
            </a:pPr>
          </a:p>
          <a:p>
            <a:pPr algn="just">
              <a:lnSpc>
                <a:spcPts val="3220"/>
              </a:lnSpc>
              <a:spcBef>
                <a:spcPct val="0"/>
              </a:spcBef>
            </a:pPr>
            <a:r>
              <a:rPr lang="en-US" sz="2300">
                <a:solidFill>
                  <a:srgbClr val="FFFFFF"/>
                </a:solidFill>
                <a:latin typeface="Poppins" panose="00000500000000000000"/>
                <a:ea typeface="Poppins" panose="00000500000000000000"/>
                <a:cs typeface="Poppins" panose="00000500000000000000"/>
                <a:sym typeface="Poppins" panose="00000500000000000000"/>
              </a:rPr>
              <a:t>✅ </a:t>
            </a:r>
            <a:r>
              <a:rPr lang="en-US" sz="2300" b="1">
                <a:solidFill>
                  <a:srgbClr val="FFFFFF"/>
                </a:solidFill>
                <a:latin typeface="Poppins Bold" panose="00000800000000000000"/>
                <a:ea typeface="Poppins Bold" panose="00000800000000000000"/>
                <a:cs typeface="Poppins Bold" panose="00000800000000000000"/>
                <a:sym typeface="Poppins Bold" panose="00000800000000000000"/>
              </a:rPr>
              <a:t>Accuracy </a:t>
            </a:r>
            <a:r>
              <a:rPr lang="en-US" sz="2300">
                <a:solidFill>
                  <a:srgbClr val="FFFFFF"/>
                </a:solidFill>
                <a:latin typeface="Poppins" panose="00000500000000000000"/>
                <a:ea typeface="Poppins" panose="00000500000000000000"/>
                <a:cs typeface="Poppins" panose="00000500000000000000"/>
                <a:sym typeface="Poppins" panose="00000500000000000000"/>
              </a:rPr>
              <a:t>– Measures the percentage of correct predictions. Higher accuracy indicates better model performance.</a:t>
            </a:r>
            <a:endParaRPr lang="en-US" sz="2300">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10" name="TextBox 10"/>
          <p:cNvSpPr txBox="1"/>
          <p:nvPr/>
        </p:nvSpPr>
        <p:spPr>
          <a:xfrm>
            <a:off x="8581346" y="5284790"/>
            <a:ext cx="9309370" cy="4375150"/>
          </a:xfrm>
          <a:prstGeom prst="rect">
            <a:avLst/>
          </a:prstGeom>
        </p:spPr>
        <p:txBody>
          <a:bodyPr lIns="0" tIns="0" rIns="0" bIns="0" rtlCol="0" anchor="t">
            <a:spAutoFit/>
          </a:bodyPr>
          <a:lstStyle/>
          <a:p>
            <a:pPr algn="l">
              <a:lnSpc>
                <a:spcPts val="4200"/>
              </a:lnSpc>
              <a:spcBef>
                <a:spcPct val="0"/>
              </a:spcBef>
            </a:pPr>
            <a:r>
              <a:rPr lang="en-US" sz="3000" b="1">
                <a:solidFill>
                  <a:srgbClr val="FFFFFF"/>
                </a:solidFill>
                <a:latin typeface="Poppins Bold" panose="00000800000000000000"/>
                <a:ea typeface="Poppins Bold" panose="00000800000000000000"/>
                <a:cs typeface="Poppins Bold" panose="00000800000000000000"/>
                <a:sym typeface="Poppins Bold" panose="00000800000000000000"/>
              </a:rPr>
              <a:t>2.     </a:t>
            </a:r>
            <a:r>
              <a:rPr lang="en-US" sz="3000" b="1">
                <a:solidFill>
                  <a:srgbClr val="FFFFFF"/>
                </a:solidFill>
                <a:latin typeface="Poppins Bold" panose="00000800000000000000"/>
                <a:ea typeface="Poppins Bold" panose="00000800000000000000"/>
                <a:cs typeface="Poppins Bold" panose="00000800000000000000"/>
                <a:sym typeface="Poppins Bold" panose="00000800000000000000"/>
              </a:rPr>
              <a:t>Fan Behavior &amp; Bias Quantification Metrics (Evaluating Insights on Fan Predictions)</a:t>
            </a:r>
            <a:endParaRPr lang="en-US" sz="3000" b="1">
              <a:solidFill>
                <a:srgbClr val="FFFFFF"/>
              </a:solidFill>
              <a:latin typeface="Poppins Bold" panose="00000800000000000000"/>
              <a:ea typeface="Poppins Bold" panose="00000800000000000000"/>
              <a:cs typeface="Poppins Bold" panose="00000800000000000000"/>
              <a:sym typeface="Poppins Bold" panose="00000800000000000000"/>
            </a:endParaRPr>
          </a:p>
          <a:p>
            <a:pPr algn="l">
              <a:lnSpc>
                <a:spcPts val="4200"/>
              </a:lnSpc>
              <a:spcBef>
                <a:spcPct val="0"/>
              </a:spcBef>
            </a:pPr>
          </a:p>
          <a:p>
            <a:pPr algn="l">
              <a:lnSpc>
                <a:spcPts val="3220"/>
              </a:lnSpc>
              <a:spcBef>
                <a:spcPct val="0"/>
              </a:spcBef>
            </a:pPr>
            <a:r>
              <a:rPr lang="en-US" sz="2300">
                <a:solidFill>
                  <a:srgbClr val="FFFFFF"/>
                </a:solidFill>
                <a:latin typeface="Poppins" panose="00000500000000000000"/>
                <a:ea typeface="Poppins" panose="00000500000000000000"/>
                <a:cs typeface="Poppins" panose="00000500000000000000"/>
                <a:sym typeface="Poppins" panose="00000500000000000000"/>
              </a:rPr>
              <a:t>✅ </a:t>
            </a:r>
            <a:r>
              <a:rPr lang="en-US" sz="2300" b="1">
                <a:solidFill>
                  <a:srgbClr val="FFFFFF"/>
                </a:solidFill>
                <a:latin typeface="Poppins Bold" panose="00000800000000000000"/>
                <a:ea typeface="Poppins Bold" panose="00000800000000000000"/>
                <a:cs typeface="Poppins Bold" panose="00000800000000000000"/>
                <a:sym typeface="Poppins Bold" panose="00000800000000000000"/>
              </a:rPr>
              <a:t>Bias Score</a:t>
            </a:r>
            <a:r>
              <a:rPr lang="en-US" sz="2300">
                <a:solidFill>
                  <a:srgbClr val="FFFFFF"/>
                </a:solidFill>
                <a:latin typeface="Poppins" panose="00000500000000000000"/>
                <a:ea typeface="Poppins" panose="00000500000000000000"/>
                <a:cs typeface="Poppins" panose="00000500000000000000"/>
                <a:sym typeface="Poppins" panose="00000500000000000000"/>
              </a:rPr>
              <a:t> – Quantifies fan bias toward certain teams (e.g., overestimating popular teams).</a:t>
            </a:r>
            <a:endParaRPr lang="en-US" sz="2300">
              <a:solidFill>
                <a:srgbClr val="FFFFFF"/>
              </a:solidFill>
              <a:latin typeface="Poppins" panose="00000500000000000000"/>
              <a:ea typeface="Poppins" panose="00000500000000000000"/>
              <a:cs typeface="Poppins" panose="00000500000000000000"/>
              <a:sym typeface="Poppins" panose="00000500000000000000"/>
            </a:endParaRPr>
          </a:p>
          <a:p>
            <a:pPr algn="l">
              <a:lnSpc>
                <a:spcPts val="3220"/>
              </a:lnSpc>
              <a:spcBef>
                <a:spcPct val="0"/>
              </a:spcBef>
            </a:pPr>
            <a:r>
              <a:rPr lang="en-US" sz="2300">
                <a:solidFill>
                  <a:srgbClr val="FFFFFF"/>
                </a:solidFill>
                <a:latin typeface="Poppins" panose="00000500000000000000"/>
                <a:ea typeface="Poppins" panose="00000500000000000000"/>
                <a:cs typeface="Poppins" panose="00000500000000000000"/>
                <a:sym typeface="Poppins" panose="00000500000000000000"/>
              </a:rPr>
              <a:t>✅ </a:t>
            </a:r>
            <a:r>
              <a:rPr lang="en-US" sz="2300" b="1">
                <a:solidFill>
                  <a:srgbClr val="FFFFFF"/>
                </a:solidFill>
                <a:latin typeface="Poppins Bold" panose="00000800000000000000"/>
                <a:ea typeface="Poppins Bold" panose="00000800000000000000"/>
                <a:cs typeface="Poppins Bold" panose="00000800000000000000"/>
                <a:sym typeface="Poppins Bold" panose="00000800000000000000"/>
              </a:rPr>
              <a:t>Prediction Deviation </a:t>
            </a:r>
            <a:r>
              <a:rPr lang="en-US" sz="2300">
                <a:solidFill>
                  <a:srgbClr val="FFFFFF"/>
                </a:solidFill>
                <a:latin typeface="Poppins" panose="00000500000000000000"/>
                <a:ea typeface="Poppins" panose="00000500000000000000"/>
                <a:cs typeface="Poppins" panose="00000500000000000000"/>
                <a:sym typeface="Poppins" panose="00000500000000000000"/>
              </a:rPr>
              <a:t>– Compares fan predictions vs. actual game results, revealing overestimated/underestimated teams.</a:t>
            </a:r>
            <a:endParaRPr lang="en-US" sz="2300">
              <a:solidFill>
                <a:srgbClr val="FFFFFF"/>
              </a:solidFill>
              <a:latin typeface="Poppins" panose="00000500000000000000"/>
              <a:ea typeface="Poppins" panose="00000500000000000000"/>
              <a:cs typeface="Poppins" panose="00000500000000000000"/>
              <a:sym typeface="Poppins" panose="00000500000000000000"/>
            </a:endParaRPr>
          </a:p>
          <a:p>
            <a:pPr algn="l">
              <a:lnSpc>
                <a:spcPts val="3220"/>
              </a:lnSpc>
              <a:spcBef>
                <a:spcPct val="0"/>
              </a:spcBef>
            </a:pPr>
            <a:r>
              <a:rPr lang="en-US" sz="2300">
                <a:solidFill>
                  <a:srgbClr val="FFFFFF"/>
                </a:solidFill>
                <a:latin typeface="Poppins" panose="00000500000000000000"/>
                <a:ea typeface="Poppins" panose="00000500000000000000"/>
                <a:cs typeface="Poppins" panose="00000500000000000000"/>
                <a:sym typeface="Poppins" panose="00000500000000000000"/>
              </a:rPr>
              <a:t>✅ Regional Influence – Measures how geographic factors (DMA, clustering) impact fan predictions.</a:t>
            </a:r>
            <a:endParaRPr lang="en-US" sz="2300">
              <a:solidFill>
                <a:srgbClr val="FFFFFF"/>
              </a:solidFill>
              <a:latin typeface="Poppins" panose="00000500000000000000"/>
              <a:ea typeface="Poppins" panose="00000500000000000000"/>
              <a:cs typeface="Poppins" panose="00000500000000000000"/>
              <a:sym typeface="Poppins" panose="00000500000000000000"/>
            </a:endParaRPr>
          </a:p>
          <a:p>
            <a:pPr algn="l">
              <a:lnSpc>
                <a:spcPts val="2800"/>
              </a:lnSpc>
              <a:spcBef>
                <a:spcPct val="0"/>
              </a:spcBef>
            </a:p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22" b="-9222"/>
            </a:stretch>
          </a:blipFill>
        </p:spPr>
      </p:sp>
      <p:grpSp>
        <p:nvGrpSpPr>
          <p:cNvPr id="3" name="Group 3"/>
          <p:cNvGrpSpPr/>
          <p:nvPr/>
        </p:nvGrpSpPr>
        <p:grpSpPr>
          <a:xfrm rot="0">
            <a:off x="-223578" y="4945216"/>
            <a:ext cx="3976178" cy="10781843"/>
            <a:chOff x="0" y="0"/>
            <a:chExt cx="472130" cy="1280233"/>
          </a:xfrm>
        </p:grpSpPr>
        <p:sp>
          <p:nvSpPr>
            <p:cNvPr id="4" name="Freeform 4"/>
            <p:cNvSpPr/>
            <p:nvPr/>
          </p:nvSpPr>
          <p:spPr>
            <a:xfrm>
              <a:off x="0" y="0"/>
              <a:ext cx="472130" cy="1280233"/>
            </a:xfrm>
            <a:custGeom>
              <a:avLst/>
              <a:gdLst/>
              <a:ahLst/>
              <a:cxnLst/>
              <a:rect l="l" t="t" r="r" b="b"/>
              <a:pathLst>
                <a:path w="472130" h="1280233">
                  <a:moveTo>
                    <a:pt x="203200" y="0"/>
                  </a:moveTo>
                  <a:lnTo>
                    <a:pt x="472130" y="0"/>
                  </a:lnTo>
                  <a:lnTo>
                    <a:pt x="268930" y="1280233"/>
                  </a:lnTo>
                  <a:lnTo>
                    <a:pt x="0" y="1280233"/>
                  </a:lnTo>
                  <a:lnTo>
                    <a:pt x="203200" y="0"/>
                  </a:lnTo>
                  <a:close/>
                </a:path>
              </a:pathLst>
            </a:custGeom>
            <a:gradFill rotWithShape="1">
              <a:gsLst>
                <a:gs pos="0">
                  <a:srgbClr val="8D2600">
                    <a:alpha val="100000"/>
                  </a:srgbClr>
                </a:gs>
                <a:gs pos="100000">
                  <a:srgbClr val="FF4500">
                    <a:alpha val="100000"/>
                  </a:srgbClr>
                </a:gs>
              </a:gsLst>
              <a:lin ang="0"/>
            </a:gradFill>
          </p:spPr>
        </p:sp>
        <p:sp>
          <p:nvSpPr>
            <p:cNvPr id="5" name="TextBox 5"/>
            <p:cNvSpPr txBox="1"/>
            <p:nvPr/>
          </p:nvSpPr>
          <p:spPr>
            <a:xfrm>
              <a:off x="101600" y="-57150"/>
              <a:ext cx="268930" cy="1337383"/>
            </a:xfrm>
            <a:prstGeom prst="rect">
              <a:avLst/>
            </a:prstGeom>
          </p:spPr>
          <p:txBody>
            <a:bodyPr lIns="50800" tIns="50800" rIns="50800" bIns="50800" rtlCol="0" anchor="ctr"/>
            <a:lstStyle/>
            <a:p>
              <a:pPr algn="ctr">
                <a:lnSpc>
                  <a:spcPts val="2800"/>
                </a:lnSpc>
              </a:pPr>
            </a:p>
          </p:txBody>
        </p:sp>
      </p:grpSp>
      <p:grpSp>
        <p:nvGrpSpPr>
          <p:cNvPr id="6" name="Group 6"/>
          <p:cNvGrpSpPr/>
          <p:nvPr/>
        </p:nvGrpSpPr>
        <p:grpSpPr>
          <a:xfrm rot="0">
            <a:off x="1551304" y="2186357"/>
            <a:ext cx="2602929" cy="2331842"/>
            <a:chOff x="0" y="0"/>
            <a:chExt cx="1429066" cy="1280233"/>
          </a:xfrm>
        </p:grpSpPr>
        <p:sp>
          <p:nvSpPr>
            <p:cNvPr id="7" name="Freeform 7"/>
            <p:cNvSpPr/>
            <p:nvPr/>
          </p:nvSpPr>
          <p:spPr>
            <a:xfrm>
              <a:off x="0" y="0"/>
              <a:ext cx="1429066" cy="1280233"/>
            </a:xfrm>
            <a:custGeom>
              <a:avLst/>
              <a:gdLst/>
              <a:ahLst/>
              <a:cxnLst/>
              <a:rect l="l" t="t" r="r" b="b"/>
              <a:pathLst>
                <a:path w="1429066" h="1280233">
                  <a:moveTo>
                    <a:pt x="203200" y="0"/>
                  </a:moveTo>
                  <a:lnTo>
                    <a:pt x="1429066" y="0"/>
                  </a:lnTo>
                  <a:lnTo>
                    <a:pt x="1225866" y="1280233"/>
                  </a:lnTo>
                  <a:lnTo>
                    <a:pt x="0" y="1280233"/>
                  </a:lnTo>
                  <a:lnTo>
                    <a:pt x="203200" y="0"/>
                  </a:lnTo>
                  <a:close/>
                </a:path>
              </a:pathLst>
            </a:custGeom>
            <a:gradFill rotWithShape="1">
              <a:gsLst>
                <a:gs pos="0">
                  <a:srgbClr val="8D2600">
                    <a:alpha val="100000"/>
                  </a:srgbClr>
                </a:gs>
                <a:gs pos="100000">
                  <a:srgbClr val="FF4500">
                    <a:alpha val="100000"/>
                  </a:srgbClr>
                </a:gs>
              </a:gsLst>
              <a:lin ang="0"/>
            </a:gradFill>
          </p:spPr>
        </p:sp>
        <p:sp>
          <p:nvSpPr>
            <p:cNvPr id="8" name="TextBox 8"/>
            <p:cNvSpPr txBox="1"/>
            <p:nvPr/>
          </p:nvSpPr>
          <p:spPr>
            <a:xfrm>
              <a:off x="101600" y="-57150"/>
              <a:ext cx="1225866" cy="1337383"/>
            </a:xfrm>
            <a:prstGeom prst="rect">
              <a:avLst/>
            </a:prstGeom>
          </p:spPr>
          <p:txBody>
            <a:bodyPr lIns="50800" tIns="50800" rIns="50800" bIns="50800" rtlCol="0" anchor="ctr"/>
            <a:lstStyle/>
            <a:p>
              <a:pPr algn="ctr">
                <a:lnSpc>
                  <a:spcPts val="2800"/>
                </a:lnSpc>
              </a:pPr>
            </a:p>
          </p:txBody>
        </p:sp>
      </p:grpSp>
      <p:grpSp>
        <p:nvGrpSpPr>
          <p:cNvPr id="9" name="Group 9"/>
          <p:cNvGrpSpPr/>
          <p:nvPr/>
        </p:nvGrpSpPr>
        <p:grpSpPr>
          <a:xfrm rot="0">
            <a:off x="3609316" y="-247421"/>
            <a:ext cx="3976178" cy="10781843"/>
            <a:chOff x="0" y="0"/>
            <a:chExt cx="472130" cy="1280233"/>
          </a:xfrm>
        </p:grpSpPr>
        <p:sp>
          <p:nvSpPr>
            <p:cNvPr id="10" name="Freeform 10"/>
            <p:cNvSpPr/>
            <p:nvPr/>
          </p:nvSpPr>
          <p:spPr>
            <a:xfrm>
              <a:off x="0" y="0"/>
              <a:ext cx="472130" cy="1280233"/>
            </a:xfrm>
            <a:custGeom>
              <a:avLst/>
              <a:gdLst/>
              <a:ahLst/>
              <a:cxnLst/>
              <a:rect l="l" t="t" r="r" b="b"/>
              <a:pathLst>
                <a:path w="472130" h="1280233">
                  <a:moveTo>
                    <a:pt x="203200" y="0"/>
                  </a:moveTo>
                  <a:lnTo>
                    <a:pt x="472130" y="0"/>
                  </a:lnTo>
                  <a:lnTo>
                    <a:pt x="268930" y="1280233"/>
                  </a:lnTo>
                  <a:lnTo>
                    <a:pt x="0" y="1280233"/>
                  </a:lnTo>
                  <a:lnTo>
                    <a:pt x="203200" y="0"/>
                  </a:lnTo>
                  <a:close/>
                </a:path>
              </a:pathLst>
            </a:custGeom>
            <a:gradFill rotWithShape="1">
              <a:gsLst>
                <a:gs pos="0">
                  <a:srgbClr val="8D2600">
                    <a:alpha val="100000"/>
                  </a:srgbClr>
                </a:gs>
                <a:gs pos="100000">
                  <a:srgbClr val="FF4500">
                    <a:alpha val="100000"/>
                  </a:srgbClr>
                </a:gs>
              </a:gsLst>
              <a:lin ang="0"/>
            </a:gradFill>
          </p:spPr>
        </p:sp>
        <p:sp>
          <p:nvSpPr>
            <p:cNvPr id="11" name="TextBox 11"/>
            <p:cNvSpPr txBox="1"/>
            <p:nvPr/>
          </p:nvSpPr>
          <p:spPr>
            <a:xfrm>
              <a:off x="101600" y="-57150"/>
              <a:ext cx="268930" cy="1337383"/>
            </a:xfrm>
            <a:prstGeom prst="rect">
              <a:avLst/>
            </a:prstGeom>
          </p:spPr>
          <p:txBody>
            <a:bodyPr lIns="50800" tIns="50800" rIns="50800" bIns="50800" rtlCol="0" anchor="ctr"/>
            <a:lstStyle/>
            <a:p>
              <a:pPr algn="ctr">
                <a:lnSpc>
                  <a:spcPts val="2800"/>
                </a:lnSpc>
              </a:pPr>
            </a:p>
          </p:txBody>
        </p:sp>
      </p:grpSp>
      <p:sp>
        <p:nvSpPr>
          <p:cNvPr id="12" name="Freeform 12"/>
          <p:cNvSpPr/>
          <p:nvPr/>
        </p:nvSpPr>
        <p:spPr>
          <a:xfrm>
            <a:off x="-1803374" y="4945216"/>
            <a:ext cx="10096228" cy="7534310"/>
          </a:xfrm>
          <a:custGeom>
            <a:avLst/>
            <a:gdLst/>
            <a:ahLst/>
            <a:cxnLst/>
            <a:rect l="l" t="t" r="r" b="b"/>
            <a:pathLst>
              <a:path w="10096228" h="7534310">
                <a:moveTo>
                  <a:pt x="0" y="0"/>
                </a:moveTo>
                <a:lnTo>
                  <a:pt x="10096228" y="0"/>
                </a:lnTo>
                <a:lnTo>
                  <a:pt x="10096228" y="7534311"/>
                </a:lnTo>
                <a:lnTo>
                  <a:pt x="0" y="7534311"/>
                </a:lnTo>
                <a:lnTo>
                  <a:pt x="0" y="0"/>
                </a:lnTo>
                <a:close/>
              </a:path>
            </a:pathLst>
          </a:custGeom>
          <a:blipFill>
            <a:blip r:embed="rId2"/>
            <a:stretch>
              <a:fillRect/>
            </a:stretch>
          </a:blipFill>
        </p:spPr>
      </p:sp>
      <p:sp>
        <p:nvSpPr>
          <p:cNvPr id="13" name="TextBox 13"/>
          <p:cNvSpPr txBox="1"/>
          <p:nvPr/>
        </p:nvSpPr>
        <p:spPr>
          <a:xfrm>
            <a:off x="1028700" y="1146175"/>
            <a:ext cx="1873255" cy="263525"/>
          </a:xfrm>
          <a:prstGeom prst="rect">
            <a:avLst/>
          </a:prstGeom>
        </p:spPr>
        <p:txBody>
          <a:bodyPr lIns="0" tIns="0" rIns="0" bIns="0" rtlCol="0" anchor="t">
            <a:spAutoFit/>
          </a:bodyPr>
          <a:lstStyle/>
          <a:p>
            <a:pPr algn="l">
              <a:lnSpc>
                <a:spcPts val="1900"/>
              </a:lnSpc>
            </a:pPr>
            <a:r>
              <a:rPr lang="en-US" sz="20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rPr>
              <a:t>CCAC</a:t>
            </a:r>
            <a:endParaRPr lang="en-US" sz="20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endParaRPr>
          </a:p>
        </p:txBody>
      </p:sp>
      <p:sp>
        <p:nvSpPr>
          <p:cNvPr id="14" name="TextBox 14"/>
          <p:cNvSpPr txBox="1"/>
          <p:nvPr/>
        </p:nvSpPr>
        <p:spPr>
          <a:xfrm>
            <a:off x="8292854" y="3842331"/>
            <a:ext cx="8826797" cy="2076250"/>
          </a:xfrm>
          <a:prstGeom prst="rect">
            <a:avLst/>
          </a:prstGeom>
        </p:spPr>
        <p:txBody>
          <a:bodyPr lIns="0" tIns="0" rIns="0" bIns="0" rtlCol="0" anchor="t">
            <a:spAutoFit/>
          </a:bodyPr>
          <a:lstStyle/>
          <a:p>
            <a:pPr algn="ctr">
              <a:lnSpc>
                <a:spcPts val="15385"/>
              </a:lnSpc>
            </a:pPr>
            <a:r>
              <a:rPr lang="en-US" sz="16195"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rPr>
              <a:t>PART 2</a:t>
            </a:r>
            <a:endParaRPr lang="en-US" sz="16195"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endParaRPr>
          </a:p>
        </p:txBody>
      </p:sp>
      <p:sp>
        <p:nvSpPr>
          <p:cNvPr id="15" name="TextBox 15"/>
          <p:cNvSpPr txBox="1"/>
          <p:nvPr/>
        </p:nvSpPr>
        <p:spPr>
          <a:xfrm>
            <a:off x="10002099" y="5690721"/>
            <a:ext cx="6533921" cy="625476"/>
          </a:xfrm>
          <a:prstGeom prst="rect">
            <a:avLst/>
          </a:prstGeom>
        </p:spPr>
        <p:txBody>
          <a:bodyPr lIns="0" tIns="0" rIns="0" bIns="0" rtlCol="0" anchor="t">
            <a:spAutoFit/>
          </a:bodyPr>
          <a:lstStyle/>
          <a:p>
            <a:pPr algn="ctr">
              <a:lnSpc>
                <a:spcPts val="4900"/>
              </a:lnSpc>
            </a:pPr>
            <a:r>
              <a:rPr lang="en-US" sz="3500" b="1">
                <a:solidFill>
                  <a:srgbClr val="FFFFFF"/>
                </a:solidFill>
                <a:latin typeface="Poppins Bold" panose="00000800000000000000"/>
                <a:ea typeface="Poppins Bold" panose="00000800000000000000"/>
                <a:cs typeface="Poppins Bold" panose="00000800000000000000"/>
                <a:sym typeface="Poppins Bold" panose="00000800000000000000"/>
              </a:rPr>
              <a:t>Data &amp; Feature Engineering</a:t>
            </a:r>
            <a:endParaRPr lang="en-US" sz="3500" b="1">
              <a:solidFill>
                <a:srgbClr val="FFFFFF"/>
              </a:solidFill>
              <a:latin typeface="Poppins Bold" panose="00000800000000000000"/>
              <a:ea typeface="Poppins Bold" panose="00000800000000000000"/>
              <a:cs typeface="Poppins Bold" panose="00000800000000000000"/>
              <a:sym typeface="Poppins Bold" panose="00000800000000000000"/>
            </a:endParaRPr>
          </a:p>
        </p:txBody>
      </p:sp>
      <p:sp>
        <p:nvSpPr>
          <p:cNvPr id="16" name="TextBox 16"/>
          <p:cNvSpPr txBox="1"/>
          <p:nvPr/>
        </p:nvSpPr>
        <p:spPr>
          <a:xfrm>
            <a:off x="10221299" y="6476342"/>
            <a:ext cx="1563767" cy="358775"/>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Poppins" panose="00000500000000000000"/>
                <a:ea typeface="Poppins" panose="00000500000000000000"/>
                <a:cs typeface="Poppins" panose="00000500000000000000"/>
                <a:sym typeface="Poppins" panose="00000500000000000000"/>
              </a:rPr>
              <a:t>Data Source</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17" name="TextBox 17"/>
          <p:cNvSpPr txBox="1"/>
          <p:nvPr/>
        </p:nvSpPr>
        <p:spPr>
          <a:xfrm>
            <a:off x="10221299" y="6930367"/>
            <a:ext cx="2484954" cy="358775"/>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Poppins" panose="00000500000000000000"/>
                <a:ea typeface="Poppins" panose="00000500000000000000"/>
                <a:cs typeface="Poppins" panose="00000500000000000000"/>
                <a:sym typeface="Poppins" panose="00000500000000000000"/>
              </a:rPr>
              <a:t>Data Preprocessing</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18" name="TextBox 18"/>
          <p:cNvSpPr txBox="1"/>
          <p:nvPr/>
        </p:nvSpPr>
        <p:spPr>
          <a:xfrm>
            <a:off x="10221299" y="7384392"/>
            <a:ext cx="2371130" cy="358775"/>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Poppins" panose="00000500000000000000"/>
                <a:ea typeface="Poppins" panose="00000500000000000000"/>
                <a:cs typeface="Poppins" panose="00000500000000000000"/>
                <a:sym typeface="Poppins" panose="00000500000000000000"/>
              </a:rPr>
              <a:t>Data Relationships</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22" b="-9222"/>
            </a:stretch>
          </a:blipFill>
        </p:spPr>
      </p:sp>
      <p:grpSp>
        <p:nvGrpSpPr>
          <p:cNvPr id="3" name="Group 3"/>
          <p:cNvGrpSpPr/>
          <p:nvPr/>
        </p:nvGrpSpPr>
        <p:grpSpPr>
          <a:xfrm rot="0">
            <a:off x="8810525" y="2784082"/>
            <a:ext cx="2084919" cy="2084919"/>
            <a:chOff x="0" y="0"/>
            <a:chExt cx="349250" cy="349250"/>
          </a:xfrm>
        </p:grpSpPr>
        <p:sp>
          <p:nvSpPr>
            <p:cNvPr id="4" name="Freeform 4"/>
            <p:cNvSpPr/>
            <p:nvPr/>
          </p:nvSpPr>
          <p:spPr>
            <a:xfrm>
              <a:off x="0" y="0"/>
              <a:ext cx="349250" cy="349250"/>
            </a:xfrm>
            <a:custGeom>
              <a:avLst/>
              <a:gdLst/>
              <a:ahLst/>
              <a:cxnLst/>
              <a:rect l="l" t="t" r="r" b="b"/>
              <a:pathLst>
                <a:path w="349250" h="349250">
                  <a:moveTo>
                    <a:pt x="0" y="0"/>
                  </a:moveTo>
                  <a:lnTo>
                    <a:pt x="349250" y="0"/>
                  </a:lnTo>
                  <a:lnTo>
                    <a:pt x="349250" y="349250"/>
                  </a:lnTo>
                  <a:lnTo>
                    <a:pt x="0" y="349250"/>
                  </a:lnTo>
                  <a:close/>
                </a:path>
              </a:pathLst>
            </a:custGeom>
            <a:gradFill rotWithShape="1">
              <a:gsLst>
                <a:gs pos="0">
                  <a:srgbClr val="8D2600">
                    <a:alpha val="100000"/>
                  </a:srgbClr>
                </a:gs>
                <a:gs pos="100000">
                  <a:srgbClr val="FF4500">
                    <a:alpha val="100000"/>
                  </a:srgbClr>
                </a:gs>
              </a:gsLst>
              <a:lin ang="0"/>
            </a:gradFill>
          </p:spPr>
        </p:sp>
        <p:sp>
          <p:nvSpPr>
            <p:cNvPr id="5" name="TextBox 5"/>
            <p:cNvSpPr txBox="1"/>
            <p:nvPr/>
          </p:nvSpPr>
          <p:spPr>
            <a:xfrm>
              <a:off x="0" y="-57150"/>
              <a:ext cx="349250" cy="406400"/>
            </a:xfrm>
            <a:prstGeom prst="rect">
              <a:avLst/>
            </a:prstGeom>
          </p:spPr>
          <p:txBody>
            <a:bodyPr lIns="50800" tIns="50800" rIns="50800" bIns="50800" rtlCol="0" anchor="ctr"/>
            <a:lstStyle/>
            <a:p>
              <a:pPr algn="ctr">
                <a:lnSpc>
                  <a:spcPts val="2800"/>
                </a:lnSpc>
              </a:pPr>
            </a:p>
          </p:txBody>
        </p:sp>
      </p:grpSp>
      <p:grpSp>
        <p:nvGrpSpPr>
          <p:cNvPr id="6" name="Group 6"/>
          <p:cNvGrpSpPr/>
          <p:nvPr/>
        </p:nvGrpSpPr>
        <p:grpSpPr>
          <a:xfrm rot="0">
            <a:off x="1694836" y="2054613"/>
            <a:ext cx="2084919" cy="2084919"/>
            <a:chOff x="0" y="0"/>
            <a:chExt cx="349250" cy="349250"/>
          </a:xfrm>
        </p:grpSpPr>
        <p:sp>
          <p:nvSpPr>
            <p:cNvPr id="7" name="Freeform 7"/>
            <p:cNvSpPr/>
            <p:nvPr/>
          </p:nvSpPr>
          <p:spPr>
            <a:xfrm>
              <a:off x="0" y="0"/>
              <a:ext cx="349250" cy="349250"/>
            </a:xfrm>
            <a:custGeom>
              <a:avLst/>
              <a:gdLst/>
              <a:ahLst/>
              <a:cxnLst/>
              <a:rect l="l" t="t" r="r" b="b"/>
              <a:pathLst>
                <a:path w="349250" h="349250">
                  <a:moveTo>
                    <a:pt x="0" y="0"/>
                  </a:moveTo>
                  <a:lnTo>
                    <a:pt x="349250" y="0"/>
                  </a:lnTo>
                  <a:lnTo>
                    <a:pt x="349250" y="349250"/>
                  </a:lnTo>
                  <a:lnTo>
                    <a:pt x="0" y="349250"/>
                  </a:lnTo>
                  <a:close/>
                </a:path>
              </a:pathLst>
            </a:custGeom>
            <a:gradFill rotWithShape="1">
              <a:gsLst>
                <a:gs pos="0">
                  <a:srgbClr val="8D2600">
                    <a:alpha val="100000"/>
                  </a:srgbClr>
                </a:gs>
                <a:gs pos="100000">
                  <a:srgbClr val="FF4500">
                    <a:alpha val="100000"/>
                  </a:srgbClr>
                </a:gs>
              </a:gsLst>
              <a:lin ang="0"/>
            </a:gradFill>
          </p:spPr>
        </p:sp>
        <p:sp>
          <p:nvSpPr>
            <p:cNvPr id="8" name="TextBox 8"/>
            <p:cNvSpPr txBox="1"/>
            <p:nvPr/>
          </p:nvSpPr>
          <p:spPr>
            <a:xfrm>
              <a:off x="0" y="-57150"/>
              <a:ext cx="349250" cy="406400"/>
            </a:xfrm>
            <a:prstGeom prst="rect">
              <a:avLst/>
            </a:prstGeom>
          </p:spPr>
          <p:txBody>
            <a:bodyPr lIns="50800" tIns="50800" rIns="50800" bIns="50800" rtlCol="0" anchor="ctr"/>
            <a:lstStyle/>
            <a:p>
              <a:pPr algn="ctr">
                <a:lnSpc>
                  <a:spcPts val="2800"/>
                </a:lnSpc>
              </a:pPr>
            </a:p>
          </p:txBody>
        </p:sp>
      </p:grpSp>
      <p:grpSp>
        <p:nvGrpSpPr>
          <p:cNvPr id="9" name="Group 9"/>
          <p:cNvGrpSpPr/>
          <p:nvPr/>
        </p:nvGrpSpPr>
        <p:grpSpPr>
          <a:xfrm rot="0">
            <a:off x="2009854" y="2300418"/>
            <a:ext cx="5985505" cy="2305790"/>
            <a:chOff x="0" y="0"/>
            <a:chExt cx="7980673" cy="3074387"/>
          </a:xfrm>
        </p:grpSpPr>
        <p:pic>
          <p:nvPicPr>
            <p:cNvPr id="10" name="Picture 10"/>
            <p:cNvPicPr>
              <a:picLocks noChangeAspect="1"/>
            </p:cNvPicPr>
            <p:nvPr/>
          </p:nvPicPr>
          <p:blipFill>
            <a:blip r:embed="rId2"/>
            <a:srcRect t="21089" b="21089"/>
            <a:stretch>
              <a:fillRect/>
            </a:stretch>
          </p:blipFill>
          <p:spPr>
            <a:xfrm>
              <a:off x="0" y="0"/>
              <a:ext cx="7980673" cy="3074387"/>
            </a:xfrm>
            <a:prstGeom prst="rect">
              <a:avLst/>
            </a:prstGeom>
          </p:spPr>
        </p:pic>
      </p:grpSp>
      <p:sp>
        <p:nvSpPr>
          <p:cNvPr id="11" name="Freeform 11"/>
          <p:cNvSpPr/>
          <p:nvPr/>
        </p:nvSpPr>
        <p:spPr>
          <a:xfrm>
            <a:off x="9138256" y="3112401"/>
            <a:ext cx="8911373" cy="6471885"/>
          </a:xfrm>
          <a:custGeom>
            <a:avLst/>
            <a:gdLst/>
            <a:ahLst/>
            <a:cxnLst/>
            <a:rect l="l" t="t" r="r" b="b"/>
            <a:pathLst>
              <a:path w="8911373" h="6471885">
                <a:moveTo>
                  <a:pt x="0" y="0"/>
                </a:moveTo>
                <a:lnTo>
                  <a:pt x="8911373" y="0"/>
                </a:lnTo>
                <a:lnTo>
                  <a:pt x="8911373" y="6471885"/>
                </a:lnTo>
                <a:lnTo>
                  <a:pt x="0" y="6471885"/>
                </a:lnTo>
                <a:lnTo>
                  <a:pt x="0" y="0"/>
                </a:lnTo>
                <a:close/>
              </a:path>
            </a:pathLst>
          </a:custGeom>
          <a:blipFill>
            <a:blip r:embed="rId3"/>
            <a:stretch>
              <a:fillRect/>
            </a:stretch>
          </a:blipFill>
        </p:spPr>
      </p:sp>
      <p:sp>
        <p:nvSpPr>
          <p:cNvPr id="12" name="TextBox 12"/>
          <p:cNvSpPr txBox="1"/>
          <p:nvPr/>
        </p:nvSpPr>
        <p:spPr>
          <a:xfrm>
            <a:off x="1484611" y="733293"/>
            <a:ext cx="6510748" cy="1162050"/>
          </a:xfrm>
          <a:prstGeom prst="rect">
            <a:avLst/>
          </a:prstGeom>
        </p:spPr>
        <p:txBody>
          <a:bodyPr lIns="0" tIns="0" rIns="0" bIns="0" rtlCol="0" anchor="t">
            <a:spAutoFit/>
          </a:bodyPr>
          <a:lstStyle/>
          <a:p>
            <a:pPr algn="l">
              <a:lnSpc>
                <a:spcPts val="8550"/>
              </a:lnSpc>
            </a:pPr>
            <a:r>
              <a:rPr lang="en-US" sz="90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rPr>
              <a:t>DATA SOURCES</a:t>
            </a:r>
            <a:endParaRPr lang="en-US" sz="90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endParaRPr>
          </a:p>
        </p:txBody>
      </p:sp>
      <p:sp>
        <p:nvSpPr>
          <p:cNvPr id="13" name="TextBox 13"/>
          <p:cNvSpPr txBox="1"/>
          <p:nvPr/>
        </p:nvSpPr>
        <p:spPr>
          <a:xfrm>
            <a:off x="9144000" y="1333368"/>
            <a:ext cx="2257594" cy="1047751"/>
          </a:xfrm>
          <a:prstGeom prst="rect">
            <a:avLst/>
          </a:prstGeom>
        </p:spPr>
        <p:txBody>
          <a:bodyPr lIns="0" tIns="0" rIns="0" bIns="0" rtlCol="0" anchor="t">
            <a:spAutoFit/>
          </a:bodyPr>
          <a:lstStyle/>
          <a:p>
            <a:pPr algn="l">
              <a:lnSpc>
                <a:spcPts val="4200"/>
              </a:lnSpc>
              <a:spcBef>
                <a:spcPct val="0"/>
              </a:spcBef>
            </a:pPr>
            <a:r>
              <a:rPr lang="en-US" sz="3000" b="1">
                <a:solidFill>
                  <a:srgbClr val="D3410D"/>
                </a:solidFill>
                <a:latin typeface="Poppins Bold" panose="00000800000000000000"/>
                <a:ea typeface="Poppins Bold" panose="00000800000000000000"/>
                <a:cs typeface="Poppins Bold" panose="00000800000000000000"/>
                <a:sym typeface="Poppins Bold" panose="00000800000000000000"/>
              </a:rPr>
              <a:t>Key Features</a:t>
            </a:r>
            <a:endParaRPr lang="en-US" sz="3000" b="1">
              <a:solidFill>
                <a:srgbClr val="D3410D"/>
              </a:solidFill>
              <a:latin typeface="Poppins Bold" panose="00000800000000000000"/>
              <a:ea typeface="Poppins Bold" panose="00000800000000000000"/>
              <a:cs typeface="Poppins Bold" panose="00000800000000000000"/>
              <a:sym typeface="Poppins Bold" panose="00000800000000000000"/>
            </a:endParaRPr>
          </a:p>
        </p:txBody>
      </p:sp>
      <p:sp>
        <p:nvSpPr>
          <p:cNvPr id="14" name="TextBox 14"/>
          <p:cNvSpPr txBox="1"/>
          <p:nvPr/>
        </p:nvSpPr>
        <p:spPr>
          <a:xfrm>
            <a:off x="1484611" y="4958634"/>
            <a:ext cx="6592491" cy="1063625"/>
          </a:xfrm>
          <a:prstGeom prst="rect">
            <a:avLst/>
          </a:prstGeom>
        </p:spPr>
        <p:txBody>
          <a:bodyPr lIns="0" tIns="0" rIns="0" bIns="0" rtlCol="0" anchor="t">
            <a:spAutoFit/>
          </a:bodyPr>
          <a:lstStyle/>
          <a:p>
            <a:pPr algn="l">
              <a:lnSpc>
                <a:spcPts val="2800"/>
              </a:lnSpc>
              <a:spcBef>
                <a:spcPct val="0"/>
              </a:spcBef>
            </a:pPr>
            <a:r>
              <a:rPr lang="en-US" sz="2000" b="1">
                <a:solidFill>
                  <a:srgbClr val="FFFFFF"/>
                </a:solidFill>
                <a:latin typeface="Poppins Bold" panose="00000800000000000000"/>
                <a:ea typeface="Poppins Bold" panose="00000800000000000000"/>
                <a:cs typeface="Poppins Bold" panose="00000800000000000000"/>
                <a:sym typeface="Poppins Bold" panose="00000800000000000000"/>
              </a:rPr>
              <a:t>Training Set (bracket_train.csv)</a:t>
            </a:r>
            <a:endParaRPr lang="en-US" sz="2000" b="1">
              <a:solidFill>
                <a:srgbClr val="FFFFFF"/>
              </a:solidFill>
              <a:latin typeface="Poppins Bold" panose="00000800000000000000"/>
              <a:ea typeface="Poppins Bold" panose="00000800000000000000"/>
              <a:cs typeface="Poppins Bold" panose="00000800000000000000"/>
              <a:sym typeface="Poppins Bold" panose="00000800000000000000"/>
            </a:endParaRPr>
          </a:p>
          <a:p>
            <a:pPr algn="l">
              <a:lnSpc>
                <a:spcPts val="2800"/>
              </a:lnSpc>
              <a:spcBef>
                <a:spcPct val="0"/>
              </a:spcBef>
            </a:pPr>
            <a:r>
              <a:rPr lang="en-US" sz="2000" b="1">
                <a:solidFill>
                  <a:srgbClr val="FFFFFF"/>
                </a:solidFill>
                <a:latin typeface="Poppins Bold" panose="00000800000000000000"/>
                <a:ea typeface="Poppins Bold" panose="00000800000000000000"/>
                <a:cs typeface="Poppins Bold" panose="00000800000000000000"/>
                <a:sym typeface="Poppins Bold" panose="00000800000000000000"/>
              </a:rPr>
              <a:t>Test Set (bracket_test.csv).</a:t>
            </a:r>
            <a:endParaRPr lang="en-US" sz="2000" b="1">
              <a:solidFill>
                <a:srgbClr val="FFFFFF"/>
              </a:solidFill>
              <a:latin typeface="Poppins Bold" panose="00000800000000000000"/>
              <a:ea typeface="Poppins Bold" panose="00000800000000000000"/>
              <a:cs typeface="Poppins Bold" panose="00000800000000000000"/>
              <a:sym typeface="Poppins Bold" panose="00000800000000000000"/>
            </a:endParaRPr>
          </a:p>
          <a:p>
            <a:pPr algn="l">
              <a:lnSpc>
                <a:spcPts val="2800"/>
              </a:lnSpc>
              <a:spcBef>
                <a:spcPct val="0"/>
              </a:spcBef>
            </a:pPr>
            <a:r>
              <a:rPr lang="en-US" sz="2000" b="1">
                <a:solidFill>
                  <a:srgbClr val="FFFFFF"/>
                </a:solidFill>
                <a:latin typeface="Poppins Bold" panose="00000800000000000000"/>
                <a:ea typeface="Poppins Bold" panose="00000800000000000000"/>
                <a:cs typeface="Poppins Bold" panose="00000800000000000000"/>
                <a:sym typeface="Poppins Bold" panose="00000800000000000000"/>
              </a:rPr>
              <a:t>Submission Template (submission_template.csv)</a:t>
            </a:r>
            <a:endParaRPr lang="en-US" sz="2000" b="1">
              <a:solidFill>
                <a:srgbClr val="FFFFFF"/>
              </a:solidFill>
              <a:latin typeface="Poppins Bold" panose="00000800000000000000"/>
              <a:ea typeface="Poppins Bold" panose="00000800000000000000"/>
              <a:cs typeface="Poppins Bold" panose="00000800000000000000"/>
              <a:sym typeface="Poppins Bold" panose="00000800000000000000"/>
            </a:endParaRPr>
          </a:p>
        </p:txBody>
      </p:sp>
      <p:sp>
        <p:nvSpPr>
          <p:cNvPr id="15" name="TextBox 15"/>
          <p:cNvSpPr txBox="1"/>
          <p:nvPr/>
        </p:nvSpPr>
        <p:spPr>
          <a:xfrm>
            <a:off x="1484611" y="6127034"/>
            <a:ext cx="7138058" cy="3883025"/>
          </a:xfrm>
          <a:prstGeom prst="rect">
            <a:avLst/>
          </a:prstGeom>
        </p:spPr>
        <p:txBody>
          <a:bodyPr lIns="0" tIns="0" rIns="0" bIns="0" rtlCol="0" anchor="t">
            <a:spAutoFit/>
          </a:bodyPr>
          <a:lstStyle/>
          <a:p>
            <a:pPr algn="just">
              <a:lnSpc>
                <a:spcPts val="2800"/>
              </a:lnSpc>
              <a:spcBef>
                <a:spcPct val="0"/>
              </a:spcBef>
            </a:pPr>
            <a:r>
              <a:rPr lang="en-US" sz="2000" b="1">
                <a:solidFill>
                  <a:srgbClr val="FFFFFF"/>
                </a:solidFill>
                <a:latin typeface="Poppins Bold" panose="00000800000000000000"/>
                <a:ea typeface="Poppins Bold" panose="00000800000000000000"/>
                <a:cs typeface="Poppins Bold" panose="00000800000000000000"/>
                <a:sym typeface="Poppins Bold" panose="00000800000000000000"/>
              </a:rPr>
              <a:t>CCAC 2025 - Institutions.csv</a:t>
            </a:r>
            <a:endParaRPr lang="en-US" sz="2000" b="1">
              <a:solidFill>
                <a:srgbClr val="FFFFFF"/>
              </a:solidFill>
              <a:latin typeface="Poppins Bold" panose="00000800000000000000"/>
              <a:ea typeface="Poppins Bold" panose="00000800000000000000"/>
              <a:cs typeface="Poppins Bold" panose="00000800000000000000"/>
              <a:sym typeface="Poppins Bold" panose="00000800000000000000"/>
            </a:endParaRPr>
          </a:p>
          <a:p>
            <a:pPr algn="just">
              <a:lnSpc>
                <a:spcPts val="2800"/>
              </a:lnSpc>
              <a:spcBef>
                <a:spcPct val="0"/>
              </a:spcBef>
            </a:pPr>
            <a:r>
              <a:rPr lang="en-US" sz="2000">
                <a:solidFill>
                  <a:srgbClr val="FFFFFF"/>
                </a:solidFill>
                <a:latin typeface="Poppins" panose="00000500000000000000"/>
                <a:ea typeface="Poppins" panose="00000500000000000000"/>
                <a:cs typeface="Poppins" panose="00000500000000000000"/>
                <a:sym typeface="Poppins" panose="00000500000000000000"/>
              </a:rPr>
              <a:t>A list of schools and their associated school IDs.</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a:p>
            <a:pPr algn="just">
              <a:lnSpc>
                <a:spcPts val="2800"/>
              </a:lnSpc>
              <a:spcBef>
                <a:spcPct val="0"/>
              </a:spcBef>
            </a:pPr>
            <a:r>
              <a:rPr lang="en-US" sz="2000">
                <a:solidFill>
                  <a:srgbClr val="FFFFFF"/>
                </a:solidFill>
                <a:latin typeface="Poppins" panose="00000500000000000000"/>
                <a:ea typeface="Poppins" panose="00000500000000000000"/>
                <a:cs typeface="Poppins" panose="00000500000000000000"/>
                <a:sym typeface="Poppins" panose="00000500000000000000"/>
              </a:rPr>
              <a:t>Can be used for feature engineering, such as team strength, historical performance, or conference affiliations.</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a:p>
            <a:pPr algn="just">
              <a:lnSpc>
                <a:spcPts val="2800"/>
              </a:lnSpc>
              <a:spcBef>
                <a:spcPct val="0"/>
              </a:spcBef>
            </a:pPr>
            <a:r>
              <a:rPr lang="en-US" sz="2000" b="1">
                <a:solidFill>
                  <a:srgbClr val="FFFFFF"/>
                </a:solidFill>
                <a:latin typeface="Poppins Bold" panose="00000800000000000000"/>
                <a:ea typeface="Poppins Bold" panose="00000800000000000000"/>
                <a:cs typeface="Poppins Bold" panose="00000800000000000000"/>
                <a:sym typeface="Poppins Bold" panose="00000800000000000000"/>
              </a:rPr>
              <a:t>CCAC 2025 - Data Dictionary.xlsx</a:t>
            </a:r>
            <a:endParaRPr lang="en-US" sz="2000" b="1">
              <a:solidFill>
                <a:srgbClr val="FFFFFF"/>
              </a:solidFill>
              <a:latin typeface="Poppins Bold" panose="00000800000000000000"/>
              <a:ea typeface="Poppins Bold" panose="00000800000000000000"/>
              <a:cs typeface="Poppins Bold" panose="00000800000000000000"/>
              <a:sym typeface="Poppins Bold" panose="00000800000000000000"/>
            </a:endParaRPr>
          </a:p>
          <a:p>
            <a:pPr algn="just">
              <a:lnSpc>
                <a:spcPts val="2800"/>
              </a:lnSpc>
              <a:spcBef>
                <a:spcPct val="0"/>
              </a:spcBef>
            </a:pPr>
            <a:r>
              <a:rPr lang="en-US" sz="2000">
                <a:solidFill>
                  <a:srgbClr val="FFFFFF"/>
                </a:solidFill>
                <a:latin typeface="Poppins" panose="00000500000000000000"/>
                <a:ea typeface="Poppins" panose="00000500000000000000"/>
                <a:cs typeface="Poppins" panose="00000500000000000000"/>
                <a:sym typeface="Poppins" panose="00000500000000000000"/>
              </a:rPr>
              <a:t>Provides detailed descriptions of each column in the dataset.</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a:p>
            <a:pPr algn="just">
              <a:lnSpc>
                <a:spcPts val="2800"/>
              </a:lnSpc>
              <a:spcBef>
                <a:spcPct val="0"/>
              </a:spcBef>
            </a:pPr>
            <a:r>
              <a:rPr lang="en-US" sz="2000">
                <a:solidFill>
                  <a:srgbClr val="FFFFFF"/>
                </a:solidFill>
                <a:latin typeface="Poppins" panose="00000500000000000000"/>
                <a:ea typeface="Poppins" panose="00000500000000000000"/>
                <a:cs typeface="Poppins" panose="00000500000000000000"/>
                <a:sym typeface="Poppins" panose="00000500000000000000"/>
              </a:rPr>
              <a:t>Essential for understanding feature meanings and ensuring accurate data preprocessing.</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a:p>
            <a:pPr algn="just">
              <a:lnSpc>
                <a:spcPts val="2800"/>
              </a:lnSpc>
              <a:spcBef>
                <a:spcPct val="0"/>
              </a:spcBef>
            </a:pPr>
            <a:r>
              <a:rPr lang="en-US" sz="2000" b="1">
                <a:solidFill>
                  <a:srgbClr val="FFFFFF"/>
                </a:solidFill>
                <a:latin typeface="Poppins Bold" panose="00000800000000000000"/>
                <a:ea typeface="Poppins Bold" panose="00000800000000000000"/>
                <a:cs typeface="Poppins Bold" panose="00000800000000000000"/>
                <a:sym typeface="Poppins Bold" panose="00000800000000000000"/>
              </a:rPr>
              <a:t>Division I Women_s Basketball Contests.csv</a:t>
            </a:r>
            <a:endParaRPr lang="en-US" sz="2000" b="1">
              <a:solidFill>
                <a:srgbClr val="FFFFFF"/>
              </a:solidFill>
              <a:latin typeface="Poppins Bold" panose="00000800000000000000"/>
              <a:ea typeface="Poppins Bold" panose="00000800000000000000"/>
              <a:cs typeface="Poppins Bold" panose="00000800000000000000"/>
              <a:sym typeface="Poppins Bold" panose="0000080000000000000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22" b="-9222"/>
            </a:stretch>
          </a:blipFill>
        </p:spPr>
      </p:sp>
      <p:sp>
        <p:nvSpPr>
          <p:cNvPr id="3" name="Freeform 3"/>
          <p:cNvSpPr/>
          <p:nvPr/>
        </p:nvSpPr>
        <p:spPr>
          <a:xfrm>
            <a:off x="5362570" y="2164495"/>
            <a:ext cx="9778023" cy="7703111"/>
          </a:xfrm>
          <a:custGeom>
            <a:avLst/>
            <a:gdLst/>
            <a:ahLst/>
            <a:cxnLst/>
            <a:rect l="l" t="t" r="r" b="b"/>
            <a:pathLst>
              <a:path w="9778023" h="7703111">
                <a:moveTo>
                  <a:pt x="0" y="0"/>
                </a:moveTo>
                <a:lnTo>
                  <a:pt x="9778023" y="0"/>
                </a:lnTo>
                <a:lnTo>
                  <a:pt x="9778023" y="7703112"/>
                </a:lnTo>
                <a:lnTo>
                  <a:pt x="0" y="7703112"/>
                </a:lnTo>
                <a:lnTo>
                  <a:pt x="0" y="0"/>
                </a:lnTo>
                <a:close/>
              </a:path>
            </a:pathLst>
          </a:custGeom>
          <a:blipFill>
            <a:blip r:embed="rId2"/>
            <a:stretch>
              <a:fillRect/>
            </a:stretch>
          </a:blipFill>
        </p:spPr>
      </p:sp>
      <p:sp>
        <p:nvSpPr>
          <p:cNvPr id="4" name="TextBox 4"/>
          <p:cNvSpPr txBox="1"/>
          <p:nvPr/>
        </p:nvSpPr>
        <p:spPr>
          <a:xfrm>
            <a:off x="1254216" y="896451"/>
            <a:ext cx="9838808" cy="1162050"/>
          </a:xfrm>
          <a:prstGeom prst="rect">
            <a:avLst/>
          </a:prstGeom>
        </p:spPr>
        <p:txBody>
          <a:bodyPr lIns="0" tIns="0" rIns="0" bIns="0" rtlCol="0" anchor="t">
            <a:spAutoFit/>
          </a:bodyPr>
          <a:lstStyle/>
          <a:p>
            <a:pPr algn="l">
              <a:lnSpc>
                <a:spcPts val="8550"/>
              </a:lnSpc>
            </a:pPr>
            <a:r>
              <a:rPr lang="en-US" sz="90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rPr>
              <a:t>DATA PREPROCESSING</a:t>
            </a:r>
            <a:endParaRPr lang="en-US" sz="90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22" b="-9222"/>
            </a:stretch>
          </a:blipFill>
        </p:spPr>
      </p:sp>
      <p:grpSp>
        <p:nvGrpSpPr>
          <p:cNvPr id="3" name="Group 3"/>
          <p:cNvGrpSpPr/>
          <p:nvPr/>
        </p:nvGrpSpPr>
        <p:grpSpPr>
          <a:xfrm rot="0">
            <a:off x="-6204227" y="0"/>
            <a:ext cx="13190884" cy="10287000"/>
            <a:chOff x="0" y="0"/>
            <a:chExt cx="2964478" cy="2311868"/>
          </a:xfrm>
        </p:grpSpPr>
        <p:sp>
          <p:nvSpPr>
            <p:cNvPr id="4" name="Freeform 4"/>
            <p:cNvSpPr/>
            <p:nvPr/>
          </p:nvSpPr>
          <p:spPr>
            <a:xfrm>
              <a:off x="0" y="0"/>
              <a:ext cx="2964478" cy="2311868"/>
            </a:xfrm>
            <a:custGeom>
              <a:avLst/>
              <a:gdLst/>
              <a:ahLst/>
              <a:cxnLst/>
              <a:rect l="l" t="t" r="r" b="b"/>
              <a:pathLst>
                <a:path w="2964478" h="2311868">
                  <a:moveTo>
                    <a:pt x="203200" y="0"/>
                  </a:moveTo>
                  <a:lnTo>
                    <a:pt x="2964478" y="0"/>
                  </a:lnTo>
                  <a:lnTo>
                    <a:pt x="2761278" y="2311868"/>
                  </a:lnTo>
                  <a:lnTo>
                    <a:pt x="0" y="2311868"/>
                  </a:lnTo>
                  <a:lnTo>
                    <a:pt x="203200" y="0"/>
                  </a:lnTo>
                  <a:close/>
                </a:path>
              </a:pathLst>
            </a:custGeom>
            <a:gradFill rotWithShape="1">
              <a:gsLst>
                <a:gs pos="0">
                  <a:srgbClr val="8D2600">
                    <a:alpha val="100000"/>
                  </a:srgbClr>
                </a:gs>
                <a:gs pos="100000">
                  <a:srgbClr val="FF4500">
                    <a:alpha val="100000"/>
                  </a:srgbClr>
                </a:gs>
              </a:gsLst>
              <a:lin ang="0"/>
            </a:gradFill>
          </p:spPr>
        </p:sp>
        <p:sp>
          <p:nvSpPr>
            <p:cNvPr id="5" name="TextBox 5"/>
            <p:cNvSpPr txBox="1"/>
            <p:nvPr/>
          </p:nvSpPr>
          <p:spPr>
            <a:xfrm>
              <a:off x="101600" y="-57150"/>
              <a:ext cx="2761278" cy="2369018"/>
            </a:xfrm>
            <a:prstGeom prst="rect">
              <a:avLst/>
            </a:prstGeom>
          </p:spPr>
          <p:txBody>
            <a:bodyPr lIns="50800" tIns="50800" rIns="50800" bIns="50800" rtlCol="0" anchor="ctr"/>
            <a:lstStyle/>
            <a:p>
              <a:pPr algn="ctr">
                <a:lnSpc>
                  <a:spcPts val="2800"/>
                </a:lnSpc>
              </a:pPr>
            </a:p>
          </p:txBody>
        </p:sp>
      </p:grpSp>
      <p:grpSp>
        <p:nvGrpSpPr>
          <p:cNvPr id="6" name="Group 6"/>
          <p:cNvGrpSpPr/>
          <p:nvPr/>
        </p:nvGrpSpPr>
        <p:grpSpPr>
          <a:xfrm rot="0">
            <a:off x="3475723" y="2304807"/>
            <a:ext cx="4157143" cy="5677386"/>
            <a:chOff x="0" y="0"/>
            <a:chExt cx="5462150" cy="7459626"/>
          </a:xfrm>
        </p:grpSpPr>
        <p:sp>
          <p:nvSpPr>
            <p:cNvPr id="7" name="Freeform 7"/>
            <p:cNvSpPr/>
            <p:nvPr/>
          </p:nvSpPr>
          <p:spPr>
            <a:xfrm>
              <a:off x="0" y="0"/>
              <a:ext cx="5462150" cy="7459627"/>
            </a:xfrm>
            <a:custGeom>
              <a:avLst/>
              <a:gdLst/>
              <a:ahLst/>
              <a:cxnLst/>
              <a:rect l="l" t="t" r="r" b="b"/>
              <a:pathLst>
                <a:path w="5462150" h="7459627">
                  <a:moveTo>
                    <a:pt x="0" y="7459627"/>
                  </a:moveTo>
                  <a:lnTo>
                    <a:pt x="634727" y="0"/>
                  </a:lnTo>
                  <a:lnTo>
                    <a:pt x="5462150" y="0"/>
                  </a:lnTo>
                  <a:lnTo>
                    <a:pt x="4827423" y="7459627"/>
                  </a:lnTo>
                  <a:close/>
                </a:path>
              </a:pathLst>
            </a:custGeom>
            <a:blipFill>
              <a:blip r:embed="rId2"/>
              <a:stretch>
                <a:fillRect t="-4951" b="-4951"/>
              </a:stretch>
            </a:blipFill>
          </p:spPr>
        </p:sp>
      </p:grpSp>
      <p:grpSp>
        <p:nvGrpSpPr>
          <p:cNvPr id="8" name="Group 8"/>
          <p:cNvGrpSpPr/>
          <p:nvPr/>
        </p:nvGrpSpPr>
        <p:grpSpPr>
          <a:xfrm rot="0">
            <a:off x="-681421" y="2304807"/>
            <a:ext cx="4157143" cy="5677386"/>
            <a:chOff x="0" y="0"/>
            <a:chExt cx="5462150" cy="7459626"/>
          </a:xfrm>
        </p:grpSpPr>
        <p:sp>
          <p:nvSpPr>
            <p:cNvPr id="9" name="Freeform 9"/>
            <p:cNvSpPr/>
            <p:nvPr/>
          </p:nvSpPr>
          <p:spPr>
            <a:xfrm>
              <a:off x="0" y="0"/>
              <a:ext cx="5462150" cy="7459627"/>
            </a:xfrm>
            <a:custGeom>
              <a:avLst/>
              <a:gdLst/>
              <a:ahLst/>
              <a:cxnLst/>
              <a:rect l="l" t="t" r="r" b="b"/>
              <a:pathLst>
                <a:path w="5462150" h="7459627">
                  <a:moveTo>
                    <a:pt x="0" y="7459627"/>
                  </a:moveTo>
                  <a:lnTo>
                    <a:pt x="634727" y="0"/>
                  </a:lnTo>
                  <a:lnTo>
                    <a:pt x="5462150" y="0"/>
                  </a:lnTo>
                  <a:lnTo>
                    <a:pt x="4827423" y="7459627"/>
                  </a:lnTo>
                  <a:close/>
                </a:path>
              </a:pathLst>
            </a:custGeom>
            <a:blipFill>
              <a:blip r:embed="rId3"/>
              <a:stretch>
                <a:fillRect l="-24924" r="-79865"/>
              </a:stretch>
            </a:blipFill>
          </p:spPr>
        </p:sp>
      </p:grpSp>
      <p:sp>
        <p:nvSpPr>
          <p:cNvPr id="10" name="TextBox 10"/>
          <p:cNvSpPr txBox="1"/>
          <p:nvPr/>
        </p:nvSpPr>
        <p:spPr>
          <a:xfrm>
            <a:off x="8373924" y="2152817"/>
            <a:ext cx="9070624" cy="1162050"/>
          </a:xfrm>
          <a:prstGeom prst="rect">
            <a:avLst/>
          </a:prstGeom>
        </p:spPr>
        <p:txBody>
          <a:bodyPr lIns="0" tIns="0" rIns="0" bIns="0" rtlCol="0" anchor="t">
            <a:spAutoFit/>
          </a:bodyPr>
          <a:lstStyle/>
          <a:p>
            <a:pPr algn="l">
              <a:lnSpc>
                <a:spcPts val="8550"/>
              </a:lnSpc>
            </a:pPr>
            <a:r>
              <a:rPr lang="en-US" sz="90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rPr>
              <a:t>DATA RELATIONSHIPS</a:t>
            </a:r>
            <a:endParaRPr lang="en-US" sz="90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endParaRPr>
          </a:p>
        </p:txBody>
      </p:sp>
      <p:sp>
        <p:nvSpPr>
          <p:cNvPr id="11" name="TextBox 11"/>
          <p:cNvSpPr txBox="1"/>
          <p:nvPr/>
        </p:nvSpPr>
        <p:spPr>
          <a:xfrm>
            <a:off x="7632866" y="4106666"/>
            <a:ext cx="10264918" cy="4822825"/>
          </a:xfrm>
          <a:prstGeom prst="rect">
            <a:avLst/>
          </a:prstGeom>
        </p:spPr>
        <p:txBody>
          <a:bodyPr lIns="0" tIns="0" rIns="0" bIns="0" rtlCol="0" anchor="t">
            <a:spAutoFit/>
          </a:bodyPr>
          <a:lstStyle/>
          <a:p>
            <a:pPr algn="ctr">
              <a:lnSpc>
                <a:spcPts val="3500"/>
              </a:lnSpc>
              <a:spcBef>
                <a:spcPct val="0"/>
              </a:spcBef>
            </a:pPr>
            <a:r>
              <a:rPr lang="en-US" sz="2500">
                <a:solidFill>
                  <a:srgbClr val="FFFFFF"/>
                </a:solidFill>
                <a:latin typeface="Poppins" panose="00000500000000000000"/>
                <a:ea typeface="Poppins" panose="00000500000000000000"/>
                <a:cs typeface="Poppins" panose="00000500000000000000"/>
                <a:sym typeface="Poppins" panose="00000500000000000000"/>
              </a:rPr>
              <a:t>The</a:t>
            </a:r>
            <a:r>
              <a:rPr lang="en-US" sz="2500">
                <a:solidFill>
                  <a:srgbClr val="D3410D"/>
                </a:solidFill>
                <a:latin typeface="Poppins" panose="00000500000000000000"/>
                <a:ea typeface="Poppins" panose="00000500000000000000"/>
                <a:cs typeface="Poppins" panose="00000500000000000000"/>
                <a:sym typeface="Poppins" panose="00000500000000000000"/>
              </a:rPr>
              <a:t> </a:t>
            </a:r>
            <a:r>
              <a:rPr lang="en-US" sz="2500" b="1">
                <a:solidFill>
                  <a:srgbClr val="D3410D"/>
                </a:solidFill>
                <a:latin typeface="Poppins Bold" panose="00000800000000000000"/>
                <a:ea typeface="Poppins Bold" panose="00000800000000000000"/>
                <a:cs typeface="Poppins Bold" panose="00000800000000000000"/>
                <a:sym typeface="Poppins Bold" panose="00000800000000000000"/>
              </a:rPr>
              <a:t>Training dataset</a:t>
            </a:r>
            <a:r>
              <a:rPr lang="en-US" sz="2500">
                <a:solidFill>
                  <a:srgbClr val="FFFFFF"/>
                </a:solidFill>
                <a:latin typeface="Poppins" panose="00000500000000000000"/>
                <a:ea typeface="Poppins" panose="00000500000000000000"/>
                <a:cs typeface="Poppins" panose="00000500000000000000"/>
                <a:sym typeface="Poppins" panose="00000500000000000000"/>
              </a:rPr>
              <a:t> contains Region Winners, Semifinal Winners, and National Champion as </a:t>
            </a:r>
            <a:r>
              <a:rPr lang="en-US" sz="2500" b="1">
                <a:solidFill>
                  <a:srgbClr val="D3410D"/>
                </a:solidFill>
                <a:latin typeface="Poppins Bold" panose="00000800000000000000"/>
                <a:ea typeface="Poppins Bold" panose="00000800000000000000"/>
                <a:cs typeface="Poppins Bold" panose="00000800000000000000"/>
                <a:sym typeface="Poppins Bold" panose="00000800000000000000"/>
              </a:rPr>
              <a:t>Institution IDs</a:t>
            </a:r>
            <a:r>
              <a:rPr lang="en-US" sz="2500">
                <a:solidFill>
                  <a:srgbClr val="FFFFFF"/>
                </a:solidFill>
                <a:latin typeface="Poppins" panose="00000500000000000000"/>
                <a:ea typeface="Poppins" panose="00000500000000000000"/>
                <a:cs typeface="Poppins" panose="00000500000000000000"/>
                <a:sym typeface="Poppins" panose="00000500000000000000"/>
              </a:rPr>
              <a:t>, which can be linked to the </a:t>
            </a:r>
            <a:r>
              <a:rPr lang="en-US" sz="2500" b="1">
                <a:solidFill>
                  <a:srgbClr val="D3410D"/>
                </a:solidFill>
                <a:latin typeface="Poppins Bold" panose="00000800000000000000"/>
                <a:ea typeface="Poppins Bold" panose="00000800000000000000"/>
                <a:cs typeface="Poppins Bold" panose="00000800000000000000"/>
                <a:sym typeface="Poppins Bold" panose="00000800000000000000"/>
              </a:rPr>
              <a:t>Institution dataset</a:t>
            </a:r>
            <a:r>
              <a:rPr lang="en-US" sz="2500">
                <a:solidFill>
                  <a:srgbClr val="FFFFFF"/>
                </a:solidFill>
                <a:latin typeface="Poppins" panose="00000500000000000000"/>
                <a:ea typeface="Poppins" panose="00000500000000000000"/>
                <a:cs typeface="Poppins" panose="00000500000000000000"/>
                <a:sym typeface="Poppins" panose="00000500000000000000"/>
              </a:rPr>
              <a:t> (CCAC 2025 - Institutions.csv) to retrieve school names and additional attributes such as conference affiliation and historical performance. Additionally, the DMA information in the Training dataset can be matched with the </a:t>
            </a:r>
            <a:r>
              <a:rPr lang="en-US" sz="2500" b="1">
                <a:solidFill>
                  <a:srgbClr val="D3410D"/>
                </a:solidFill>
                <a:latin typeface="Poppins Bold" panose="00000800000000000000"/>
                <a:ea typeface="Poppins Bold" panose="00000800000000000000"/>
                <a:cs typeface="Poppins Bold" panose="00000800000000000000"/>
                <a:sym typeface="Poppins Bold" panose="00000800000000000000"/>
              </a:rPr>
              <a:t>Customer DMA dataset</a:t>
            </a:r>
            <a:r>
              <a:rPr lang="en-US" sz="2500">
                <a:solidFill>
                  <a:srgbClr val="FFFFFF"/>
                </a:solidFill>
                <a:latin typeface="Poppins" panose="00000500000000000000"/>
                <a:ea typeface="Poppins" panose="00000500000000000000"/>
                <a:cs typeface="Poppins" panose="00000500000000000000"/>
                <a:sym typeface="Poppins" panose="00000500000000000000"/>
              </a:rPr>
              <a:t>, providing insights into regional fan preferences. The Submission template ensures that predictions align with the required format, and the </a:t>
            </a:r>
            <a:r>
              <a:rPr lang="en-US" sz="2500" b="1">
                <a:solidFill>
                  <a:srgbClr val="D3410D"/>
                </a:solidFill>
                <a:latin typeface="Poppins Bold" panose="00000800000000000000"/>
                <a:ea typeface="Poppins Bold" panose="00000800000000000000"/>
                <a:cs typeface="Poppins Bold" panose="00000800000000000000"/>
                <a:sym typeface="Poppins Bold" panose="00000800000000000000"/>
              </a:rPr>
              <a:t>Data Dictionary </a:t>
            </a:r>
            <a:r>
              <a:rPr lang="en-US" sz="2500">
                <a:solidFill>
                  <a:srgbClr val="FFFFFF"/>
                </a:solidFill>
                <a:latin typeface="Poppins" panose="00000500000000000000"/>
                <a:ea typeface="Poppins" panose="00000500000000000000"/>
                <a:cs typeface="Poppins" panose="00000500000000000000"/>
                <a:sym typeface="Poppins" panose="00000500000000000000"/>
              </a:rPr>
              <a:t>helps in understanding feature definitions for accurate preprocessing and modeling.</a:t>
            </a:r>
            <a:endParaRPr lang="en-US" sz="2500">
              <a:solidFill>
                <a:srgbClr val="FFFFFF"/>
              </a:solidFill>
              <a:latin typeface="Poppins" panose="00000500000000000000"/>
              <a:ea typeface="Poppins" panose="00000500000000000000"/>
              <a:cs typeface="Poppins" panose="00000500000000000000"/>
              <a:sym typeface="Poppins" panose="0000050000000000000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22" b="-9222"/>
            </a:stretch>
          </a:blipFill>
        </p:spPr>
      </p:sp>
      <p:grpSp>
        <p:nvGrpSpPr>
          <p:cNvPr id="3" name="Group 3"/>
          <p:cNvGrpSpPr/>
          <p:nvPr/>
        </p:nvGrpSpPr>
        <p:grpSpPr>
          <a:xfrm rot="0">
            <a:off x="-223578" y="4945216"/>
            <a:ext cx="3976178" cy="10781843"/>
            <a:chOff x="0" y="0"/>
            <a:chExt cx="472130" cy="1280233"/>
          </a:xfrm>
        </p:grpSpPr>
        <p:sp>
          <p:nvSpPr>
            <p:cNvPr id="4" name="Freeform 4"/>
            <p:cNvSpPr/>
            <p:nvPr/>
          </p:nvSpPr>
          <p:spPr>
            <a:xfrm>
              <a:off x="0" y="0"/>
              <a:ext cx="472130" cy="1280233"/>
            </a:xfrm>
            <a:custGeom>
              <a:avLst/>
              <a:gdLst/>
              <a:ahLst/>
              <a:cxnLst/>
              <a:rect l="l" t="t" r="r" b="b"/>
              <a:pathLst>
                <a:path w="472130" h="1280233">
                  <a:moveTo>
                    <a:pt x="203200" y="0"/>
                  </a:moveTo>
                  <a:lnTo>
                    <a:pt x="472130" y="0"/>
                  </a:lnTo>
                  <a:lnTo>
                    <a:pt x="268930" y="1280233"/>
                  </a:lnTo>
                  <a:lnTo>
                    <a:pt x="0" y="1280233"/>
                  </a:lnTo>
                  <a:lnTo>
                    <a:pt x="203200" y="0"/>
                  </a:lnTo>
                  <a:close/>
                </a:path>
              </a:pathLst>
            </a:custGeom>
            <a:gradFill rotWithShape="1">
              <a:gsLst>
                <a:gs pos="0">
                  <a:srgbClr val="8D2600">
                    <a:alpha val="100000"/>
                  </a:srgbClr>
                </a:gs>
                <a:gs pos="100000">
                  <a:srgbClr val="FF4500">
                    <a:alpha val="100000"/>
                  </a:srgbClr>
                </a:gs>
              </a:gsLst>
              <a:lin ang="0"/>
            </a:gradFill>
          </p:spPr>
        </p:sp>
        <p:sp>
          <p:nvSpPr>
            <p:cNvPr id="5" name="TextBox 5"/>
            <p:cNvSpPr txBox="1"/>
            <p:nvPr/>
          </p:nvSpPr>
          <p:spPr>
            <a:xfrm>
              <a:off x="101600" y="-57150"/>
              <a:ext cx="268930" cy="1337383"/>
            </a:xfrm>
            <a:prstGeom prst="rect">
              <a:avLst/>
            </a:prstGeom>
          </p:spPr>
          <p:txBody>
            <a:bodyPr lIns="50800" tIns="50800" rIns="50800" bIns="50800" rtlCol="0" anchor="ctr"/>
            <a:lstStyle/>
            <a:p>
              <a:pPr algn="ctr">
                <a:lnSpc>
                  <a:spcPts val="2800"/>
                </a:lnSpc>
              </a:pPr>
            </a:p>
          </p:txBody>
        </p:sp>
      </p:grpSp>
      <p:grpSp>
        <p:nvGrpSpPr>
          <p:cNvPr id="6" name="Group 6"/>
          <p:cNvGrpSpPr/>
          <p:nvPr/>
        </p:nvGrpSpPr>
        <p:grpSpPr>
          <a:xfrm rot="0">
            <a:off x="1551304" y="2186357"/>
            <a:ext cx="2602929" cy="2331842"/>
            <a:chOff x="0" y="0"/>
            <a:chExt cx="1429066" cy="1280233"/>
          </a:xfrm>
        </p:grpSpPr>
        <p:sp>
          <p:nvSpPr>
            <p:cNvPr id="7" name="Freeform 7"/>
            <p:cNvSpPr/>
            <p:nvPr/>
          </p:nvSpPr>
          <p:spPr>
            <a:xfrm>
              <a:off x="0" y="0"/>
              <a:ext cx="1429066" cy="1280233"/>
            </a:xfrm>
            <a:custGeom>
              <a:avLst/>
              <a:gdLst/>
              <a:ahLst/>
              <a:cxnLst/>
              <a:rect l="l" t="t" r="r" b="b"/>
              <a:pathLst>
                <a:path w="1429066" h="1280233">
                  <a:moveTo>
                    <a:pt x="203200" y="0"/>
                  </a:moveTo>
                  <a:lnTo>
                    <a:pt x="1429066" y="0"/>
                  </a:lnTo>
                  <a:lnTo>
                    <a:pt x="1225866" y="1280233"/>
                  </a:lnTo>
                  <a:lnTo>
                    <a:pt x="0" y="1280233"/>
                  </a:lnTo>
                  <a:lnTo>
                    <a:pt x="203200" y="0"/>
                  </a:lnTo>
                  <a:close/>
                </a:path>
              </a:pathLst>
            </a:custGeom>
            <a:gradFill rotWithShape="1">
              <a:gsLst>
                <a:gs pos="0">
                  <a:srgbClr val="8D2600">
                    <a:alpha val="100000"/>
                  </a:srgbClr>
                </a:gs>
                <a:gs pos="100000">
                  <a:srgbClr val="FF4500">
                    <a:alpha val="100000"/>
                  </a:srgbClr>
                </a:gs>
              </a:gsLst>
              <a:lin ang="0"/>
            </a:gradFill>
          </p:spPr>
        </p:sp>
        <p:sp>
          <p:nvSpPr>
            <p:cNvPr id="8" name="TextBox 8"/>
            <p:cNvSpPr txBox="1"/>
            <p:nvPr/>
          </p:nvSpPr>
          <p:spPr>
            <a:xfrm>
              <a:off x="101600" y="-57150"/>
              <a:ext cx="1225866" cy="1337383"/>
            </a:xfrm>
            <a:prstGeom prst="rect">
              <a:avLst/>
            </a:prstGeom>
          </p:spPr>
          <p:txBody>
            <a:bodyPr lIns="50800" tIns="50800" rIns="50800" bIns="50800" rtlCol="0" anchor="ctr"/>
            <a:lstStyle/>
            <a:p>
              <a:pPr algn="ctr">
                <a:lnSpc>
                  <a:spcPts val="2800"/>
                </a:lnSpc>
              </a:pPr>
            </a:p>
          </p:txBody>
        </p:sp>
      </p:grpSp>
      <p:grpSp>
        <p:nvGrpSpPr>
          <p:cNvPr id="9" name="Group 9"/>
          <p:cNvGrpSpPr/>
          <p:nvPr/>
        </p:nvGrpSpPr>
        <p:grpSpPr>
          <a:xfrm rot="0">
            <a:off x="3609316" y="-247421"/>
            <a:ext cx="3976178" cy="10781843"/>
            <a:chOff x="0" y="0"/>
            <a:chExt cx="472130" cy="1280233"/>
          </a:xfrm>
        </p:grpSpPr>
        <p:sp>
          <p:nvSpPr>
            <p:cNvPr id="10" name="Freeform 10"/>
            <p:cNvSpPr/>
            <p:nvPr/>
          </p:nvSpPr>
          <p:spPr>
            <a:xfrm>
              <a:off x="0" y="0"/>
              <a:ext cx="472130" cy="1280233"/>
            </a:xfrm>
            <a:custGeom>
              <a:avLst/>
              <a:gdLst/>
              <a:ahLst/>
              <a:cxnLst/>
              <a:rect l="l" t="t" r="r" b="b"/>
              <a:pathLst>
                <a:path w="472130" h="1280233">
                  <a:moveTo>
                    <a:pt x="203200" y="0"/>
                  </a:moveTo>
                  <a:lnTo>
                    <a:pt x="472130" y="0"/>
                  </a:lnTo>
                  <a:lnTo>
                    <a:pt x="268930" y="1280233"/>
                  </a:lnTo>
                  <a:lnTo>
                    <a:pt x="0" y="1280233"/>
                  </a:lnTo>
                  <a:lnTo>
                    <a:pt x="203200" y="0"/>
                  </a:lnTo>
                  <a:close/>
                </a:path>
              </a:pathLst>
            </a:custGeom>
            <a:gradFill rotWithShape="1">
              <a:gsLst>
                <a:gs pos="0">
                  <a:srgbClr val="8D2600">
                    <a:alpha val="100000"/>
                  </a:srgbClr>
                </a:gs>
                <a:gs pos="100000">
                  <a:srgbClr val="FF4500">
                    <a:alpha val="100000"/>
                  </a:srgbClr>
                </a:gs>
              </a:gsLst>
              <a:lin ang="0"/>
            </a:gradFill>
          </p:spPr>
        </p:sp>
        <p:sp>
          <p:nvSpPr>
            <p:cNvPr id="11" name="TextBox 11"/>
            <p:cNvSpPr txBox="1"/>
            <p:nvPr/>
          </p:nvSpPr>
          <p:spPr>
            <a:xfrm>
              <a:off x="101600" y="-57150"/>
              <a:ext cx="268930" cy="1337383"/>
            </a:xfrm>
            <a:prstGeom prst="rect">
              <a:avLst/>
            </a:prstGeom>
          </p:spPr>
          <p:txBody>
            <a:bodyPr lIns="50800" tIns="50800" rIns="50800" bIns="50800" rtlCol="0" anchor="ctr"/>
            <a:lstStyle/>
            <a:p>
              <a:pPr algn="ctr">
                <a:lnSpc>
                  <a:spcPts val="2800"/>
                </a:lnSpc>
              </a:pPr>
            </a:p>
          </p:txBody>
        </p:sp>
      </p:grpSp>
      <p:sp>
        <p:nvSpPr>
          <p:cNvPr id="12" name="Freeform 12"/>
          <p:cNvSpPr/>
          <p:nvPr/>
        </p:nvSpPr>
        <p:spPr>
          <a:xfrm>
            <a:off x="-1803374" y="4945216"/>
            <a:ext cx="10096228" cy="7534310"/>
          </a:xfrm>
          <a:custGeom>
            <a:avLst/>
            <a:gdLst/>
            <a:ahLst/>
            <a:cxnLst/>
            <a:rect l="l" t="t" r="r" b="b"/>
            <a:pathLst>
              <a:path w="10096228" h="7534310">
                <a:moveTo>
                  <a:pt x="0" y="0"/>
                </a:moveTo>
                <a:lnTo>
                  <a:pt x="10096228" y="0"/>
                </a:lnTo>
                <a:lnTo>
                  <a:pt x="10096228" y="7534311"/>
                </a:lnTo>
                <a:lnTo>
                  <a:pt x="0" y="7534311"/>
                </a:lnTo>
                <a:lnTo>
                  <a:pt x="0" y="0"/>
                </a:lnTo>
                <a:close/>
              </a:path>
            </a:pathLst>
          </a:custGeom>
          <a:blipFill>
            <a:blip r:embed="rId2"/>
            <a:stretch>
              <a:fillRect/>
            </a:stretch>
          </a:blipFill>
        </p:spPr>
      </p:sp>
      <p:sp>
        <p:nvSpPr>
          <p:cNvPr id="13" name="TextBox 13"/>
          <p:cNvSpPr txBox="1"/>
          <p:nvPr/>
        </p:nvSpPr>
        <p:spPr>
          <a:xfrm>
            <a:off x="1028700" y="1146175"/>
            <a:ext cx="1873255" cy="263525"/>
          </a:xfrm>
          <a:prstGeom prst="rect">
            <a:avLst/>
          </a:prstGeom>
        </p:spPr>
        <p:txBody>
          <a:bodyPr lIns="0" tIns="0" rIns="0" bIns="0" rtlCol="0" anchor="t">
            <a:spAutoFit/>
          </a:bodyPr>
          <a:lstStyle/>
          <a:p>
            <a:pPr algn="l">
              <a:lnSpc>
                <a:spcPts val="1900"/>
              </a:lnSpc>
            </a:pPr>
            <a:r>
              <a:rPr lang="en-US" sz="20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rPr>
              <a:t>CCAC</a:t>
            </a:r>
            <a:endParaRPr lang="en-US" sz="20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endParaRPr>
          </a:p>
        </p:txBody>
      </p:sp>
      <p:sp>
        <p:nvSpPr>
          <p:cNvPr id="14" name="TextBox 14"/>
          <p:cNvSpPr txBox="1"/>
          <p:nvPr/>
        </p:nvSpPr>
        <p:spPr>
          <a:xfrm>
            <a:off x="8292854" y="3842331"/>
            <a:ext cx="8826797" cy="2076250"/>
          </a:xfrm>
          <a:prstGeom prst="rect">
            <a:avLst/>
          </a:prstGeom>
        </p:spPr>
        <p:txBody>
          <a:bodyPr lIns="0" tIns="0" rIns="0" bIns="0" rtlCol="0" anchor="t">
            <a:spAutoFit/>
          </a:bodyPr>
          <a:lstStyle/>
          <a:p>
            <a:pPr algn="ctr">
              <a:lnSpc>
                <a:spcPts val="15385"/>
              </a:lnSpc>
            </a:pPr>
            <a:r>
              <a:rPr lang="en-US" sz="16195"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rPr>
              <a:t>PART 3</a:t>
            </a:r>
            <a:endParaRPr lang="en-US" sz="16195"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endParaRPr>
          </a:p>
        </p:txBody>
      </p:sp>
      <p:sp>
        <p:nvSpPr>
          <p:cNvPr id="15" name="TextBox 15"/>
          <p:cNvSpPr txBox="1"/>
          <p:nvPr/>
        </p:nvSpPr>
        <p:spPr>
          <a:xfrm>
            <a:off x="10002099" y="5690721"/>
            <a:ext cx="7117552" cy="625476"/>
          </a:xfrm>
          <a:prstGeom prst="rect">
            <a:avLst/>
          </a:prstGeom>
        </p:spPr>
        <p:txBody>
          <a:bodyPr lIns="0" tIns="0" rIns="0" bIns="0" rtlCol="0" anchor="t">
            <a:spAutoFit/>
          </a:bodyPr>
          <a:lstStyle/>
          <a:p>
            <a:pPr algn="ctr">
              <a:lnSpc>
                <a:spcPts val="4900"/>
              </a:lnSpc>
            </a:pPr>
            <a:r>
              <a:rPr lang="en-US" sz="3500" b="1">
                <a:solidFill>
                  <a:srgbClr val="FFFFFF"/>
                </a:solidFill>
                <a:latin typeface="Poppins Bold" panose="00000800000000000000"/>
                <a:ea typeface="Poppins Bold" panose="00000800000000000000"/>
                <a:cs typeface="Poppins Bold" panose="00000800000000000000"/>
                <a:sym typeface="Poppins Bold" panose="00000800000000000000"/>
              </a:rPr>
              <a:t>Predictive Modeling &amp; Analysis</a:t>
            </a:r>
            <a:endParaRPr lang="en-US" sz="3500" b="1">
              <a:solidFill>
                <a:srgbClr val="FFFFFF"/>
              </a:solidFill>
              <a:latin typeface="Poppins Bold" panose="00000800000000000000"/>
              <a:ea typeface="Poppins Bold" panose="00000800000000000000"/>
              <a:cs typeface="Poppins Bold" panose="00000800000000000000"/>
              <a:sym typeface="Poppins Bold" panose="00000800000000000000"/>
            </a:endParaRPr>
          </a:p>
        </p:txBody>
      </p:sp>
      <p:sp>
        <p:nvSpPr>
          <p:cNvPr id="16" name="TextBox 16"/>
          <p:cNvSpPr txBox="1"/>
          <p:nvPr/>
        </p:nvSpPr>
        <p:spPr>
          <a:xfrm>
            <a:off x="10002099" y="6442046"/>
            <a:ext cx="3807857" cy="358775"/>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Poppins" panose="00000500000000000000"/>
                <a:ea typeface="Poppins" panose="00000500000000000000"/>
                <a:cs typeface="Poppins" panose="00000500000000000000"/>
                <a:sym typeface="Poppins" panose="00000500000000000000"/>
              </a:rPr>
              <a:t>Predictive Modeling Approach</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17" name="TextBox 17"/>
          <p:cNvSpPr txBox="1"/>
          <p:nvPr/>
        </p:nvSpPr>
        <p:spPr>
          <a:xfrm>
            <a:off x="10002099" y="6926671"/>
            <a:ext cx="2488287" cy="358775"/>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Poppins" panose="00000500000000000000"/>
                <a:ea typeface="Poppins" panose="00000500000000000000"/>
                <a:cs typeface="Poppins" panose="00000500000000000000"/>
                <a:sym typeface="Poppins" panose="00000500000000000000"/>
              </a:rPr>
              <a:t>Model Performance</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22" b="-9222"/>
            </a:stretch>
          </a:blipFill>
        </p:spPr>
      </p:sp>
      <p:sp>
        <p:nvSpPr>
          <p:cNvPr id="3" name="Freeform 3"/>
          <p:cNvSpPr/>
          <p:nvPr/>
        </p:nvSpPr>
        <p:spPr>
          <a:xfrm>
            <a:off x="16980002" y="1070402"/>
            <a:ext cx="279298" cy="278282"/>
          </a:xfrm>
          <a:custGeom>
            <a:avLst/>
            <a:gdLst/>
            <a:ahLst/>
            <a:cxnLst/>
            <a:rect l="l" t="t" r="r" b="b"/>
            <a:pathLst>
              <a:path w="279298" h="278282">
                <a:moveTo>
                  <a:pt x="0" y="0"/>
                </a:moveTo>
                <a:lnTo>
                  <a:pt x="279298" y="0"/>
                </a:lnTo>
                <a:lnTo>
                  <a:pt x="279298" y="278282"/>
                </a:lnTo>
                <a:lnTo>
                  <a:pt x="0" y="2782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rot="0">
            <a:off x="11627245" y="-114545"/>
            <a:ext cx="7700180" cy="10516090"/>
            <a:chOff x="0" y="0"/>
            <a:chExt cx="5462150" cy="7459626"/>
          </a:xfrm>
        </p:grpSpPr>
        <p:sp>
          <p:nvSpPr>
            <p:cNvPr id="5" name="Freeform 5"/>
            <p:cNvSpPr/>
            <p:nvPr/>
          </p:nvSpPr>
          <p:spPr>
            <a:xfrm>
              <a:off x="0" y="0"/>
              <a:ext cx="5462150" cy="7459627"/>
            </a:xfrm>
            <a:custGeom>
              <a:avLst/>
              <a:gdLst/>
              <a:ahLst/>
              <a:cxnLst/>
              <a:rect l="l" t="t" r="r" b="b"/>
              <a:pathLst>
                <a:path w="5462150" h="7459627">
                  <a:moveTo>
                    <a:pt x="0" y="7459627"/>
                  </a:moveTo>
                  <a:lnTo>
                    <a:pt x="634727" y="0"/>
                  </a:lnTo>
                  <a:lnTo>
                    <a:pt x="5462150" y="0"/>
                  </a:lnTo>
                  <a:lnTo>
                    <a:pt x="4827423" y="7459627"/>
                  </a:lnTo>
                  <a:close/>
                </a:path>
              </a:pathLst>
            </a:custGeom>
            <a:blipFill>
              <a:blip r:embed="rId4"/>
              <a:stretch>
                <a:fillRect t="-4917" b="-4917"/>
              </a:stretch>
            </a:blipFill>
          </p:spPr>
        </p:sp>
      </p:grpSp>
      <p:grpSp>
        <p:nvGrpSpPr>
          <p:cNvPr id="6" name="Group 6"/>
          <p:cNvGrpSpPr/>
          <p:nvPr/>
        </p:nvGrpSpPr>
        <p:grpSpPr>
          <a:xfrm rot="0">
            <a:off x="10903345" y="0"/>
            <a:ext cx="1808337" cy="10287000"/>
            <a:chOff x="0" y="0"/>
            <a:chExt cx="406400" cy="2311868"/>
          </a:xfrm>
        </p:grpSpPr>
        <p:sp>
          <p:nvSpPr>
            <p:cNvPr id="7" name="Freeform 7"/>
            <p:cNvSpPr/>
            <p:nvPr/>
          </p:nvSpPr>
          <p:spPr>
            <a:xfrm>
              <a:off x="0" y="0"/>
              <a:ext cx="406400" cy="2311868"/>
            </a:xfrm>
            <a:custGeom>
              <a:avLst/>
              <a:gdLst/>
              <a:ahLst/>
              <a:cxnLst/>
              <a:rect l="l" t="t" r="r" b="b"/>
              <a:pathLst>
                <a:path w="406400" h="2311868">
                  <a:moveTo>
                    <a:pt x="203200" y="0"/>
                  </a:moveTo>
                  <a:lnTo>
                    <a:pt x="406400" y="0"/>
                  </a:lnTo>
                  <a:lnTo>
                    <a:pt x="203200" y="2311868"/>
                  </a:lnTo>
                  <a:lnTo>
                    <a:pt x="0" y="2311868"/>
                  </a:lnTo>
                  <a:lnTo>
                    <a:pt x="203200" y="0"/>
                  </a:lnTo>
                  <a:close/>
                </a:path>
              </a:pathLst>
            </a:custGeom>
            <a:gradFill rotWithShape="1">
              <a:gsLst>
                <a:gs pos="0">
                  <a:srgbClr val="8D2600">
                    <a:alpha val="100000"/>
                  </a:srgbClr>
                </a:gs>
                <a:gs pos="100000">
                  <a:srgbClr val="FF4500">
                    <a:alpha val="100000"/>
                  </a:srgbClr>
                </a:gs>
              </a:gsLst>
              <a:lin ang="0"/>
            </a:gradFill>
          </p:spPr>
        </p:sp>
        <p:sp>
          <p:nvSpPr>
            <p:cNvPr id="8" name="TextBox 8"/>
            <p:cNvSpPr txBox="1"/>
            <p:nvPr/>
          </p:nvSpPr>
          <p:spPr>
            <a:xfrm>
              <a:off x="101600" y="-57150"/>
              <a:ext cx="203200" cy="2369018"/>
            </a:xfrm>
            <a:prstGeom prst="rect">
              <a:avLst/>
            </a:prstGeom>
          </p:spPr>
          <p:txBody>
            <a:bodyPr lIns="50800" tIns="50800" rIns="50800" bIns="50800" rtlCol="0" anchor="ctr"/>
            <a:lstStyle/>
            <a:p>
              <a:pPr algn="ctr">
                <a:lnSpc>
                  <a:spcPts val="2800"/>
                </a:lnSpc>
              </a:pPr>
            </a:p>
          </p:txBody>
        </p:sp>
      </p:grpSp>
      <p:grpSp>
        <p:nvGrpSpPr>
          <p:cNvPr id="9" name="Group 9"/>
          <p:cNvGrpSpPr/>
          <p:nvPr/>
        </p:nvGrpSpPr>
        <p:grpSpPr>
          <a:xfrm rot="0">
            <a:off x="9884170" y="7610784"/>
            <a:ext cx="978559" cy="2691847"/>
            <a:chOff x="0" y="0"/>
            <a:chExt cx="840427" cy="2311868"/>
          </a:xfrm>
        </p:grpSpPr>
        <p:sp>
          <p:nvSpPr>
            <p:cNvPr id="10" name="Freeform 10"/>
            <p:cNvSpPr/>
            <p:nvPr/>
          </p:nvSpPr>
          <p:spPr>
            <a:xfrm>
              <a:off x="0" y="0"/>
              <a:ext cx="840427" cy="2311868"/>
            </a:xfrm>
            <a:custGeom>
              <a:avLst/>
              <a:gdLst/>
              <a:ahLst/>
              <a:cxnLst/>
              <a:rect l="l" t="t" r="r" b="b"/>
              <a:pathLst>
                <a:path w="840427" h="2311868">
                  <a:moveTo>
                    <a:pt x="203200" y="0"/>
                  </a:moveTo>
                  <a:lnTo>
                    <a:pt x="840427" y="0"/>
                  </a:lnTo>
                  <a:lnTo>
                    <a:pt x="637227" y="2311868"/>
                  </a:lnTo>
                  <a:lnTo>
                    <a:pt x="0" y="2311868"/>
                  </a:lnTo>
                  <a:lnTo>
                    <a:pt x="203200" y="0"/>
                  </a:lnTo>
                  <a:close/>
                </a:path>
              </a:pathLst>
            </a:custGeom>
            <a:gradFill rotWithShape="1">
              <a:gsLst>
                <a:gs pos="0">
                  <a:srgbClr val="8D2600">
                    <a:alpha val="100000"/>
                  </a:srgbClr>
                </a:gs>
                <a:gs pos="100000">
                  <a:srgbClr val="FF4500">
                    <a:alpha val="100000"/>
                  </a:srgbClr>
                </a:gs>
              </a:gsLst>
              <a:lin ang="0"/>
            </a:gradFill>
          </p:spPr>
        </p:sp>
        <p:sp>
          <p:nvSpPr>
            <p:cNvPr id="11" name="TextBox 11"/>
            <p:cNvSpPr txBox="1"/>
            <p:nvPr/>
          </p:nvSpPr>
          <p:spPr>
            <a:xfrm>
              <a:off x="101600" y="-57150"/>
              <a:ext cx="637227" cy="2369018"/>
            </a:xfrm>
            <a:prstGeom prst="rect">
              <a:avLst/>
            </a:prstGeom>
          </p:spPr>
          <p:txBody>
            <a:bodyPr lIns="50800" tIns="50800" rIns="50800" bIns="50800" rtlCol="0" anchor="ctr"/>
            <a:lstStyle/>
            <a:p>
              <a:pPr algn="ctr">
                <a:lnSpc>
                  <a:spcPts val="2800"/>
                </a:lnSpc>
              </a:pPr>
            </a:p>
          </p:txBody>
        </p:sp>
      </p:grpSp>
      <p:sp>
        <p:nvSpPr>
          <p:cNvPr id="12" name="Freeform 12"/>
          <p:cNvSpPr/>
          <p:nvPr/>
        </p:nvSpPr>
        <p:spPr>
          <a:xfrm>
            <a:off x="493728" y="3168149"/>
            <a:ext cx="16980002" cy="5094001"/>
          </a:xfrm>
          <a:custGeom>
            <a:avLst/>
            <a:gdLst/>
            <a:ahLst/>
            <a:cxnLst/>
            <a:rect l="l" t="t" r="r" b="b"/>
            <a:pathLst>
              <a:path w="16980002" h="5094001">
                <a:moveTo>
                  <a:pt x="0" y="0"/>
                </a:moveTo>
                <a:lnTo>
                  <a:pt x="16980003" y="0"/>
                </a:lnTo>
                <a:lnTo>
                  <a:pt x="16980003" y="5094000"/>
                </a:lnTo>
                <a:lnTo>
                  <a:pt x="0" y="5094000"/>
                </a:lnTo>
                <a:lnTo>
                  <a:pt x="0" y="0"/>
                </a:lnTo>
                <a:close/>
              </a:path>
            </a:pathLst>
          </a:custGeom>
          <a:blipFill>
            <a:blip r:embed="rId5"/>
            <a:stretch>
              <a:fillRect/>
            </a:stretch>
          </a:blipFill>
        </p:spPr>
      </p:sp>
      <p:sp>
        <p:nvSpPr>
          <p:cNvPr id="13" name="TextBox 13"/>
          <p:cNvSpPr txBox="1"/>
          <p:nvPr/>
        </p:nvSpPr>
        <p:spPr>
          <a:xfrm>
            <a:off x="193030" y="351224"/>
            <a:ext cx="11614484" cy="2085980"/>
          </a:xfrm>
          <a:prstGeom prst="rect">
            <a:avLst/>
          </a:prstGeom>
        </p:spPr>
        <p:txBody>
          <a:bodyPr lIns="0" tIns="0" rIns="0" bIns="0" rtlCol="0" anchor="t">
            <a:spAutoFit/>
          </a:bodyPr>
          <a:lstStyle/>
          <a:p>
            <a:pPr algn="l">
              <a:lnSpc>
                <a:spcPts val="7980"/>
              </a:lnSpc>
            </a:pPr>
            <a:r>
              <a:rPr lang="en-US" sz="84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rPr>
              <a:t>PREDICTIVE MODELING APPROACH</a:t>
            </a:r>
            <a:endParaRPr lang="en-US" sz="84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22" b="-9222"/>
            </a:stretch>
          </a:blipFill>
        </p:spPr>
      </p:sp>
      <p:grpSp>
        <p:nvGrpSpPr>
          <p:cNvPr id="3" name="Group 3"/>
          <p:cNvGrpSpPr/>
          <p:nvPr/>
        </p:nvGrpSpPr>
        <p:grpSpPr>
          <a:xfrm rot="0">
            <a:off x="10615213" y="0"/>
            <a:ext cx="10538383" cy="10287000"/>
            <a:chOff x="0" y="0"/>
            <a:chExt cx="2368363" cy="2311868"/>
          </a:xfrm>
        </p:grpSpPr>
        <p:sp>
          <p:nvSpPr>
            <p:cNvPr id="4" name="Freeform 4"/>
            <p:cNvSpPr/>
            <p:nvPr/>
          </p:nvSpPr>
          <p:spPr>
            <a:xfrm>
              <a:off x="0" y="0"/>
              <a:ext cx="2368363" cy="2311868"/>
            </a:xfrm>
            <a:custGeom>
              <a:avLst/>
              <a:gdLst/>
              <a:ahLst/>
              <a:cxnLst/>
              <a:rect l="l" t="t" r="r" b="b"/>
              <a:pathLst>
                <a:path w="2368363" h="2311868">
                  <a:moveTo>
                    <a:pt x="203200" y="0"/>
                  </a:moveTo>
                  <a:lnTo>
                    <a:pt x="2368363" y="0"/>
                  </a:lnTo>
                  <a:lnTo>
                    <a:pt x="2165163" y="2311868"/>
                  </a:lnTo>
                  <a:lnTo>
                    <a:pt x="0" y="2311868"/>
                  </a:lnTo>
                  <a:lnTo>
                    <a:pt x="203200" y="0"/>
                  </a:lnTo>
                  <a:close/>
                </a:path>
              </a:pathLst>
            </a:custGeom>
            <a:gradFill rotWithShape="1">
              <a:gsLst>
                <a:gs pos="0">
                  <a:srgbClr val="8D2600">
                    <a:alpha val="100000"/>
                  </a:srgbClr>
                </a:gs>
                <a:gs pos="100000">
                  <a:srgbClr val="FF4500">
                    <a:alpha val="100000"/>
                  </a:srgbClr>
                </a:gs>
              </a:gsLst>
              <a:lin ang="0"/>
            </a:gradFill>
          </p:spPr>
        </p:sp>
        <p:sp>
          <p:nvSpPr>
            <p:cNvPr id="5" name="TextBox 5"/>
            <p:cNvSpPr txBox="1"/>
            <p:nvPr/>
          </p:nvSpPr>
          <p:spPr>
            <a:xfrm>
              <a:off x="101600" y="-57150"/>
              <a:ext cx="2165163" cy="2369018"/>
            </a:xfrm>
            <a:prstGeom prst="rect">
              <a:avLst/>
            </a:prstGeom>
          </p:spPr>
          <p:txBody>
            <a:bodyPr lIns="50800" tIns="50800" rIns="50800" bIns="50800" rtlCol="0" anchor="ctr"/>
            <a:lstStyle/>
            <a:p>
              <a:pPr algn="ctr">
                <a:lnSpc>
                  <a:spcPts val="2800"/>
                </a:lnSpc>
              </a:pPr>
            </a:p>
          </p:txBody>
        </p:sp>
      </p:grpSp>
      <p:grpSp>
        <p:nvGrpSpPr>
          <p:cNvPr id="6" name="Group 6"/>
          <p:cNvGrpSpPr/>
          <p:nvPr/>
        </p:nvGrpSpPr>
        <p:grpSpPr>
          <a:xfrm rot="0">
            <a:off x="10103944" y="2094756"/>
            <a:ext cx="5620673" cy="2915592"/>
            <a:chOff x="0" y="0"/>
            <a:chExt cx="1577525" cy="818304"/>
          </a:xfrm>
        </p:grpSpPr>
        <p:sp>
          <p:nvSpPr>
            <p:cNvPr id="7" name="Freeform 7"/>
            <p:cNvSpPr/>
            <p:nvPr/>
          </p:nvSpPr>
          <p:spPr>
            <a:xfrm>
              <a:off x="0" y="0"/>
              <a:ext cx="1577525" cy="818304"/>
            </a:xfrm>
            <a:custGeom>
              <a:avLst/>
              <a:gdLst/>
              <a:ahLst/>
              <a:cxnLst/>
              <a:rect l="l" t="t" r="r" b="b"/>
              <a:pathLst>
                <a:path w="1577525" h="818304">
                  <a:moveTo>
                    <a:pt x="0" y="0"/>
                  </a:moveTo>
                  <a:lnTo>
                    <a:pt x="1577525" y="0"/>
                  </a:lnTo>
                  <a:lnTo>
                    <a:pt x="1577525" y="818304"/>
                  </a:lnTo>
                  <a:lnTo>
                    <a:pt x="0" y="818304"/>
                  </a:lnTo>
                  <a:close/>
                </a:path>
              </a:pathLst>
            </a:custGeom>
            <a:solidFill>
              <a:srgbClr val="FFFFFF"/>
            </a:solidFill>
          </p:spPr>
        </p:sp>
        <p:sp>
          <p:nvSpPr>
            <p:cNvPr id="8" name="TextBox 8"/>
            <p:cNvSpPr txBox="1"/>
            <p:nvPr/>
          </p:nvSpPr>
          <p:spPr>
            <a:xfrm>
              <a:off x="0" y="-57150"/>
              <a:ext cx="1577525" cy="875454"/>
            </a:xfrm>
            <a:prstGeom prst="rect">
              <a:avLst/>
            </a:prstGeom>
          </p:spPr>
          <p:txBody>
            <a:bodyPr lIns="50800" tIns="50800" rIns="50800" bIns="50800" rtlCol="0" anchor="ctr"/>
            <a:lstStyle/>
            <a:p>
              <a:pPr algn="ctr">
                <a:lnSpc>
                  <a:spcPts val="2800"/>
                </a:lnSpc>
              </a:pPr>
            </a:p>
          </p:txBody>
        </p:sp>
      </p:grpSp>
      <p:grpSp>
        <p:nvGrpSpPr>
          <p:cNvPr id="9" name="Group 9"/>
          <p:cNvGrpSpPr/>
          <p:nvPr/>
        </p:nvGrpSpPr>
        <p:grpSpPr>
          <a:xfrm rot="0">
            <a:off x="10189469" y="2188068"/>
            <a:ext cx="5449623" cy="2728968"/>
            <a:chOff x="0" y="0"/>
            <a:chExt cx="7266164" cy="3638623"/>
          </a:xfrm>
        </p:grpSpPr>
        <p:pic>
          <p:nvPicPr>
            <p:cNvPr id="10" name="Picture 10"/>
            <p:cNvPicPr>
              <a:picLocks noChangeAspect="1"/>
            </p:cNvPicPr>
            <p:nvPr/>
          </p:nvPicPr>
          <p:blipFill>
            <a:blip r:embed="rId2"/>
            <a:srcRect t="12325" b="12325"/>
            <a:stretch>
              <a:fillRect/>
            </a:stretch>
          </p:blipFill>
          <p:spPr>
            <a:xfrm>
              <a:off x="0" y="0"/>
              <a:ext cx="7266164" cy="3638623"/>
            </a:xfrm>
            <a:prstGeom prst="rect">
              <a:avLst/>
            </a:prstGeom>
          </p:spPr>
        </p:pic>
      </p:grpSp>
      <p:grpSp>
        <p:nvGrpSpPr>
          <p:cNvPr id="11" name="Group 11"/>
          <p:cNvGrpSpPr/>
          <p:nvPr/>
        </p:nvGrpSpPr>
        <p:grpSpPr>
          <a:xfrm rot="0">
            <a:off x="10103944" y="5295044"/>
            <a:ext cx="5620673" cy="2915592"/>
            <a:chOff x="0" y="0"/>
            <a:chExt cx="1577525" cy="818304"/>
          </a:xfrm>
        </p:grpSpPr>
        <p:sp>
          <p:nvSpPr>
            <p:cNvPr id="12" name="Freeform 12"/>
            <p:cNvSpPr/>
            <p:nvPr/>
          </p:nvSpPr>
          <p:spPr>
            <a:xfrm>
              <a:off x="0" y="0"/>
              <a:ext cx="1577525" cy="818304"/>
            </a:xfrm>
            <a:custGeom>
              <a:avLst/>
              <a:gdLst/>
              <a:ahLst/>
              <a:cxnLst/>
              <a:rect l="l" t="t" r="r" b="b"/>
              <a:pathLst>
                <a:path w="1577525" h="818304">
                  <a:moveTo>
                    <a:pt x="0" y="0"/>
                  </a:moveTo>
                  <a:lnTo>
                    <a:pt x="1577525" y="0"/>
                  </a:lnTo>
                  <a:lnTo>
                    <a:pt x="1577525" y="818304"/>
                  </a:lnTo>
                  <a:lnTo>
                    <a:pt x="0" y="818304"/>
                  </a:lnTo>
                  <a:close/>
                </a:path>
              </a:pathLst>
            </a:custGeom>
            <a:solidFill>
              <a:srgbClr val="FFFFFF"/>
            </a:solidFill>
          </p:spPr>
        </p:sp>
        <p:sp>
          <p:nvSpPr>
            <p:cNvPr id="13" name="TextBox 13"/>
            <p:cNvSpPr txBox="1"/>
            <p:nvPr/>
          </p:nvSpPr>
          <p:spPr>
            <a:xfrm>
              <a:off x="0" y="-57150"/>
              <a:ext cx="1577525" cy="875454"/>
            </a:xfrm>
            <a:prstGeom prst="rect">
              <a:avLst/>
            </a:prstGeom>
          </p:spPr>
          <p:txBody>
            <a:bodyPr lIns="50800" tIns="50800" rIns="50800" bIns="50800" rtlCol="0" anchor="ctr"/>
            <a:lstStyle/>
            <a:p>
              <a:pPr algn="ctr">
                <a:lnSpc>
                  <a:spcPts val="2800"/>
                </a:lnSpc>
              </a:pPr>
            </a:p>
          </p:txBody>
        </p:sp>
      </p:grpSp>
      <p:grpSp>
        <p:nvGrpSpPr>
          <p:cNvPr id="14" name="Group 14"/>
          <p:cNvGrpSpPr/>
          <p:nvPr/>
        </p:nvGrpSpPr>
        <p:grpSpPr>
          <a:xfrm rot="0">
            <a:off x="10189469" y="5388356"/>
            <a:ext cx="5449623" cy="2728968"/>
            <a:chOff x="0" y="0"/>
            <a:chExt cx="7266164" cy="3638623"/>
          </a:xfrm>
        </p:grpSpPr>
        <p:pic>
          <p:nvPicPr>
            <p:cNvPr id="15" name="Picture 15"/>
            <p:cNvPicPr>
              <a:picLocks noChangeAspect="1"/>
            </p:cNvPicPr>
            <p:nvPr/>
          </p:nvPicPr>
          <p:blipFill>
            <a:blip r:embed="rId3"/>
            <a:srcRect t="12419" b="12419"/>
            <a:stretch>
              <a:fillRect/>
            </a:stretch>
          </p:blipFill>
          <p:spPr>
            <a:xfrm>
              <a:off x="0" y="0"/>
              <a:ext cx="7266164" cy="3638623"/>
            </a:xfrm>
            <a:prstGeom prst="rect">
              <a:avLst/>
            </a:prstGeom>
          </p:spPr>
        </p:pic>
      </p:grpSp>
      <p:sp>
        <p:nvSpPr>
          <p:cNvPr id="16" name="Freeform 16"/>
          <p:cNvSpPr/>
          <p:nvPr/>
        </p:nvSpPr>
        <p:spPr>
          <a:xfrm>
            <a:off x="198847" y="8866950"/>
            <a:ext cx="17890306" cy="782701"/>
          </a:xfrm>
          <a:custGeom>
            <a:avLst/>
            <a:gdLst/>
            <a:ahLst/>
            <a:cxnLst/>
            <a:rect l="l" t="t" r="r" b="b"/>
            <a:pathLst>
              <a:path w="17890306" h="782701">
                <a:moveTo>
                  <a:pt x="0" y="0"/>
                </a:moveTo>
                <a:lnTo>
                  <a:pt x="17890306" y="0"/>
                </a:lnTo>
                <a:lnTo>
                  <a:pt x="17890306" y="782700"/>
                </a:lnTo>
                <a:lnTo>
                  <a:pt x="0" y="782700"/>
                </a:lnTo>
                <a:lnTo>
                  <a:pt x="0" y="0"/>
                </a:lnTo>
                <a:close/>
              </a:path>
            </a:pathLst>
          </a:custGeom>
          <a:blipFill>
            <a:blip r:embed="rId4"/>
            <a:stretch>
              <a:fillRect/>
            </a:stretch>
          </a:blipFill>
        </p:spPr>
      </p:sp>
      <p:sp>
        <p:nvSpPr>
          <p:cNvPr id="17" name="TextBox 17"/>
          <p:cNvSpPr txBox="1"/>
          <p:nvPr/>
        </p:nvSpPr>
        <p:spPr>
          <a:xfrm>
            <a:off x="1450311" y="3140769"/>
            <a:ext cx="7503189" cy="2247900"/>
          </a:xfrm>
          <a:prstGeom prst="rect">
            <a:avLst/>
          </a:prstGeom>
        </p:spPr>
        <p:txBody>
          <a:bodyPr lIns="0" tIns="0" rIns="0" bIns="0" rtlCol="0" anchor="t">
            <a:spAutoFit/>
          </a:bodyPr>
          <a:lstStyle/>
          <a:p>
            <a:pPr algn="l">
              <a:lnSpc>
                <a:spcPts val="8550"/>
              </a:lnSpc>
            </a:pPr>
            <a:r>
              <a:rPr lang="en-US" sz="90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rPr>
              <a:t>MODEL PERFORMANCE</a:t>
            </a:r>
            <a:endParaRPr lang="en-US" sz="90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endParaRPr>
          </a:p>
        </p:txBody>
      </p:sp>
      <p:sp>
        <p:nvSpPr>
          <p:cNvPr id="18" name="TextBox 18"/>
          <p:cNvSpPr txBox="1"/>
          <p:nvPr/>
        </p:nvSpPr>
        <p:spPr>
          <a:xfrm>
            <a:off x="330174" y="6054773"/>
            <a:ext cx="10285039" cy="1523359"/>
          </a:xfrm>
          <a:prstGeom prst="rect">
            <a:avLst/>
          </a:prstGeom>
        </p:spPr>
        <p:txBody>
          <a:bodyPr lIns="0" tIns="0" rIns="0" bIns="0" rtlCol="0" anchor="t">
            <a:spAutoFit/>
          </a:bodyPr>
          <a:lstStyle/>
          <a:p>
            <a:pPr algn="just">
              <a:lnSpc>
                <a:spcPts val="4095"/>
              </a:lnSpc>
            </a:pPr>
            <a:r>
              <a:rPr lang="en-US" sz="2410" b="1">
                <a:solidFill>
                  <a:srgbClr val="FFFFFF"/>
                </a:solidFill>
                <a:latin typeface="Poppins Bold" panose="00000800000000000000"/>
                <a:ea typeface="Poppins Bold" panose="00000800000000000000"/>
                <a:cs typeface="Poppins Bold" panose="00000800000000000000"/>
                <a:sym typeface="Poppins Bold" panose="00000800000000000000"/>
              </a:rPr>
              <a:t>{'Semifinal East-West': </a:t>
            </a:r>
            <a:r>
              <a:rPr lang="en-US" sz="2410">
                <a:solidFill>
                  <a:srgbClr val="FFFFFF"/>
                </a:solidFill>
                <a:latin typeface="Poppins" panose="00000500000000000000"/>
                <a:ea typeface="Poppins" panose="00000500000000000000"/>
                <a:cs typeface="Poppins" panose="00000500000000000000"/>
                <a:sym typeface="Poppins" panose="00000500000000000000"/>
              </a:rPr>
              <a:t>{'Accuracy': 0.6895119418483905}</a:t>
            </a:r>
            <a:r>
              <a:rPr lang="en-US" sz="2410" b="1">
                <a:solidFill>
                  <a:srgbClr val="FFFFFF"/>
                </a:solidFill>
                <a:latin typeface="Poppins Bold" panose="00000800000000000000"/>
                <a:ea typeface="Poppins Bold" panose="00000800000000000000"/>
                <a:cs typeface="Poppins Bold" panose="00000800000000000000"/>
                <a:sym typeface="Poppins Bold" panose="00000800000000000000"/>
              </a:rPr>
              <a:t>, </a:t>
            </a:r>
            <a:endParaRPr lang="en-US" sz="2410" b="1">
              <a:solidFill>
                <a:srgbClr val="FFFFFF"/>
              </a:solidFill>
              <a:latin typeface="Poppins Bold" panose="00000800000000000000"/>
              <a:ea typeface="Poppins Bold" panose="00000800000000000000"/>
              <a:cs typeface="Poppins Bold" panose="00000800000000000000"/>
              <a:sym typeface="Poppins Bold" panose="00000800000000000000"/>
            </a:endParaRPr>
          </a:p>
          <a:p>
            <a:pPr algn="just">
              <a:lnSpc>
                <a:spcPts val="4095"/>
              </a:lnSpc>
            </a:pPr>
            <a:r>
              <a:rPr lang="en-US" sz="2410" b="1">
                <a:solidFill>
                  <a:srgbClr val="FFFFFF"/>
                </a:solidFill>
                <a:latin typeface="Poppins Bold" panose="00000800000000000000"/>
                <a:ea typeface="Poppins Bold" panose="00000800000000000000"/>
                <a:cs typeface="Poppins Bold" panose="00000800000000000000"/>
                <a:sym typeface="Poppins Bold" panose="00000800000000000000"/>
              </a:rPr>
              <a:t>'Semifinal South-Midwest': </a:t>
            </a:r>
            <a:r>
              <a:rPr lang="en-US" sz="2410">
                <a:solidFill>
                  <a:srgbClr val="FFFFFF"/>
                </a:solidFill>
                <a:latin typeface="Poppins" panose="00000500000000000000"/>
                <a:ea typeface="Poppins" panose="00000500000000000000"/>
                <a:cs typeface="Poppins" panose="00000500000000000000"/>
                <a:sym typeface="Poppins" panose="00000500000000000000"/>
              </a:rPr>
              <a:t>{'Accuracy': 0.6432444905965156}</a:t>
            </a:r>
            <a:r>
              <a:rPr lang="en-US" sz="2410" b="1">
                <a:solidFill>
                  <a:srgbClr val="FFFFFF"/>
                </a:solidFill>
                <a:latin typeface="Poppins Bold" panose="00000800000000000000"/>
                <a:ea typeface="Poppins Bold" panose="00000800000000000000"/>
                <a:cs typeface="Poppins Bold" panose="00000800000000000000"/>
                <a:sym typeface="Poppins Bold" panose="00000800000000000000"/>
              </a:rPr>
              <a:t>, </a:t>
            </a:r>
            <a:endParaRPr lang="en-US" sz="2410" b="1">
              <a:solidFill>
                <a:srgbClr val="FFFFFF"/>
              </a:solidFill>
              <a:latin typeface="Poppins Bold" panose="00000800000000000000"/>
              <a:ea typeface="Poppins Bold" panose="00000800000000000000"/>
              <a:cs typeface="Poppins Bold" panose="00000800000000000000"/>
              <a:sym typeface="Poppins Bold" panose="00000800000000000000"/>
            </a:endParaRPr>
          </a:p>
          <a:p>
            <a:pPr algn="just">
              <a:lnSpc>
                <a:spcPts val="4095"/>
              </a:lnSpc>
            </a:pPr>
            <a:r>
              <a:rPr lang="en-US" sz="2410" b="1">
                <a:solidFill>
                  <a:srgbClr val="FFFFFF"/>
                </a:solidFill>
                <a:latin typeface="Poppins Bold" panose="00000800000000000000"/>
                <a:ea typeface="Poppins Bold" panose="00000800000000000000"/>
                <a:cs typeface="Poppins Bold" panose="00000800000000000000"/>
                <a:sym typeface="Poppins Bold" panose="00000800000000000000"/>
              </a:rPr>
              <a:t>'Final National Champion': </a:t>
            </a:r>
            <a:r>
              <a:rPr lang="en-US" sz="2410">
                <a:solidFill>
                  <a:srgbClr val="FFFFFF"/>
                </a:solidFill>
                <a:latin typeface="Poppins" panose="00000500000000000000"/>
                <a:ea typeface="Poppins" panose="00000500000000000000"/>
                <a:cs typeface="Poppins" panose="00000500000000000000"/>
                <a:sym typeface="Poppins" panose="00000500000000000000"/>
              </a:rPr>
              <a:t>{'Accuracy': 0.4696357832391062}</a:t>
            </a:r>
            <a:r>
              <a:rPr lang="en-US" sz="2410" b="1">
                <a:solidFill>
                  <a:srgbClr val="FFFFFF"/>
                </a:solidFill>
                <a:latin typeface="Poppins Bold" panose="00000800000000000000"/>
                <a:ea typeface="Poppins Bold" panose="00000800000000000000"/>
                <a:cs typeface="Poppins Bold" panose="00000800000000000000"/>
                <a:sym typeface="Poppins Bold" panose="00000800000000000000"/>
              </a:rPr>
              <a:t>}</a:t>
            </a:r>
            <a:endParaRPr lang="en-US" sz="2410" b="1">
              <a:solidFill>
                <a:srgbClr val="FFFFFF"/>
              </a:solidFill>
              <a:latin typeface="Poppins Bold" panose="00000800000000000000"/>
              <a:ea typeface="Poppins Bold" panose="00000800000000000000"/>
              <a:cs typeface="Poppins Bold" panose="00000800000000000000"/>
              <a:sym typeface="Poppins Bold" panose="0000080000000000000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22" b="-9222"/>
            </a:stretch>
          </a:blipFill>
        </p:spPr>
      </p:sp>
      <p:grpSp>
        <p:nvGrpSpPr>
          <p:cNvPr id="3" name="Group 3"/>
          <p:cNvGrpSpPr/>
          <p:nvPr/>
        </p:nvGrpSpPr>
        <p:grpSpPr>
          <a:xfrm rot="0">
            <a:off x="-223578" y="4945216"/>
            <a:ext cx="3976178" cy="10781843"/>
            <a:chOff x="0" y="0"/>
            <a:chExt cx="472130" cy="1280233"/>
          </a:xfrm>
        </p:grpSpPr>
        <p:sp>
          <p:nvSpPr>
            <p:cNvPr id="4" name="Freeform 4"/>
            <p:cNvSpPr/>
            <p:nvPr/>
          </p:nvSpPr>
          <p:spPr>
            <a:xfrm>
              <a:off x="0" y="0"/>
              <a:ext cx="472130" cy="1280233"/>
            </a:xfrm>
            <a:custGeom>
              <a:avLst/>
              <a:gdLst/>
              <a:ahLst/>
              <a:cxnLst/>
              <a:rect l="l" t="t" r="r" b="b"/>
              <a:pathLst>
                <a:path w="472130" h="1280233">
                  <a:moveTo>
                    <a:pt x="203200" y="0"/>
                  </a:moveTo>
                  <a:lnTo>
                    <a:pt x="472130" y="0"/>
                  </a:lnTo>
                  <a:lnTo>
                    <a:pt x="268930" y="1280233"/>
                  </a:lnTo>
                  <a:lnTo>
                    <a:pt x="0" y="1280233"/>
                  </a:lnTo>
                  <a:lnTo>
                    <a:pt x="203200" y="0"/>
                  </a:lnTo>
                  <a:close/>
                </a:path>
              </a:pathLst>
            </a:custGeom>
            <a:gradFill rotWithShape="1">
              <a:gsLst>
                <a:gs pos="0">
                  <a:srgbClr val="8D2600">
                    <a:alpha val="100000"/>
                  </a:srgbClr>
                </a:gs>
                <a:gs pos="100000">
                  <a:srgbClr val="FF4500">
                    <a:alpha val="100000"/>
                  </a:srgbClr>
                </a:gs>
              </a:gsLst>
              <a:lin ang="0"/>
            </a:gradFill>
          </p:spPr>
        </p:sp>
        <p:sp>
          <p:nvSpPr>
            <p:cNvPr id="5" name="TextBox 5"/>
            <p:cNvSpPr txBox="1"/>
            <p:nvPr/>
          </p:nvSpPr>
          <p:spPr>
            <a:xfrm>
              <a:off x="101600" y="-57150"/>
              <a:ext cx="268930" cy="1337383"/>
            </a:xfrm>
            <a:prstGeom prst="rect">
              <a:avLst/>
            </a:prstGeom>
          </p:spPr>
          <p:txBody>
            <a:bodyPr lIns="50800" tIns="50800" rIns="50800" bIns="50800" rtlCol="0" anchor="ctr"/>
            <a:lstStyle/>
            <a:p>
              <a:pPr algn="ctr">
                <a:lnSpc>
                  <a:spcPts val="2800"/>
                </a:lnSpc>
              </a:pPr>
            </a:p>
          </p:txBody>
        </p:sp>
      </p:grpSp>
      <p:grpSp>
        <p:nvGrpSpPr>
          <p:cNvPr id="6" name="Group 6"/>
          <p:cNvGrpSpPr/>
          <p:nvPr/>
        </p:nvGrpSpPr>
        <p:grpSpPr>
          <a:xfrm rot="0">
            <a:off x="1551304" y="2186357"/>
            <a:ext cx="2602929" cy="2331842"/>
            <a:chOff x="0" y="0"/>
            <a:chExt cx="1429066" cy="1280233"/>
          </a:xfrm>
        </p:grpSpPr>
        <p:sp>
          <p:nvSpPr>
            <p:cNvPr id="7" name="Freeform 7"/>
            <p:cNvSpPr/>
            <p:nvPr/>
          </p:nvSpPr>
          <p:spPr>
            <a:xfrm>
              <a:off x="0" y="0"/>
              <a:ext cx="1429066" cy="1280233"/>
            </a:xfrm>
            <a:custGeom>
              <a:avLst/>
              <a:gdLst/>
              <a:ahLst/>
              <a:cxnLst/>
              <a:rect l="l" t="t" r="r" b="b"/>
              <a:pathLst>
                <a:path w="1429066" h="1280233">
                  <a:moveTo>
                    <a:pt x="203200" y="0"/>
                  </a:moveTo>
                  <a:lnTo>
                    <a:pt x="1429066" y="0"/>
                  </a:lnTo>
                  <a:lnTo>
                    <a:pt x="1225866" y="1280233"/>
                  </a:lnTo>
                  <a:lnTo>
                    <a:pt x="0" y="1280233"/>
                  </a:lnTo>
                  <a:lnTo>
                    <a:pt x="203200" y="0"/>
                  </a:lnTo>
                  <a:close/>
                </a:path>
              </a:pathLst>
            </a:custGeom>
            <a:gradFill rotWithShape="1">
              <a:gsLst>
                <a:gs pos="0">
                  <a:srgbClr val="8D2600">
                    <a:alpha val="100000"/>
                  </a:srgbClr>
                </a:gs>
                <a:gs pos="100000">
                  <a:srgbClr val="FF4500">
                    <a:alpha val="100000"/>
                  </a:srgbClr>
                </a:gs>
              </a:gsLst>
              <a:lin ang="0"/>
            </a:gradFill>
          </p:spPr>
        </p:sp>
        <p:sp>
          <p:nvSpPr>
            <p:cNvPr id="8" name="TextBox 8"/>
            <p:cNvSpPr txBox="1"/>
            <p:nvPr/>
          </p:nvSpPr>
          <p:spPr>
            <a:xfrm>
              <a:off x="101600" y="-57150"/>
              <a:ext cx="1225866" cy="1337383"/>
            </a:xfrm>
            <a:prstGeom prst="rect">
              <a:avLst/>
            </a:prstGeom>
          </p:spPr>
          <p:txBody>
            <a:bodyPr lIns="50800" tIns="50800" rIns="50800" bIns="50800" rtlCol="0" anchor="ctr"/>
            <a:lstStyle/>
            <a:p>
              <a:pPr algn="ctr">
                <a:lnSpc>
                  <a:spcPts val="2800"/>
                </a:lnSpc>
              </a:pPr>
            </a:p>
          </p:txBody>
        </p:sp>
      </p:grpSp>
      <p:grpSp>
        <p:nvGrpSpPr>
          <p:cNvPr id="9" name="Group 9"/>
          <p:cNvGrpSpPr/>
          <p:nvPr/>
        </p:nvGrpSpPr>
        <p:grpSpPr>
          <a:xfrm rot="0">
            <a:off x="3609316" y="-247421"/>
            <a:ext cx="3976178" cy="10781843"/>
            <a:chOff x="0" y="0"/>
            <a:chExt cx="472130" cy="1280233"/>
          </a:xfrm>
        </p:grpSpPr>
        <p:sp>
          <p:nvSpPr>
            <p:cNvPr id="10" name="Freeform 10"/>
            <p:cNvSpPr/>
            <p:nvPr/>
          </p:nvSpPr>
          <p:spPr>
            <a:xfrm>
              <a:off x="0" y="0"/>
              <a:ext cx="472130" cy="1280233"/>
            </a:xfrm>
            <a:custGeom>
              <a:avLst/>
              <a:gdLst/>
              <a:ahLst/>
              <a:cxnLst/>
              <a:rect l="l" t="t" r="r" b="b"/>
              <a:pathLst>
                <a:path w="472130" h="1280233">
                  <a:moveTo>
                    <a:pt x="203200" y="0"/>
                  </a:moveTo>
                  <a:lnTo>
                    <a:pt x="472130" y="0"/>
                  </a:lnTo>
                  <a:lnTo>
                    <a:pt x="268930" y="1280233"/>
                  </a:lnTo>
                  <a:lnTo>
                    <a:pt x="0" y="1280233"/>
                  </a:lnTo>
                  <a:lnTo>
                    <a:pt x="203200" y="0"/>
                  </a:lnTo>
                  <a:close/>
                </a:path>
              </a:pathLst>
            </a:custGeom>
            <a:gradFill rotWithShape="1">
              <a:gsLst>
                <a:gs pos="0">
                  <a:srgbClr val="8D2600">
                    <a:alpha val="100000"/>
                  </a:srgbClr>
                </a:gs>
                <a:gs pos="100000">
                  <a:srgbClr val="FF4500">
                    <a:alpha val="100000"/>
                  </a:srgbClr>
                </a:gs>
              </a:gsLst>
              <a:lin ang="0"/>
            </a:gradFill>
          </p:spPr>
        </p:sp>
        <p:sp>
          <p:nvSpPr>
            <p:cNvPr id="11" name="TextBox 11"/>
            <p:cNvSpPr txBox="1"/>
            <p:nvPr/>
          </p:nvSpPr>
          <p:spPr>
            <a:xfrm>
              <a:off x="101600" y="-57150"/>
              <a:ext cx="268930" cy="1337383"/>
            </a:xfrm>
            <a:prstGeom prst="rect">
              <a:avLst/>
            </a:prstGeom>
          </p:spPr>
          <p:txBody>
            <a:bodyPr lIns="50800" tIns="50800" rIns="50800" bIns="50800" rtlCol="0" anchor="ctr"/>
            <a:lstStyle/>
            <a:p>
              <a:pPr algn="ctr">
                <a:lnSpc>
                  <a:spcPts val="2800"/>
                </a:lnSpc>
              </a:pPr>
            </a:p>
          </p:txBody>
        </p:sp>
      </p:grpSp>
      <p:sp>
        <p:nvSpPr>
          <p:cNvPr id="12" name="Freeform 12"/>
          <p:cNvSpPr/>
          <p:nvPr/>
        </p:nvSpPr>
        <p:spPr>
          <a:xfrm>
            <a:off x="-1803374" y="4945216"/>
            <a:ext cx="10096228" cy="7534310"/>
          </a:xfrm>
          <a:custGeom>
            <a:avLst/>
            <a:gdLst/>
            <a:ahLst/>
            <a:cxnLst/>
            <a:rect l="l" t="t" r="r" b="b"/>
            <a:pathLst>
              <a:path w="10096228" h="7534310">
                <a:moveTo>
                  <a:pt x="0" y="0"/>
                </a:moveTo>
                <a:lnTo>
                  <a:pt x="10096228" y="0"/>
                </a:lnTo>
                <a:lnTo>
                  <a:pt x="10096228" y="7534311"/>
                </a:lnTo>
                <a:lnTo>
                  <a:pt x="0" y="7534311"/>
                </a:lnTo>
                <a:lnTo>
                  <a:pt x="0" y="0"/>
                </a:lnTo>
                <a:close/>
              </a:path>
            </a:pathLst>
          </a:custGeom>
          <a:blipFill>
            <a:blip r:embed="rId2"/>
            <a:stretch>
              <a:fillRect/>
            </a:stretch>
          </a:blipFill>
        </p:spPr>
      </p:sp>
      <p:sp>
        <p:nvSpPr>
          <p:cNvPr id="13" name="TextBox 13"/>
          <p:cNvSpPr txBox="1"/>
          <p:nvPr/>
        </p:nvSpPr>
        <p:spPr>
          <a:xfrm>
            <a:off x="1028700" y="1146175"/>
            <a:ext cx="1873255" cy="263525"/>
          </a:xfrm>
          <a:prstGeom prst="rect">
            <a:avLst/>
          </a:prstGeom>
        </p:spPr>
        <p:txBody>
          <a:bodyPr lIns="0" tIns="0" rIns="0" bIns="0" rtlCol="0" anchor="t">
            <a:spAutoFit/>
          </a:bodyPr>
          <a:lstStyle/>
          <a:p>
            <a:pPr algn="l">
              <a:lnSpc>
                <a:spcPts val="1900"/>
              </a:lnSpc>
            </a:pPr>
            <a:r>
              <a:rPr lang="en-US" sz="20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rPr>
              <a:t>CCAC</a:t>
            </a:r>
            <a:endParaRPr lang="en-US" sz="20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endParaRPr>
          </a:p>
        </p:txBody>
      </p:sp>
      <p:sp>
        <p:nvSpPr>
          <p:cNvPr id="14" name="TextBox 14"/>
          <p:cNvSpPr txBox="1"/>
          <p:nvPr/>
        </p:nvSpPr>
        <p:spPr>
          <a:xfrm>
            <a:off x="8292854" y="3842331"/>
            <a:ext cx="8826797" cy="2076250"/>
          </a:xfrm>
          <a:prstGeom prst="rect">
            <a:avLst/>
          </a:prstGeom>
        </p:spPr>
        <p:txBody>
          <a:bodyPr lIns="0" tIns="0" rIns="0" bIns="0" rtlCol="0" anchor="t">
            <a:spAutoFit/>
          </a:bodyPr>
          <a:lstStyle/>
          <a:p>
            <a:pPr algn="ctr">
              <a:lnSpc>
                <a:spcPts val="15385"/>
              </a:lnSpc>
            </a:pPr>
            <a:r>
              <a:rPr lang="en-US" sz="16195"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rPr>
              <a:t>PART 4</a:t>
            </a:r>
            <a:endParaRPr lang="en-US" sz="16195"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endParaRPr>
          </a:p>
        </p:txBody>
      </p:sp>
      <p:sp>
        <p:nvSpPr>
          <p:cNvPr id="15" name="TextBox 15"/>
          <p:cNvSpPr txBox="1"/>
          <p:nvPr/>
        </p:nvSpPr>
        <p:spPr>
          <a:xfrm>
            <a:off x="9549674" y="5558218"/>
            <a:ext cx="5913571" cy="625476"/>
          </a:xfrm>
          <a:prstGeom prst="rect">
            <a:avLst/>
          </a:prstGeom>
        </p:spPr>
        <p:txBody>
          <a:bodyPr lIns="0" tIns="0" rIns="0" bIns="0" rtlCol="0" anchor="t">
            <a:spAutoFit/>
          </a:bodyPr>
          <a:lstStyle/>
          <a:p>
            <a:pPr algn="ctr">
              <a:lnSpc>
                <a:spcPts val="4900"/>
              </a:lnSpc>
            </a:pPr>
            <a:r>
              <a:rPr lang="en-US" sz="3500" b="1">
                <a:solidFill>
                  <a:srgbClr val="FFFFFF"/>
                </a:solidFill>
                <a:latin typeface="Poppins Bold" panose="00000800000000000000"/>
                <a:ea typeface="Poppins Bold" panose="00000800000000000000"/>
                <a:cs typeface="Poppins Bold" panose="00000800000000000000"/>
                <a:sym typeface="Poppins Bold" panose="00000800000000000000"/>
              </a:rPr>
              <a:t>Key Findings &amp; Insights</a:t>
            </a:r>
            <a:endParaRPr lang="en-US" sz="3500" b="1">
              <a:solidFill>
                <a:srgbClr val="FFFFFF"/>
              </a:solidFill>
              <a:latin typeface="Poppins Bold" panose="00000800000000000000"/>
              <a:ea typeface="Poppins Bold" panose="00000800000000000000"/>
              <a:cs typeface="Poppins Bold" panose="00000800000000000000"/>
              <a:sym typeface="Poppins Bold" panose="00000800000000000000"/>
            </a:endParaRPr>
          </a:p>
        </p:txBody>
      </p:sp>
      <p:sp>
        <p:nvSpPr>
          <p:cNvPr id="16" name="TextBox 16"/>
          <p:cNvSpPr txBox="1"/>
          <p:nvPr/>
        </p:nvSpPr>
        <p:spPr>
          <a:xfrm>
            <a:off x="9805906" y="6321398"/>
            <a:ext cx="5323168" cy="358775"/>
          </a:xfrm>
          <a:prstGeom prst="rect">
            <a:avLst/>
          </a:prstGeom>
        </p:spPr>
        <p:txBody>
          <a:bodyPr lIns="0" tIns="0" rIns="0" bIns="0" rtlCol="0" anchor="t">
            <a:spAutoFit/>
          </a:bodyPr>
          <a:lstStyle/>
          <a:p>
            <a:pPr algn="l">
              <a:lnSpc>
                <a:spcPts val="2800"/>
              </a:lnSpc>
              <a:spcBef>
                <a:spcPct val="0"/>
              </a:spcBef>
            </a:pPr>
            <a:r>
              <a:rPr lang="en-US" sz="2000">
                <a:solidFill>
                  <a:srgbClr val="FFFFFF"/>
                </a:solidFill>
                <a:latin typeface="Poppins" panose="00000500000000000000"/>
                <a:ea typeface="Poppins" panose="00000500000000000000"/>
                <a:cs typeface="Poppins" panose="00000500000000000000"/>
                <a:sym typeface="Poppins" panose="00000500000000000000"/>
              </a:rPr>
              <a:t>Do prediction trends change over time?</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17" name="TextBox 17"/>
          <p:cNvSpPr txBox="1"/>
          <p:nvPr/>
        </p:nvSpPr>
        <p:spPr>
          <a:xfrm>
            <a:off x="9802306" y="6759548"/>
            <a:ext cx="5660939" cy="358775"/>
          </a:xfrm>
          <a:prstGeom prst="rect">
            <a:avLst/>
          </a:prstGeom>
        </p:spPr>
        <p:txBody>
          <a:bodyPr lIns="0" tIns="0" rIns="0" bIns="0" rtlCol="0" anchor="t">
            <a:spAutoFit/>
          </a:bodyPr>
          <a:lstStyle/>
          <a:p>
            <a:pPr algn="l">
              <a:lnSpc>
                <a:spcPts val="2800"/>
              </a:lnSpc>
              <a:spcBef>
                <a:spcPct val="0"/>
              </a:spcBef>
            </a:pPr>
            <a:r>
              <a:rPr lang="en-US" sz="2000">
                <a:solidFill>
                  <a:srgbClr val="FFFFFF"/>
                </a:solidFill>
                <a:latin typeface="Poppins" panose="00000500000000000000"/>
                <a:ea typeface="Poppins" panose="00000500000000000000"/>
                <a:cs typeface="Poppins" panose="00000500000000000000"/>
                <a:sym typeface="Poppins" panose="00000500000000000000"/>
              </a:rPr>
              <a:t>Is there significant fan bias in predictions?</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18" name="TextBox 18"/>
          <p:cNvSpPr txBox="1"/>
          <p:nvPr/>
        </p:nvSpPr>
        <p:spPr>
          <a:xfrm>
            <a:off x="9809506" y="7194523"/>
            <a:ext cx="7161518" cy="358775"/>
          </a:xfrm>
          <a:prstGeom prst="rect">
            <a:avLst/>
          </a:prstGeom>
        </p:spPr>
        <p:txBody>
          <a:bodyPr lIns="0" tIns="0" rIns="0" bIns="0" rtlCol="0" anchor="t">
            <a:spAutoFit/>
          </a:bodyPr>
          <a:lstStyle/>
          <a:p>
            <a:pPr algn="l">
              <a:lnSpc>
                <a:spcPts val="2800"/>
              </a:lnSpc>
              <a:spcBef>
                <a:spcPct val="0"/>
              </a:spcBef>
            </a:pPr>
            <a:r>
              <a:rPr lang="en-US" sz="2000">
                <a:solidFill>
                  <a:srgbClr val="FFFFFF"/>
                </a:solidFill>
                <a:latin typeface="Poppins" panose="00000500000000000000"/>
                <a:ea typeface="Poppins" panose="00000500000000000000"/>
                <a:cs typeface="Poppins" panose="00000500000000000000"/>
                <a:sym typeface="Poppins" panose="00000500000000000000"/>
              </a:rPr>
              <a:t>Do fan predictions reflect actual team performance?</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19" name="TextBox 19"/>
          <p:cNvSpPr txBox="1"/>
          <p:nvPr/>
        </p:nvSpPr>
        <p:spPr>
          <a:xfrm>
            <a:off x="9805906" y="7632673"/>
            <a:ext cx="7313745" cy="358775"/>
          </a:xfrm>
          <a:prstGeom prst="rect">
            <a:avLst/>
          </a:prstGeom>
        </p:spPr>
        <p:txBody>
          <a:bodyPr lIns="0" tIns="0" rIns="0" bIns="0" rtlCol="0" anchor="t">
            <a:spAutoFit/>
          </a:bodyPr>
          <a:lstStyle/>
          <a:p>
            <a:pPr algn="l">
              <a:lnSpc>
                <a:spcPts val="2800"/>
              </a:lnSpc>
              <a:spcBef>
                <a:spcPct val="0"/>
              </a:spcBef>
            </a:pPr>
            <a:r>
              <a:rPr lang="en-US" sz="2000">
                <a:solidFill>
                  <a:srgbClr val="FFFFFF"/>
                </a:solidFill>
                <a:latin typeface="Poppins" panose="00000500000000000000"/>
                <a:ea typeface="Poppins" panose="00000500000000000000"/>
                <a:cs typeface="Poppins" panose="00000500000000000000"/>
                <a:sym typeface="Poppins" panose="00000500000000000000"/>
              </a:rPr>
              <a:t>Does home vs. away performance affect predictions?</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22" b="-9222"/>
            </a:stretch>
          </a:blipFill>
        </p:spPr>
      </p:sp>
      <p:sp>
        <p:nvSpPr>
          <p:cNvPr id="3" name="Freeform 3"/>
          <p:cNvSpPr/>
          <p:nvPr/>
        </p:nvSpPr>
        <p:spPr>
          <a:xfrm>
            <a:off x="135158" y="3228817"/>
            <a:ext cx="9381730" cy="5722855"/>
          </a:xfrm>
          <a:custGeom>
            <a:avLst/>
            <a:gdLst/>
            <a:ahLst/>
            <a:cxnLst/>
            <a:rect l="l" t="t" r="r" b="b"/>
            <a:pathLst>
              <a:path w="9381730" h="5722855">
                <a:moveTo>
                  <a:pt x="0" y="0"/>
                </a:moveTo>
                <a:lnTo>
                  <a:pt x="9381730" y="0"/>
                </a:lnTo>
                <a:lnTo>
                  <a:pt x="9381730" y="5722855"/>
                </a:lnTo>
                <a:lnTo>
                  <a:pt x="0" y="5722855"/>
                </a:lnTo>
                <a:lnTo>
                  <a:pt x="0" y="0"/>
                </a:lnTo>
                <a:close/>
              </a:path>
            </a:pathLst>
          </a:custGeom>
          <a:blipFill>
            <a:blip r:embed="rId2"/>
            <a:stretch>
              <a:fillRect/>
            </a:stretch>
          </a:blipFill>
        </p:spPr>
      </p:sp>
      <p:sp>
        <p:nvSpPr>
          <p:cNvPr id="4" name="Freeform 4"/>
          <p:cNvSpPr/>
          <p:nvPr/>
        </p:nvSpPr>
        <p:spPr>
          <a:xfrm>
            <a:off x="11551724" y="90105"/>
            <a:ext cx="4197456" cy="3043092"/>
          </a:xfrm>
          <a:custGeom>
            <a:avLst/>
            <a:gdLst/>
            <a:ahLst/>
            <a:cxnLst/>
            <a:rect l="l" t="t" r="r" b="b"/>
            <a:pathLst>
              <a:path w="4197456" h="3043092">
                <a:moveTo>
                  <a:pt x="0" y="0"/>
                </a:moveTo>
                <a:lnTo>
                  <a:pt x="4197456" y="0"/>
                </a:lnTo>
                <a:lnTo>
                  <a:pt x="4197456" y="3043092"/>
                </a:lnTo>
                <a:lnTo>
                  <a:pt x="0" y="3043092"/>
                </a:lnTo>
                <a:lnTo>
                  <a:pt x="0" y="0"/>
                </a:lnTo>
                <a:close/>
              </a:path>
            </a:pathLst>
          </a:custGeom>
          <a:blipFill>
            <a:blip r:embed="rId3"/>
            <a:stretch>
              <a:fillRect r="-1011"/>
            </a:stretch>
          </a:blipFill>
        </p:spPr>
      </p:sp>
      <p:sp>
        <p:nvSpPr>
          <p:cNvPr id="5" name="TextBox 5"/>
          <p:cNvSpPr txBox="1"/>
          <p:nvPr/>
        </p:nvSpPr>
        <p:spPr>
          <a:xfrm>
            <a:off x="85265" y="8576370"/>
            <a:ext cx="1333452" cy="274679"/>
          </a:xfrm>
          <a:prstGeom prst="rect">
            <a:avLst/>
          </a:prstGeom>
        </p:spPr>
        <p:txBody>
          <a:bodyPr lIns="0" tIns="0" rIns="0" bIns="0" rtlCol="0" anchor="t">
            <a:spAutoFit/>
          </a:bodyPr>
          <a:lstStyle/>
          <a:p>
            <a:pPr algn="ctr">
              <a:lnSpc>
                <a:spcPts val="2185"/>
              </a:lnSpc>
              <a:spcBef>
                <a:spcPct val="0"/>
              </a:spcBef>
            </a:pPr>
            <a:r>
              <a:rPr lang="en-US" sz="1560" b="1">
                <a:solidFill>
                  <a:srgbClr val="000000"/>
                </a:solidFill>
                <a:latin typeface="Poppins Bold" panose="00000800000000000000"/>
                <a:ea typeface="Poppins Bold" panose="00000800000000000000"/>
                <a:cs typeface="Poppins Bold" panose="00000800000000000000"/>
                <a:sym typeface="Poppins Bold" panose="00000800000000000000"/>
              </a:rPr>
              <a:t>Longitude</a:t>
            </a:r>
            <a:endParaRPr lang="en-US" sz="1560" b="1">
              <a:solidFill>
                <a:srgbClr val="000000"/>
              </a:solidFill>
              <a:latin typeface="Poppins Bold" panose="00000800000000000000"/>
              <a:ea typeface="Poppins Bold" panose="00000800000000000000"/>
              <a:cs typeface="Poppins Bold" panose="00000800000000000000"/>
              <a:sym typeface="Poppins Bold" panose="00000800000000000000"/>
            </a:endParaRPr>
          </a:p>
        </p:txBody>
      </p:sp>
      <p:sp>
        <p:nvSpPr>
          <p:cNvPr id="6" name="TextBox 6"/>
          <p:cNvSpPr txBox="1"/>
          <p:nvPr/>
        </p:nvSpPr>
        <p:spPr>
          <a:xfrm>
            <a:off x="499709" y="3501204"/>
            <a:ext cx="9156897" cy="320675"/>
          </a:xfrm>
          <a:prstGeom prst="rect">
            <a:avLst/>
          </a:prstGeom>
        </p:spPr>
        <p:txBody>
          <a:bodyPr lIns="0" tIns="0" rIns="0" bIns="0" rtlCol="0" anchor="t">
            <a:spAutoFit/>
          </a:bodyPr>
          <a:lstStyle/>
          <a:p>
            <a:pPr algn="l">
              <a:lnSpc>
                <a:spcPts val="2470"/>
              </a:lnSpc>
            </a:pPr>
            <a:r>
              <a:rPr lang="en-US" sz="2600" i="1">
                <a:solidFill>
                  <a:srgbClr val="0033A0">
                    <a:alpha val="94902"/>
                  </a:srgbClr>
                </a:solidFill>
                <a:latin typeface="Anton Italics" panose="00000500000000000000"/>
                <a:ea typeface="Anton Italics" panose="00000500000000000000"/>
                <a:cs typeface="Anton Italics" panose="00000500000000000000"/>
                <a:sym typeface="Anton Italics" panose="00000500000000000000"/>
              </a:rPr>
              <a:t>K-MEANS CLUSTERING ANALYSIS OF CUSTOMER GEOGRAPHIC DISTRIBUTION</a:t>
            </a:r>
            <a:endParaRPr lang="en-US" sz="2600" i="1">
              <a:solidFill>
                <a:srgbClr val="0033A0">
                  <a:alpha val="94902"/>
                </a:srgbClr>
              </a:solidFill>
              <a:latin typeface="Anton Italics" panose="00000500000000000000"/>
              <a:ea typeface="Anton Italics" panose="00000500000000000000"/>
              <a:cs typeface="Anton Italics" panose="00000500000000000000"/>
              <a:sym typeface="Anton Italics" panose="00000500000000000000"/>
            </a:endParaRPr>
          </a:p>
        </p:txBody>
      </p:sp>
      <p:sp>
        <p:nvSpPr>
          <p:cNvPr id="7" name="TextBox 7"/>
          <p:cNvSpPr txBox="1"/>
          <p:nvPr/>
        </p:nvSpPr>
        <p:spPr>
          <a:xfrm>
            <a:off x="499709" y="123825"/>
            <a:ext cx="15123990" cy="2125037"/>
          </a:xfrm>
          <a:prstGeom prst="rect">
            <a:avLst/>
          </a:prstGeom>
        </p:spPr>
        <p:txBody>
          <a:bodyPr lIns="0" tIns="0" rIns="0" bIns="0" rtlCol="0" anchor="t">
            <a:spAutoFit/>
          </a:bodyPr>
          <a:lstStyle/>
          <a:p>
            <a:pPr algn="l">
              <a:lnSpc>
                <a:spcPts val="5425"/>
              </a:lnSpc>
            </a:pPr>
            <a:r>
              <a:rPr lang="en-US" sz="571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rPr>
              <a:t>GEOSPATIAL CLUSTERING </a:t>
            </a:r>
            <a:endParaRPr lang="en-US" sz="571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endParaRPr>
          </a:p>
          <a:p>
            <a:pPr algn="l">
              <a:lnSpc>
                <a:spcPts val="5425"/>
              </a:lnSpc>
            </a:pPr>
            <a:r>
              <a:rPr lang="en-US" sz="571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rPr>
              <a:t>&amp; REGIONAL VOTING TRENDS </a:t>
            </a:r>
            <a:endParaRPr lang="en-US" sz="571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endParaRPr>
          </a:p>
          <a:p>
            <a:pPr algn="l">
              <a:lnSpc>
                <a:spcPts val="5425"/>
              </a:lnSpc>
            </a:pPr>
            <a:r>
              <a:rPr lang="en-US" sz="571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rPr>
              <a:t>IN FAN PREDICTIONS</a:t>
            </a:r>
            <a:endParaRPr lang="en-US" sz="571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endParaRPr>
          </a:p>
        </p:txBody>
      </p:sp>
      <p:sp>
        <p:nvSpPr>
          <p:cNvPr id="8" name="TextBox 8"/>
          <p:cNvSpPr txBox="1"/>
          <p:nvPr/>
        </p:nvSpPr>
        <p:spPr>
          <a:xfrm>
            <a:off x="10691355" y="3386904"/>
            <a:ext cx="7040995" cy="6024842"/>
          </a:xfrm>
          <a:prstGeom prst="rect">
            <a:avLst/>
          </a:prstGeom>
        </p:spPr>
        <p:txBody>
          <a:bodyPr lIns="0" tIns="0" rIns="0" bIns="0" rtlCol="0" anchor="t">
            <a:spAutoFit/>
          </a:bodyPr>
          <a:lstStyle/>
          <a:p>
            <a:pPr algn="l">
              <a:lnSpc>
                <a:spcPts val="2695"/>
              </a:lnSpc>
              <a:spcBef>
                <a:spcPct val="0"/>
              </a:spcBef>
            </a:pPr>
            <a:r>
              <a:rPr lang="en-US" sz="1925">
                <a:solidFill>
                  <a:srgbClr val="FFFFFF"/>
                </a:solidFill>
                <a:latin typeface="Poppins" panose="00000500000000000000"/>
                <a:ea typeface="Poppins" panose="00000500000000000000"/>
                <a:cs typeface="Poppins" panose="00000500000000000000"/>
                <a:sym typeface="Poppins" panose="00000500000000000000"/>
              </a:rPr>
              <a:t>📌</a:t>
            </a:r>
            <a:r>
              <a:rPr lang="en-US" sz="1925" b="1">
                <a:solidFill>
                  <a:srgbClr val="FFFFFF"/>
                </a:solidFill>
                <a:latin typeface="Poppins Bold" panose="00000800000000000000"/>
                <a:ea typeface="Poppins Bold" panose="00000800000000000000"/>
                <a:cs typeface="Poppins Bold" panose="00000800000000000000"/>
                <a:sym typeface="Poppins Bold" panose="00000800000000000000"/>
              </a:rPr>
              <a:t> 1. Processing CustomerDMACode (DMA Code)</a:t>
            </a:r>
            <a:endParaRPr lang="en-US" sz="1925" b="1">
              <a:solidFill>
                <a:srgbClr val="FFFFFF"/>
              </a:solidFill>
              <a:latin typeface="Poppins Bold" panose="00000800000000000000"/>
              <a:ea typeface="Poppins Bold" panose="00000800000000000000"/>
              <a:cs typeface="Poppins Bold" panose="00000800000000000000"/>
              <a:sym typeface="Poppins Bold" panose="00000800000000000000"/>
            </a:endParaRPr>
          </a:p>
          <a:p>
            <a:pPr algn="l">
              <a:lnSpc>
                <a:spcPts val="2695"/>
              </a:lnSpc>
              <a:spcBef>
                <a:spcPct val="0"/>
              </a:spcBef>
            </a:pPr>
            <a:r>
              <a:rPr lang="en-US" sz="1925">
                <a:solidFill>
                  <a:srgbClr val="A7A9AC"/>
                </a:solidFill>
                <a:latin typeface="Poppins" panose="00000500000000000000"/>
                <a:ea typeface="Poppins" panose="00000500000000000000"/>
                <a:cs typeface="Poppins" panose="00000500000000000000"/>
                <a:sym typeface="Poppins" panose="00000500000000000000"/>
              </a:rPr>
              <a:t> Converted to a categorical variable</a:t>
            </a:r>
            <a:endParaRPr lang="en-US" sz="1925">
              <a:solidFill>
                <a:srgbClr val="A7A9AC"/>
              </a:solidFill>
              <a:latin typeface="Poppins" panose="00000500000000000000"/>
              <a:ea typeface="Poppins" panose="00000500000000000000"/>
              <a:cs typeface="Poppins" panose="00000500000000000000"/>
              <a:sym typeface="Poppins" panose="00000500000000000000"/>
            </a:endParaRPr>
          </a:p>
          <a:p>
            <a:pPr algn="l">
              <a:lnSpc>
                <a:spcPts val="2695"/>
              </a:lnSpc>
              <a:spcBef>
                <a:spcPct val="0"/>
              </a:spcBef>
            </a:pPr>
            <a:r>
              <a:rPr lang="en-US" sz="1925">
                <a:solidFill>
                  <a:srgbClr val="A7A9AC"/>
                </a:solidFill>
                <a:latin typeface="Poppins" panose="00000500000000000000"/>
                <a:ea typeface="Poppins" panose="00000500000000000000"/>
                <a:cs typeface="Poppins" panose="00000500000000000000"/>
                <a:sym typeface="Poppins" panose="00000500000000000000"/>
              </a:rPr>
              <a:t> Calculated historical success rate for each DMA</a:t>
            </a:r>
            <a:endParaRPr lang="en-US" sz="1925">
              <a:solidFill>
                <a:srgbClr val="A7A9AC"/>
              </a:solidFill>
              <a:latin typeface="Poppins" panose="00000500000000000000"/>
              <a:ea typeface="Poppins" panose="00000500000000000000"/>
              <a:cs typeface="Poppins" panose="00000500000000000000"/>
              <a:sym typeface="Poppins" panose="00000500000000000000"/>
            </a:endParaRPr>
          </a:p>
          <a:p>
            <a:pPr algn="l">
              <a:lnSpc>
                <a:spcPts val="2695"/>
              </a:lnSpc>
              <a:spcBef>
                <a:spcPct val="0"/>
              </a:spcBef>
            </a:pPr>
            <a:r>
              <a:rPr lang="en-US" sz="1925">
                <a:solidFill>
                  <a:srgbClr val="A7A9AC"/>
                </a:solidFill>
                <a:latin typeface="Poppins" panose="00000500000000000000"/>
                <a:ea typeface="Poppins" panose="00000500000000000000"/>
                <a:cs typeface="Poppins" panose="00000500000000000000"/>
                <a:sym typeface="Poppins" panose="00000500000000000000"/>
              </a:rPr>
              <a:t> Split CustomerDMADescription column and One-Hot Encoding </a:t>
            </a:r>
            <a:endParaRPr lang="en-US" sz="1925">
              <a:solidFill>
                <a:srgbClr val="A7A9AC"/>
              </a:solidFill>
              <a:latin typeface="Poppins" panose="00000500000000000000"/>
              <a:ea typeface="Poppins" panose="00000500000000000000"/>
              <a:cs typeface="Poppins" panose="00000500000000000000"/>
              <a:sym typeface="Poppins" panose="00000500000000000000"/>
            </a:endParaRPr>
          </a:p>
          <a:p>
            <a:pPr algn="l">
              <a:lnSpc>
                <a:spcPts val="2695"/>
              </a:lnSpc>
              <a:spcBef>
                <a:spcPct val="0"/>
              </a:spcBef>
            </a:pPr>
            <a:r>
              <a:rPr lang="en-US" sz="1925">
                <a:solidFill>
                  <a:srgbClr val="A7A9AC"/>
                </a:solidFill>
                <a:latin typeface="Poppins" panose="00000500000000000000"/>
                <a:ea typeface="Poppins" panose="00000500000000000000"/>
                <a:cs typeface="Poppins" panose="00000500000000000000"/>
                <a:sym typeface="Poppins" panose="00000500000000000000"/>
              </a:rPr>
              <a:t>📌</a:t>
            </a:r>
            <a:r>
              <a:rPr lang="en-US" sz="1925">
                <a:solidFill>
                  <a:srgbClr val="FFFFFF"/>
                </a:solidFill>
                <a:latin typeface="Poppins" panose="00000500000000000000"/>
                <a:ea typeface="Poppins" panose="00000500000000000000"/>
                <a:cs typeface="Poppins" panose="00000500000000000000"/>
                <a:sym typeface="Poppins" panose="00000500000000000000"/>
              </a:rPr>
              <a:t> </a:t>
            </a:r>
            <a:r>
              <a:rPr lang="en-US" sz="1925" b="1">
                <a:solidFill>
                  <a:srgbClr val="FFFFFF"/>
                </a:solidFill>
                <a:latin typeface="Poppins Bold" panose="00000800000000000000"/>
                <a:ea typeface="Poppins Bold" panose="00000800000000000000"/>
                <a:cs typeface="Poppins Bold" panose="00000800000000000000"/>
                <a:sym typeface="Poppins Bold" panose="00000800000000000000"/>
              </a:rPr>
              <a:t>2. Processing Geographic Information (Latitude &amp; Longitude)</a:t>
            </a:r>
            <a:endParaRPr lang="en-US" sz="1925" b="1">
              <a:solidFill>
                <a:srgbClr val="FFFFFF"/>
              </a:solidFill>
              <a:latin typeface="Poppins Bold" panose="00000800000000000000"/>
              <a:ea typeface="Poppins Bold" panose="00000800000000000000"/>
              <a:cs typeface="Poppins Bold" panose="00000800000000000000"/>
              <a:sym typeface="Poppins Bold" panose="00000800000000000000"/>
            </a:endParaRPr>
          </a:p>
          <a:p>
            <a:pPr algn="l">
              <a:lnSpc>
                <a:spcPts val="2695"/>
              </a:lnSpc>
              <a:spcBef>
                <a:spcPct val="0"/>
              </a:spcBef>
            </a:pPr>
            <a:r>
              <a:rPr lang="en-US" sz="1925">
                <a:solidFill>
                  <a:srgbClr val="A7A9AC"/>
                </a:solidFill>
                <a:latin typeface="Poppins" panose="00000500000000000000"/>
                <a:ea typeface="Poppins" panose="00000500000000000000"/>
                <a:cs typeface="Poppins" panose="00000500000000000000"/>
                <a:sym typeface="Poppins" panose="00000500000000000000"/>
              </a:rPr>
              <a:t> Converted to numeric format</a:t>
            </a:r>
            <a:endParaRPr lang="en-US" sz="1925">
              <a:solidFill>
                <a:srgbClr val="A7A9AC"/>
              </a:solidFill>
              <a:latin typeface="Poppins" panose="00000500000000000000"/>
              <a:ea typeface="Poppins" panose="00000500000000000000"/>
              <a:cs typeface="Poppins" panose="00000500000000000000"/>
              <a:sym typeface="Poppins" panose="00000500000000000000"/>
            </a:endParaRPr>
          </a:p>
          <a:p>
            <a:pPr algn="l">
              <a:lnSpc>
                <a:spcPts val="2695"/>
              </a:lnSpc>
              <a:spcBef>
                <a:spcPct val="0"/>
              </a:spcBef>
            </a:pPr>
            <a:r>
              <a:rPr lang="en-US" sz="1925">
                <a:solidFill>
                  <a:srgbClr val="A7A9AC"/>
                </a:solidFill>
                <a:latin typeface="Poppins" panose="00000500000000000000"/>
                <a:ea typeface="Poppins" panose="00000500000000000000"/>
                <a:cs typeface="Poppins" panose="00000500000000000000"/>
                <a:sym typeface="Poppins" panose="00000500000000000000"/>
              </a:rPr>
              <a:t> Used mean imputation handling missing values</a:t>
            </a:r>
            <a:endParaRPr lang="en-US" sz="1925">
              <a:solidFill>
                <a:srgbClr val="A7A9AC"/>
              </a:solidFill>
              <a:latin typeface="Poppins" panose="00000500000000000000"/>
              <a:ea typeface="Poppins" panose="00000500000000000000"/>
              <a:cs typeface="Poppins" panose="00000500000000000000"/>
              <a:sym typeface="Poppins" panose="00000500000000000000"/>
            </a:endParaRPr>
          </a:p>
          <a:p>
            <a:pPr algn="l">
              <a:lnSpc>
                <a:spcPts val="2695"/>
              </a:lnSpc>
              <a:spcBef>
                <a:spcPct val="0"/>
              </a:spcBef>
            </a:pPr>
            <a:r>
              <a:rPr lang="en-US" sz="1925">
                <a:solidFill>
                  <a:srgbClr val="FFFFFF"/>
                </a:solidFill>
                <a:latin typeface="Poppins" panose="00000500000000000000"/>
                <a:ea typeface="Poppins" panose="00000500000000000000"/>
                <a:cs typeface="Poppins" panose="00000500000000000000"/>
                <a:sym typeface="Poppins" panose="00000500000000000000"/>
              </a:rPr>
              <a:t>📌</a:t>
            </a:r>
            <a:r>
              <a:rPr lang="en-US" sz="1925" b="1">
                <a:solidFill>
                  <a:srgbClr val="FFFFFF"/>
                </a:solidFill>
                <a:latin typeface="Poppins Bold" panose="00000800000000000000"/>
                <a:ea typeface="Poppins Bold" panose="00000800000000000000"/>
                <a:cs typeface="Poppins Bold" panose="00000800000000000000"/>
                <a:sym typeface="Poppins Bold" panose="00000800000000000000"/>
              </a:rPr>
              <a:t> 3. K-Means Clustering Analysis of Geographic Distribution</a:t>
            </a:r>
            <a:endParaRPr lang="en-US" sz="1925" b="1">
              <a:solidFill>
                <a:srgbClr val="FFFFFF"/>
              </a:solidFill>
              <a:latin typeface="Poppins Bold" panose="00000800000000000000"/>
              <a:ea typeface="Poppins Bold" panose="00000800000000000000"/>
              <a:cs typeface="Poppins Bold" panose="00000800000000000000"/>
              <a:sym typeface="Poppins Bold" panose="00000800000000000000"/>
            </a:endParaRPr>
          </a:p>
          <a:p>
            <a:pPr algn="l">
              <a:lnSpc>
                <a:spcPts val="2695"/>
              </a:lnSpc>
              <a:spcBef>
                <a:spcPct val="0"/>
              </a:spcBef>
            </a:pPr>
            <a:r>
              <a:rPr lang="en-US" sz="1925">
                <a:solidFill>
                  <a:srgbClr val="A7A9AC"/>
                </a:solidFill>
                <a:latin typeface="Poppins" panose="00000500000000000000"/>
                <a:ea typeface="Poppins" panose="00000500000000000000"/>
                <a:cs typeface="Poppins" panose="00000500000000000000"/>
                <a:sym typeface="Poppins" panose="00000500000000000000"/>
              </a:rPr>
              <a:t> Applied K-Means clustering to group customers by location</a:t>
            </a:r>
            <a:endParaRPr lang="en-US" sz="1925">
              <a:solidFill>
                <a:srgbClr val="A7A9AC"/>
              </a:solidFill>
              <a:latin typeface="Poppins" panose="00000500000000000000"/>
              <a:ea typeface="Poppins" panose="00000500000000000000"/>
              <a:cs typeface="Poppins" panose="00000500000000000000"/>
              <a:sym typeface="Poppins" panose="00000500000000000000"/>
            </a:endParaRPr>
          </a:p>
          <a:p>
            <a:pPr algn="l">
              <a:lnSpc>
                <a:spcPts val="2695"/>
              </a:lnSpc>
              <a:spcBef>
                <a:spcPct val="0"/>
              </a:spcBef>
            </a:pPr>
            <a:r>
              <a:rPr lang="en-US" sz="1925">
                <a:solidFill>
                  <a:srgbClr val="A7A9AC"/>
                </a:solidFill>
                <a:latin typeface="Poppins" panose="00000500000000000000"/>
                <a:ea typeface="Poppins" panose="00000500000000000000"/>
                <a:cs typeface="Poppins" panose="00000500000000000000"/>
                <a:sym typeface="Poppins" panose="00000500000000000000"/>
              </a:rPr>
              <a:t> Visualized clustering results</a:t>
            </a:r>
            <a:endParaRPr lang="en-US" sz="1925">
              <a:solidFill>
                <a:srgbClr val="A7A9AC"/>
              </a:solidFill>
              <a:latin typeface="Poppins" panose="00000500000000000000"/>
              <a:ea typeface="Poppins" panose="00000500000000000000"/>
              <a:cs typeface="Poppins" panose="00000500000000000000"/>
              <a:sym typeface="Poppins" panose="00000500000000000000"/>
            </a:endParaRPr>
          </a:p>
          <a:p>
            <a:pPr algn="l">
              <a:lnSpc>
                <a:spcPts val="2695"/>
              </a:lnSpc>
              <a:spcBef>
                <a:spcPct val="0"/>
              </a:spcBef>
            </a:pPr>
            <a:r>
              <a:rPr lang="en-US" sz="1925">
                <a:solidFill>
                  <a:srgbClr val="FFFFFF"/>
                </a:solidFill>
                <a:latin typeface="Poppins" panose="00000500000000000000"/>
                <a:ea typeface="Poppins" panose="00000500000000000000"/>
                <a:cs typeface="Poppins" panose="00000500000000000000"/>
                <a:sym typeface="Poppins" panose="00000500000000000000"/>
              </a:rPr>
              <a:t>📌</a:t>
            </a:r>
            <a:r>
              <a:rPr lang="en-US" sz="1925" b="1">
                <a:solidFill>
                  <a:srgbClr val="FFFFFF"/>
                </a:solidFill>
                <a:latin typeface="Poppins Bold" panose="00000800000000000000"/>
                <a:ea typeface="Poppins Bold" panose="00000800000000000000"/>
                <a:cs typeface="Poppins Bold" panose="00000800000000000000"/>
                <a:sym typeface="Poppins Bold" panose="00000800000000000000"/>
              </a:rPr>
              <a:t> 4. Analyzing Voting Trends by DMA Code</a:t>
            </a:r>
            <a:endParaRPr lang="en-US" sz="1925" b="1">
              <a:solidFill>
                <a:srgbClr val="FFFFFF"/>
              </a:solidFill>
              <a:latin typeface="Poppins Bold" panose="00000800000000000000"/>
              <a:ea typeface="Poppins Bold" panose="00000800000000000000"/>
              <a:cs typeface="Poppins Bold" panose="00000800000000000000"/>
              <a:sym typeface="Poppins Bold" panose="00000800000000000000"/>
            </a:endParaRPr>
          </a:p>
          <a:p>
            <a:pPr algn="l">
              <a:lnSpc>
                <a:spcPts val="2695"/>
              </a:lnSpc>
              <a:spcBef>
                <a:spcPct val="0"/>
              </a:spcBef>
            </a:pPr>
            <a:r>
              <a:rPr lang="en-US" sz="1925">
                <a:solidFill>
                  <a:srgbClr val="A7A9AC"/>
                </a:solidFill>
                <a:latin typeface="Poppins" panose="00000500000000000000"/>
                <a:ea typeface="Poppins" panose="00000500000000000000"/>
                <a:cs typeface="Poppins" panose="00000500000000000000"/>
                <a:sym typeface="Poppins" panose="00000500000000000000"/>
              </a:rPr>
              <a:t> Computed voting distribution by DMA code</a:t>
            </a:r>
            <a:endParaRPr lang="en-US" sz="1925">
              <a:solidFill>
                <a:srgbClr val="A7A9AC"/>
              </a:solidFill>
              <a:latin typeface="Poppins" panose="00000500000000000000"/>
              <a:ea typeface="Poppins" panose="00000500000000000000"/>
              <a:cs typeface="Poppins" panose="00000500000000000000"/>
              <a:sym typeface="Poppins" panose="00000500000000000000"/>
            </a:endParaRPr>
          </a:p>
          <a:p>
            <a:pPr algn="l">
              <a:lnSpc>
                <a:spcPts val="2695"/>
              </a:lnSpc>
              <a:spcBef>
                <a:spcPct val="0"/>
              </a:spcBef>
            </a:pPr>
            <a:r>
              <a:rPr lang="en-US" sz="1925">
                <a:solidFill>
                  <a:srgbClr val="A7A9AC"/>
                </a:solidFill>
                <a:latin typeface="Poppins" panose="00000500000000000000"/>
                <a:ea typeface="Poppins" panose="00000500000000000000"/>
                <a:cs typeface="Poppins" panose="00000500000000000000"/>
                <a:sym typeface="Poppins" panose="00000500000000000000"/>
              </a:rPr>
              <a:t> Identified the most popular team in each DMA</a:t>
            </a:r>
            <a:endParaRPr lang="en-US" sz="1925">
              <a:solidFill>
                <a:srgbClr val="A7A9AC"/>
              </a:solidFill>
              <a:latin typeface="Poppins" panose="00000500000000000000"/>
              <a:ea typeface="Poppins" panose="00000500000000000000"/>
              <a:cs typeface="Poppins" panose="00000500000000000000"/>
              <a:sym typeface="Poppins" panose="00000500000000000000"/>
            </a:endParaRPr>
          </a:p>
          <a:p>
            <a:pPr algn="l">
              <a:lnSpc>
                <a:spcPts val="2695"/>
              </a:lnSpc>
              <a:spcBef>
                <a:spcPct val="0"/>
              </a:spcBef>
            </a:pPr>
            <a:r>
              <a:rPr lang="en-US" sz="1925">
                <a:solidFill>
                  <a:srgbClr val="A7A9AC"/>
                </a:solidFill>
                <a:latin typeface="Poppins" panose="00000500000000000000"/>
                <a:ea typeface="Poppins" panose="00000500000000000000"/>
                <a:cs typeface="Poppins" panose="00000500000000000000"/>
                <a:sym typeface="Poppins" panose="00000500000000000000"/>
              </a:rPr>
              <a:t> Counted the number of users per DMA</a:t>
            </a:r>
            <a:endParaRPr lang="en-US" sz="1925">
              <a:solidFill>
                <a:srgbClr val="A7A9AC"/>
              </a:solidFill>
              <a:latin typeface="Poppins" panose="00000500000000000000"/>
              <a:ea typeface="Poppins" panose="00000500000000000000"/>
              <a:cs typeface="Poppins" panose="00000500000000000000"/>
              <a:sym typeface="Poppins" panose="00000500000000000000"/>
            </a:endParaRPr>
          </a:p>
        </p:txBody>
      </p:sp>
      <p:sp>
        <p:nvSpPr>
          <p:cNvPr id="9" name="TextBox 9"/>
          <p:cNvSpPr txBox="1"/>
          <p:nvPr/>
        </p:nvSpPr>
        <p:spPr>
          <a:xfrm rot="-5400000">
            <a:off x="-168086" y="7033783"/>
            <a:ext cx="1530723" cy="309432"/>
          </a:xfrm>
          <a:prstGeom prst="rect">
            <a:avLst/>
          </a:prstGeom>
        </p:spPr>
        <p:txBody>
          <a:bodyPr lIns="0" tIns="0" rIns="0" bIns="0" rtlCol="0" anchor="t">
            <a:spAutoFit/>
          </a:bodyPr>
          <a:lstStyle/>
          <a:p>
            <a:pPr algn="ctr">
              <a:lnSpc>
                <a:spcPts val="2370"/>
              </a:lnSpc>
              <a:spcBef>
                <a:spcPct val="0"/>
              </a:spcBef>
            </a:pPr>
            <a:r>
              <a:rPr lang="en-US" sz="1690" b="1">
                <a:solidFill>
                  <a:srgbClr val="000000"/>
                </a:solidFill>
                <a:latin typeface="Poppins Bold" panose="00000800000000000000"/>
                <a:ea typeface="Poppins Bold" panose="00000800000000000000"/>
                <a:cs typeface="Poppins Bold" panose="00000800000000000000"/>
                <a:sym typeface="Poppins Bold" panose="00000800000000000000"/>
              </a:rPr>
              <a:t>Latitude</a:t>
            </a:r>
            <a:endParaRPr lang="en-US" sz="1690" b="1">
              <a:solidFill>
                <a:srgbClr val="000000"/>
              </a:solidFill>
              <a:latin typeface="Poppins Bold" panose="00000800000000000000"/>
              <a:ea typeface="Poppins Bold" panose="00000800000000000000"/>
              <a:cs typeface="Poppins Bold" panose="00000800000000000000"/>
              <a:sym typeface="Poppins Bold" panose="0000080000000000000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22" b="-9222"/>
            </a:stretch>
          </a:blipFill>
        </p:spPr>
      </p:sp>
      <p:grpSp>
        <p:nvGrpSpPr>
          <p:cNvPr id="3" name="Group 3"/>
          <p:cNvGrpSpPr/>
          <p:nvPr/>
        </p:nvGrpSpPr>
        <p:grpSpPr>
          <a:xfrm rot="0">
            <a:off x="15937543" y="7928419"/>
            <a:ext cx="2220077" cy="2250112"/>
            <a:chOff x="0" y="0"/>
            <a:chExt cx="371891" cy="376922"/>
          </a:xfrm>
        </p:grpSpPr>
        <p:sp>
          <p:nvSpPr>
            <p:cNvPr id="4" name="Freeform 4"/>
            <p:cNvSpPr/>
            <p:nvPr/>
          </p:nvSpPr>
          <p:spPr>
            <a:xfrm>
              <a:off x="0" y="0"/>
              <a:ext cx="371891" cy="376922"/>
            </a:xfrm>
            <a:custGeom>
              <a:avLst/>
              <a:gdLst/>
              <a:ahLst/>
              <a:cxnLst/>
              <a:rect l="l" t="t" r="r" b="b"/>
              <a:pathLst>
                <a:path w="371891" h="376922">
                  <a:moveTo>
                    <a:pt x="0" y="0"/>
                  </a:moveTo>
                  <a:lnTo>
                    <a:pt x="371891" y="0"/>
                  </a:lnTo>
                  <a:lnTo>
                    <a:pt x="371891" y="376922"/>
                  </a:lnTo>
                  <a:lnTo>
                    <a:pt x="0" y="376922"/>
                  </a:lnTo>
                  <a:close/>
                </a:path>
              </a:pathLst>
            </a:custGeom>
            <a:gradFill rotWithShape="1">
              <a:gsLst>
                <a:gs pos="0">
                  <a:srgbClr val="8D2600">
                    <a:alpha val="100000"/>
                  </a:srgbClr>
                </a:gs>
                <a:gs pos="100000">
                  <a:srgbClr val="FF4500">
                    <a:alpha val="100000"/>
                  </a:srgbClr>
                </a:gs>
              </a:gsLst>
              <a:lin ang="0"/>
            </a:gradFill>
          </p:spPr>
        </p:sp>
        <p:sp>
          <p:nvSpPr>
            <p:cNvPr id="5" name="TextBox 5"/>
            <p:cNvSpPr txBox="1"/>
            <p:nvPr/>
          </p:nvSpPr>
          <p:spPr>
            <a:xfrm>
              <a:off x="0" y="-57150"/>
              <a:ext cx="371891" cy="434072"/>
            </a:xfrm>
            <a:prstGeom prst="rect">
              <a:avLst/>
            </a:prstGeom>
          </p:spPr>
          <p:txBody>
            <a:bodyPr lIns="50800" tIns="50800" rIns="50800" bIns="50800" rtlCol="0" anchor="ctr"/>
            <a:lstStyle/>
            <a:p>
              <a:pPr algn="ctr">
                <a:lnSpc>
                  <a:spcPts val="2800"/>
                </a:lnSpc>
              </a:pPr>
            </a:p>
          </p:txBody>
        </p:sp>
      </p:grpSp>
      <p:grpSp>
        <p:nvGrpSpPr>
          <p:cNvPr id="6" name="Group 6"/>
          <p:cNvGrpSpPr/>
          <p:nvPr/>
        </p:nvGrpSpPr>
        <p:grpSpPr>
          <a:xfrm rot="0">
            <a:off x="0" y="1886736"/>
            <a:ext cx="2129972" cy="1949761"/>
            <a:chOff x="0" y="0"/>
            <a:chExt cx="356797" cy="326609"/>
          </a:xfrm>
        </p:grpSpPr>
        <p:sp>
          <p:nvSpPr>
            <p:cNvPr id="7" name="Freeform 7"/>
            <p:cNvSpPr/>
            <p:nvPr/>
          </p:nvSpPr>
          <p:spPr>
            <a:xfrm>
              <a:off x="0" y="0"/>
              <a:ext cx="356797" cy="326609"/>
            </a:xfrm>
            <a:custGeom>
              <a:avLst/>
              <a:gdLst/>
              <a:ahLst/>
              <a:cxnLst/>
              <a:rect l="l" t="t" r="r" b="b"/>
              <a:pathLst>
                <a:path w="356797" h="326609">
                  <a:moveTo>
                    <a:pt x="0" y="0"/>
                  </a:moveTo>
                  <a:lnTo>
                    <a:pt x="356797" y="0"/>
                  </a:lnTo>
                  <a:lnTo>
                    <a:pt x="356797" y="326609"/>
                  </a:lnTo>
                  <a:lnTo>
                    <a:pt x="0" y="326609"/>
                  </a:lnTo>
                  <a:close/>
                </a:path>
              </a:pathLst>
            </a:custGeom>
            <a:gradFill rotWithShape="1">
              <a:gsLst>
                <a:gs pos="0">
                  <a:srgbClr val="8D2600">
                    <a:alpha val="100000"/>
                  </a:srgbClr>
                </a:gs>
                <a:gs pos="100000">
                  <a:srgbClr val="FF4500">
                    <a:alpha val="100000"/>
                  </a:srgbClr>
                </a:gs>
              </a:gsLst>
              <a:lin ang="0"/>
            </a:gradFill>
          </p:spPr>
        </p:sp>
        <p:sp>
          <p:nvSpPr>
            <p:cNvPr id="8" name="TextBox 8"/>
            <p:cNvSpPr txBox="1"/>
            <p:nvPr/>
          </p:nvSpPr>
          <p:spPr>
            <a:xfrm>
              <a:off x="0" y="-57150"/>
              <a:ext cx="356797" cy="383759"/>
            </a:xfrm>
            <a:prstGeom prst="rect">
              <a:avLst/>
            </a:prstGeom>
          </p:spPr>
          <p:txBody>
            <a:bodyPr lIns="50800" tIns="50800" rIns="50800" bIns="50800" rtlCol="0" anchor="ctr"/>
            <a:lstStyle/>
            <a:p>
              <a:pPr algn="ctr">
                <a:lnSpc>
                  <a:spcPts val="2800"/>
                </a:lnSpc>
              </a:pPr>
            </a:p>
          </p:txBody>
        </p:sp>
      </p:grpSp>
      <p:sp>
        <p:nvSpPr>
          <p:cNvPr id="9" name="Freeform 9"/>
          <p:cNvSpPr/>
          <p:nvPr/>
        </p:nvSpPr>
        <p:spPr>
          <a:xfrm>
            <a:off x="367394" y="2101903"/>
            <a:ext cx="8145025" cy="4130722"/>
          </a:xfrm>
          <a:custGeom>
            <a:avLst/>
            <a:gdLst/>
            <a:ahLst/>
            <a:cxnLst/>
            <a:rect l="l" t="t" r="r" b="b"/>
            <a:pathLst>
              <a:path w="8145025" h="4130722">
                <a:moveTo>
                  <a:pt x="0" y="0"/>
                </a:moveTo>
                <a:lnTo>
                  <a:pt x="8145025" y="0"/>
                </a:lnTo>
                <a:lnTo>
                  <a:pt x="8145025" y="4130722"/>
                </a:lnTo>
                <a:lnTo>
                  <a:pt x="0" y="4130722"/>
                </a:lnTo>
                <a:lnTo>
                  <a:pt x="0" y="0"/>
                </a:lnTo>
                <a:close/>
              </a:path>
            </a:pathLst>
          </a:custGeom>
          <a:blipFill>
            <a:blip r:embed="rId2"/>
            <a:stretch>
              <a:fillRect l="-1939" r="-101" b="-99"/>
            </a:stretch>
          </a:blipFill>
        </p:spPr>
      </p:sp>
      <p:sp>
        <p:nvSpPr>
          <p:cNvPr id="10" name="Freeform 10"/>
          <p:cNvSpPr/>
          <p:nvPr/>
        </p:nvSpPr>
        <p:spPr>
          <a:xfrm>
            <a:off x="8618871" y="5870004"/>
            <a:ext cx="9259808" cy="4043221"/>
          </a:xfrm>
          <a:custGeom>
            <a:avLst/>
            <a:gdLst/>
            <a:ahLst/>
            <a:cxnLst/>
            <a:rect l="l" t="t" r="r" b="b"/>
            <a:pathLst>
              <a:path w="9259808" h="4043221">
                <a:moveTo>
                  <a:pt x="0" y="0"/>
                </a:moveTo>
                <a:lnTo>
                  <a:pt x="9259808" y="0"/>
                </a:lnTo>
                <a:lnTo>
                  <a:pt x="9259808" y="4043221"/>
                </a:lnTo>
                <a:lnTo>
                  <a:pt x="0" y="4043221"/>
                </a:lnTo>
                <a:lnTo>
                  <a:pt x="0" y="0"/>
                </a:lnTo>
                <a:close/>
              </a:path>
            </a:pathLst>
          </a:custGeom>
          <a:blipFill>
            <a:blip r:embed="rId3"/>
            <a:stretch>
              <a:fillRect l="-2245" r="-2339"/>
            </a:stretch>
          </a:blipFill>
        </p:spPr>
      </p:sp>
      <p:sp>
        <p:nvSpPr>
          <p:cNvPr id="11" name="Freeform 11"/>
          <p:cNvSpPr/>
          <p:nvPr/>
        </p:nvSpPr>
        <p:spPr>
          <a:xfrm>
            <a:off x="6924764" y="2101903"/>
            <a:ext cx="1587655" cy="887586"/>
          </a:xfrm>
          <a:custGeom>
            <a:avLst/>
            <a:gdLst/>
            <a:ahLst/>
            <a:cxnLst/>
            <a:rect l="l" t="t" r="r" b="b"/>
            <a:pathLst>
              <a:path w="1587655" h="887586">
                <a:moveTo>
                  <a:pt x="0" y="0"/>
                </a:moveTo>
                <a:lnTo>
                  <a:pt x="1587655" y="0"/>
                </a:lnTo>
                <a:lnTo>
                  <a:pt x="1587655" y="887586"/>
                </a:lnTo>
                <a:lnTo>
                  <a:pt x="0" y="887586"/>
                </a:lnTo>
                <a:lnTo>
                  <a:pt x="0" y="0"/>
                </a:lnTo>
                <a:close/>
              </a:path>
            </a:pathLst>
          </a:custGeom>
          <a:blipFill>
            <a:blip r:embed="rId4"/>
            <a:stretch>
              <a:fillRect/>
            </a:stretch>
          </a:blipFill>
        </p:spPr>
      </p:sp>
      <p:sp>
        <p:nvSpPr>
          <p:cNvPr id="12" name="Freeform 12"/>
          <p:cNvSpPr/>
          <p:nvPr/>
        </p:nvSpPr>
        <p:spPr>
          <a:xfrm>
            <a:off x="16639921" y="5870004"/>
            <a:ext cx="1238758" cy="789405"/>
          </a:xfrm>
          <a:custGeom>
            <a:avLst/>
            <a:gdLst/>
            <a:ahLst/>
            <a:cxnLst/>
            <a:rect l="l" t="t" r="r" b="b"/>
            <a:pathLst>
              <a:path w="1238758" h="789405">
                <a:moveTo>
                  <a:pt x="0" y="0"/>
                </a:moveTo>
                <a:lnTo>
                  <a:pt x="1238758" y="0"/>
                </a:lnTo>
                <a:lnTo>
                  <a:pt x="1238758" y="789405"/>
                </a:lnTo>
                <a:lnTo>
                  <a:pt x="0" y="789405"/>
                </a:lnTo>
                <a:lnTo>
                  <a:pt x="0" y="0"/>
                </a:lnTo>
                <a:close/>
              </a:path>
            </a:pathLst>
          </a:custGeom>
          <a:blipFill>
            <a:blip r:embed="rId5"/>
            <a:stretch>
              <a:fillRect/>
            </a:stretch>
          </a:blipFill>
        </p:spPr>
      </p:sp>
      <p:sp>
        <p:nvSpPr>
          <p:cNvPr id="13" name="TextBox 13"/>
          <p:cNvSpPr txBox="1"/>
          <p:nvPr/>
        </p:nvSpPr>
        <p:spPr>
          <a:xfrm>
            <a:off x="1064986" y="6815609"/>
            <a:ext cx="6766928" cy="2442691"/>
          </a:xfrm>
          <a:prstGeom prst="rect">
            <a:avLst/>
          </a:prstGeom>
        </p:spPr>
        <p:txBody>
          <a:bodyPr lIns="0" tIns="0" rIns="0" bIns="0" rtlCol="0" anchor="t">
            <a:spAutoFit/>
          </a:bodyPr>
          <a:lstStyle/>
          <a:p>
            <a:pPr algn="just">
              <a:lnSpc>
                <a:spcPts val="3935"/>
              </a:lnSpc>
            </a:pPr>
            <a:r>
              <a:rPr lang="en-US" sz="2315" b="1">
                <a:solidFill>
                  <a:srgbClr val="A7A9AC"/>
                </a:solidFill>
                <a:latin typeface="Poppins Bold" panose="00000800000000000000"/>
                <a:ea typeface="Poppins Bold" panose="00000800000000000000"/>
                <a:cs typeface="Poppins Bold" panose="00000800000000000000"/>
                <a:sym typeface="Poppins Bold" panose="00000800000000000000"/>
              </a:rPr>
              <a:t>“ </a:t>
            </a:r>
            <a:r>
              <a:rPr lang="en-US" sz="2315">
                <a:solidFill>
                  <a:srgbClr val="FFFFFF"/>
                </a:solidFill>
                <a:latin typeface="Poppins" panose="00000500000000000000"/>
                <a:ea typeface="Poppins" panose="00000500000000000000"/>
                <a:cs typeface="Poppins" panose="00000500000000000000"/>
                <a:sym typeface="Poppins" panose="00000500000000000000"/>
              </a:rPr>
              <a:t>For example, </a:t>
            </a:r>
            <a:r>
              <a:rPr lang="en-US" sz="2315" b="1">
                <a:solidFill>
                  <a:srgbClr val="D3410D"/>
                </a:solidFill>
                <a:latin typeface="Poppins Bold" panose="00000800000000000000"/>
                <a:ea typeface="Poppins Bold" panose="00000800000000000000"/>
                <a:cs typeface="Poppins Bold" panose="00000800000000000000"/>
                <a:sym typeface="Poppins Bold" panose="00000800000000000000"/>
              </a:rPr>
              <a:t>Team 164</a:t>
            </a:r>
            <a:r>
              <a:rPr lang="en-US" sz="2315">
                <a:solidFill>
                  <a:srgbClr val="FFFFFF"/>
                </a:solidFill>
                <a:latin typeface="Poppins" panose="00000500000000000000"/>
                <a:ea typeface="Poppins" panose="00000500000000000000"/>
                <a:cs typeface="Poppins" panose="00000500000000000000"/>
                <a:sym typeface="Poppins" panose="00000500000000000000"/>
              </a:rPr>
              <a:t> holds the highest percentage in both datasets, and the top five teams remain consistent across both sets.</a:t>
            </a:r>
            <a:r>
              <a:rPr lang="en-US" sz="2315">
                <a:solidFill>
                  <a:srgbClr val="FFFFFF"/>
                </a:solidFill>
                <a:latin typeface="Poppins" panose="00000500000000000000"/>
                <a:ea typeface="Poppins" panose="00000500000000000000"/>
                <a:cs typeface="Poppins" panose="00000500000000000000"/>
                <a:sym typeface="Poppins" panose="00000500000000000000"/>
              </a:rPr>
              <a:t> </a:t>
            </a:r>
            <a:endParaRPr lang="en-US" sz="2315">
              <a:solidFill>
                <a:srgbClr val="FFFFFF"/>
              </a:solidFill>
              <a:latin typeface="Poppins" panose="00000500000000000000"/>
              <a:ea typeface="Poppins" panose="00000500000000000000"/>
              <a:cs typeface="Poppins" panose="00000500000000000000"/>
              <a:sym typeface="Poppins" panose="00000500000000000000"/>
            </a:endParaRPr>
          </a:p>
          <a:p>
            <a:pPr algn="just">
              <a:lnSpc>
                <a:spcPts val="3935"/>
              </a:lnSpc>
            </a:pPr>
            <a:r>
              <a:rPr lang="en-US" sz="2315">
                <a:solidFill>
                  <a:srgbClr val="FFFFFF"/>
                </a:solidFill>
                <a:latin typeface="Poppins" panose="00000500000000000000"/>
                <a:ea typeface="Poppins" panose="00000500000000000000"/>
                <a:cs typeface="Poppins" panose="00000500000000000000"/>
                <a:sym typeface="Poppins" panose="00000500000000000000"/>
              </a:rPr>
              <a:t>This indicates that the model effectively captures fan preference patterns. </a:t>
            </a:r>
            <a:r>
              <a:rPr lang="en-US" sz="2315" b="1">
                <a:solidFill>
                  <a:srgbClr val="A7A9AC"/>
                </a:solidFill>
                <a:latin typeface="Poppins Bold" panose="00000800000000000000"/>
                <a:ea typeface="Poppins Bold" panose="00000800000000000000"/>
                <a:cs typeface="Poppins Bold" panose="00000800000000000000"/>
                <a:sym typeface="Poppins Bold" panose="00000800000000000000"/>
              </a:rPr>
              <a:t>“</a:t>
            </a:r>
            <a:endParaRPr lang="en-US" sz="2315" b="1">
              <a:solidFill>
                <a:srgbClr val="A7A9AC"/>
              </a:solidFill>
              <a:latin typeface="Poppins Bold" panose="00000800000000000000"/>
              <a:ea typeface="Poppins Bold" panose="00000800000000000000"/>
              <a:cs typeface="Poppins Bold" panose="00000800000000000000"/>
              <a:sym typeface="Poppins Bold" panose="00000800000000000000"/>
            </a:endParaRPr>
          </a:p>
        </p:txBody>
      </p:sp>
      <p:sp>
        <p:nvSpPr>
          <p:cNvPr id="14" name="TextBox 14"/>
          <p:cNvSpPr txBox="1"/>
          <p:nvPr/>
        </p:nvSpPr>
        <p:spPr>
          <a:xfrm>
            <a:off x="9062342" y="2483993"/>
            <a:ext cx="8372867" cy="3020648"/>
          </a:xfrm>
          <a:prstGeom prst="rect">
            <a:avLst/>
          </a:prstGeom>
        </p:spPr>
        <p:txBody>
          <a:bodyPr lIns="0" tIns="0" rIns="0" bIns="0" rtlCol="0" anchor="t">
            <a:spAutoFit/>
          </a:bodyPr>
          <a:lstStyle/>
          <a:p>
            <a:pPr algn="just">
              <a:lnSpc>
                <a:spcPts val="4045"/>
              </a:lnSpc>
            </a:pPr>
            <a:r>
              <a:rPr lang="en-US" sz="2380" b="1">
                <a:solidFill>
                  <a:srgbClr val="A7A9AC"/>
                </a:solidFill>
                <a:latin typeface="Poppins Bold" panose="00000800000000000000"/>
                <a:ea typeface="Poppins Bold" panose="00000800000000000000"/>
                <a:cs typeface="Poppins Bold" panose="00000800000000000000"/>
                <a:sym typeface="Poppins Bold" panose="00000800000000000000"/>
              </a:rPr>
              <a:t>“</a:t>
            </a:r>
            <a:r>
              <a:rPr lang="en-US" sz="2380" b="1">
                <a:solidFill>
                  <a:srgbClr val="656666"/>
                </a:solidFill>
                <a:latin typeface="Poppins Bold" panose="00000800000000000000"/>
                <a:ea typeface="Poppins Bold" panose="00000800000000000000"/>
                <a:cs typeface="Poppins Bold" panose="00000800000000000000"/>
                <a:sym typeface="Poppins Bold" panose="00000800000000000000"/>
              </a:rPr>
              <a:t> </a:t>
            </a:r>
            <a:r>
              <a:rPr lang="en-US" sz="2380">
                <a:solidFill>
                  <a:srgbClr val="FFFFFF"/>
                </a:solidFill>
                <a:latin typeface="Poppins" panose="00000500000000000000"/>
                <a:ea typeface="Poppins" panose="00000500000000000000"/>
                <a:cs typeface="Poppins" panose="00000500000000000000"/>
                <a:sym typeface="Poppins" panose="00000500000000000000"/>
              </a:rPr>
              <a:t>The chart presents fan prediction data (</a:t>
            </a:r>
            <a:r>
              <a:rPr lang="en-US" sz="2380" b="1">
                <a:solidFill>
                  <a:srgbClr val="D3410D"/>
                </a:solidFill>
                <a:latin typeface="Poppins Bold" panose="00000800000000000000"/>
                <a:ea typeface="Poppins Bold" panose="00000800000000000000"/>
                <a:cs typeface="Poppins Bold" panose="00000800000000000000"/>
                <a:sym typeface="Poppins Bold" panose="00000800000000000000"/>
              </a:rPr>
              <a:t>Training</a:t>
            </a:r>
            <a:r>
              <a:rPr lang="en-US" sz="2380">
                <a:solidFill>
                  <a:srgbClr val="FFFFFF"/>
                </a:solidFill>
                <a:latin typeface="Poppins" panose="00000500000000000000"/>
                <a:ea typeface="Poppins" panose="00000500000000000000"/>
                <a:cs typeface="Poppins" panose="00000500000000000000"/>
                <a:sym typeface="Poppins" panose="00000500000000000000"/>
              </a:rPr>
              <a:t>) and model-simulated fan prediction data (</a:t>
            </a:r>
            <a:r>
              <a:rPr lang="en-US" sz="2380" b="1">
                <a:solidFill>
                  <a:srgbClr val="D3410D"/>
                </a:solidFill>
                <a:latin typeface="Poppins Bold" panose="00000800000000000000"/>
                <a:ea typeface="Poppins Bold" panose="00000800000000000000"/>
                <a:cs typeface="Poppins Bold" panose="00000800000000000000"/>
                <a:sym typeface="Poppins Bold" panose="00000800000000000000"/>
              </a:rPr>
              <a:t>Testing</a:t>
            </a:r>
            <a:r>
              <a:rPr lang="en-US" sz="2380">
                <a:solidFill>
                  <a:srgbClr val="FFFFFF"/>
                </a:solidFill>
                <a:latin typeface="Poppins" panose="00000500000000000000"/>
                <a:ea typeface="Poppins" panose="00000500000000000000"/>
                <a:cs typeface="Poppins" panose="00000500000000000000"/>
                <a:sym typeface="Poppins" panose="00000500000000000000"/>
              </a:rPr>
              <a:t>) for the D-I Man Basketball National Champion. </a:t>
            </a:r>
            <a:endParaRPr lang="en-US" sz="2380">
              <a:solidFill>
                <a:srgbClr val="FFFFFF"/>
              </a:solidFill>
              <a:latin typeface="Poppins" panose="00000500000000000000"/>
              <a:ea typeface="Poppins" panose="00000500000000000000"/>
              <a:cs typeface="Poppins" panose="00000500000000000000"/>
              <a:sym typeface="Poppins" panose="00000500000000000000"/>
            </a:endParaRPr>
          </a:p>
          <a:p>
            <a:pPr algn="just">
              <a:lnSpc>
                <a:spcPts val="4045"/>
              </a:lnSpc>
            </a:pPr>
          </a:p>
          <a:p>
            <a:pPr algn="just">
              <a:lnSpc>
                <a:spcPts val="4045"/>
              </a:lnSpc>
            </a:pPr>
            <a:r>
              <a:rPr lang="en-US" sz="2380">
                <a:solidFill>
                  <a:srgbClr val="FFFFFF"/>
                </a:solidFill>
                <a:latin typeface="Poppins" panose="00000500000000000000"/>
                <a:ea typeface="Poppins" panose="00000500000000000000"/>
                <a:cs typeface="Poppins" panose="00000500000000000000"/>
                <a:sym typeface="Poppins" panose="00000500000000000000"/>
              </a:rPr>
              <a:t>The model successfully replicates the overall trend of fan preferences in terms of proportions.  </a:t>
            </a:r>
            <a:r>
              <a:rPr lang="en-US" sz="2380" b="1">
                <a:solidFill>
                  <a:srgbClr val="A7A9AC"/>
                </a:solidFill>
                <a:latin typeface="Poppins Bold" panose="00000800000000000000"/>
                <a:ea typeface="Poppins Bold" panose="00000800000000000000"/>
                <a:cs typeface="Poppins Bold" panose="00000800000000000000"/>
                <a:sym typeface="Poppins Bold" panose="00000800000000000000"/>
              </a:rPr>
              <a:t>“</a:t>
            </a:r>
            <a:endParaRPr lang="en-US" sz="2380" b="1">
              <a:solidFill>
                <a:srgbClr val="A7A9AC"/>
              </a:solidFill>
              <a:latin typeface="Poppins Bold" panose="00000800000000000000"/>
              <a:ea typeface="Poppins Bold" panose="00000800000000000000"/>
              <a:cs typeface="Poppins Bold" panose="00000800000000000000"/>
              <a:sym typeface="Poppins Bold" panose="00000800000000000000"/>
            </a:endParaRPr>
          </a:p>
        </p:txBody>
      </p:sp>
      <p:sp>
        <p:nvSpPr>
          <p:cNvPr id="15" name="TextBox 15"/>
          <p:cNvSpPr txBox="1"/>
          <p:nvPr/>
        </p:nvSpPr>
        <p:spPr>
          <a:xfrm>
            <a:off x="750300" y="-66327"/>
            <a:ext cx="7081614" cy="1566544"/>
          </a:xfrm>
          <a:prstGeom prst="rect">
            <a:avLst/>
          </a:prstGeom>
        </p:spPr>
        <p:txBody>
          <a:bodyPr lIns="0" tIns="0" rIns="0" bIns="0" rtlCol="0" anchor="t">
            <a:spAutoFit/>
          </a:bodyPr>
          <a:lstStyle/>
          <a:p>
            <a:pPr algn="ctr">
              <a:lnSpc>
                <a:spcPts val="12880"/>
              </a:lnSpc>
            </a:pPr>
            <a:r>
              <a:rPr lang="en-US" sz="9200" i="1">
                <a:solidFill>
                  <a:srgbClr val="D3410D"/>
                </a:solidFill>
                <a:latin typeface="Anton Italics" panose="00000500000000000000"/>
                <a:ea typeface="Anton Italics" panose="00000500000000000000"/>
                <a:cs typeface="Anton Italics" panose="00000500000000000000"/>
                <a:sym typeface="Anton Italics" panose="00000500000000000000"/>
              </a:rPr>
              <a:t>FAN PREFERENCE</a:t>
            </a:r>
            <a:endParaRPr lang="en-US" sz="9200" i="1">
              <a:solidFill>
                <a:srgbClr val="D3410D"/>
              </a:solidFill>
              <a:latin typeface="Anton Italics" panose="00000500000000000000"/>
              <a:ea typeface="Anton Italics" panose="00000500000000000000"/>
              <a:cs typeface="Anton Italics" panose="00000500000000000000"/>
              <a:sym typeface="Anton Italics" panose="0000050000000000000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22" b="-9222"/>
            </a:stretch>
          </a:blipFill>
        </p:spPr>
      </p:sp>
      <p:grpSp>
        <p:nvGrpSpPr>
          <p:cNvPr id="3" name="Group 3"/>
          <p:cNvGrpSpPr/>
          <p:nvPr/>
        </p:nvGrpSpPr>
        <p:grpSpPr>
          <a:xfrm rot="0">
            <a:off x="828335" y="1782234"/>
            <a:ext cx="11589412" cy="8283303"/>
            <a:chOff x="0" y="0"/>
            <a:chExt cx="1832561" cy="1309787"/>
          </a:xfrm>
        </p:grpSpPr>
        <p:sp>
          <p:nvSpPr>
            <p:cNvPr id="4" name="Freeform 4"/>
            <p:cNvSpPr/>
            <p:nvPr/>
          </p:nvSpPr>
          <p:spPr>
            <a:xfrm>
              <a:off x="0" y="0"/>
              <a:ext cx="1832562" cy="1309787"/>
            </a:xfrm>
            <a:custGeom>
              <a:avLst/>
              <a:gdLst/>
              <a:ahLst/>
              <a:cxnLst/>
              <a:rect l="l" t="t" r="r" b="b"/>
              <a:pathLst>
                <a:path w="1832562" h="1309787">
                  <a:moveTo>
                    <a:pt x="203200" y="0"/>
                  </a:moveTo>
                  <a:lnTo>
                    <a:pt x="1832562" y="0"/>
                  </a:lnTo>
                  <a:lnTo>
                    <a:pt x="1629362" y="1309787"/>
                  </a:lnTo>
                  <a:lnTo>
                    <a:pt x="0" y="1309787"/>
                  </a:lnTo>
                  <a:lnTo>
                    <a:pt x="203200" y="0"/>
                  </a:lnTo>
                  <a:close/>
                </a:path>
              </a:pathLst>
            </a:custGeom>
            <a:gradFill rotWithShape="1">
              <a:gsLst>
                <a:gs pos="0">
                  <a:srgbClr val="8D2600">
                    <a:alpha val="100000"/>
                  </a:srgbClr>
                </a:gs>
                <a:gs pos="100000">
                  <a:srgbClr val="FF4500">
                    <a:alpha val="100000"/>
                  </a:srgbClr>
                </a:gs>
              </a:gsLst>
              <a:lin ang="0"/>
            </a:gradFill>
          </p:spPr>
        </p:sp>
        <p:sp>
          <p:nvSpPr>
            <p:cNvPr id="5" name="TextBox 5"/>
            <p:cNvSpPr txBox="1"/>
            <p:nvPr/>
          </p:nvSpPr>
          <p:spPr>
            <a:xfrm>
              <a:off x="101600" y="-57150"/>
              <a:ext cx="1629361" cy="1366937"/>
            </a:xfrm>
            <a:prstGeom prst="rect">
              <a:avLst/>
            </a:prstGeom>
          </p:spPr>
          <p:txBody>
            <a:bodyPr lIns="50800" tIns="50800" rIns="50800" bIns="50800" rtlCol="0" anchor="ctr"/>
            <a:lstStyle/>
            <a:p>
              <a:pPr algn="ctr">
                <a:lnSpc>
                  <a:spcPts val="2800"/>
                </a:lnSpc>
              </a:pPr>
            </a:p>
          </p:txBody>
        </p:sp>
      </p:grpSp>
      <p:sp>
        <p:nvSpPr>
          <p:cNvPr id="6" name="Freeform 6"/>
          <p:cNvSpPr/>
          <p:nvPr/>
        </p:nvSpPr>
        <p:spPr>
          <a:xfrm>
            <a:off x="2090454" y="1782234"/>
            <a:ext cx="9065174" cy="8283303"/>
          </a:xfrm>
          <a:custGeom>
            <a:avLst/>
            <a:gdLst/>
            <a:ahLst/>
            <a:cxnLst/>
            <a:rect l="l" t="t" r="r" b="b"/>
            <a:pathLst>
              <a:path w="9065174" h="8283303">
                <a:moveTo>
                  <a:pt x="0" y="0"/>
                </a:moveTo>
                <a:lnTo>
                  <a:pt x="9065174" y="0"/>
                </a:lnTo>
                <a:lnTo>
                  <a:pt x="9065174" y="8283303"/>
                </a:lnTo>
                <a:lnTo>
                  <a:pt x="0" y="8283303"/>
                </a:lnTo>
                <a:lnTo>
                  <a:pt x="0" y="0"/>
                </a:lnTo>
                <a:close/>
              </a:path>
            </a:pathLst>
          </a:custGeom>
          <a:blipFill>
            <a:blip r:embed="rId2"/>
            <a:stretch>
              <a:fillRect/>
            </a:stretch>
          </a:blipFill>
        </p:spPr>
      </p:sp>
      <p:sp>
        <p:nvSpPr>
          <p:cNvPr id="7" name="Freeform 7"/>
          <p:cNvSpPr/>
          <p:nvPr/>
        </p:nvSpPr>
        <p:spPr>
          <a:xfrm>
            <a:off x="9687538" y="1782234"/>
            <a:ext cx="1468091" cy="626816"/>
          </a:xfrm>
          <a:custGeom>
            <a:avLst/>
            <a:gdLst/>
            <a:ahLst/>
            <a:cxnLst/>
            <a:rect l="l" t="t" r="r" b="b"/>
            <a:pathLst>
              <a:path w="1468091" h="626816">
                <a:moveTo>
                  <a:pt x="0" y="0"/>
                </a:moveTo>
                <a:lnTo>
                  <a:pt x="1468090" y="0"/>
                </a:lnTo>
                <a:lnTo>
                  <a:pt x="1468090" y="626816"/>
                </a:lnTo>
                <a:lnTo>
                  <a:pt x="0" y="626816"/>
                </a:lnTo>
                <a:lnTo>
                  <a:pt x="0" y="0"/>
                </a:lnTo>
                <a:close/>
              </a:path>
            </a:pathLst>
          </a:custGeom>
          <a:blipFill>
            <a:blip r:embed="rId3"/>
            <a:stretch>
              <a:fillRect t="-516" b="-516"/>
            </a:stretch>
          </a:blipFill>
        </p:spPr>
      </p:sp>
      <p:sp>
        <p:nvSpPr>
          <p:cNvPr id="8" name="TextBox 8"/>
          <p:cNvSpPr txBox="1"/>
          <p:nvPr/>
        </p:nvSpPr>
        <p:spPr>
          <a:xfrm>
            <a:off x="693682" y="577230"/>
            <a:ext cx="15350628" cy="1831820"/>
          </a:xfrm>
          <a:prstGeom prst="rect">
            <a:avLst/>
          </a:prstGeom>
        </p:spPr>
        <p:txBody>
          <a:bodyPr lIns="0" tIns="0" rIns="0" bIns="0" rtlCol="0" anchor="t">
            <a:spAutoFit/>
          </a:bodyPr>
          <a:lstStyle/>
          <a:p>
            <a:pPr algn="l">
              <a:lnSpc>
                <a:spcPts val="7005"/>
              </a:lnSpc>
            </a:pPr>
            <a:r>
              <a:rPr lang="en-US" sz="737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rPr>
              <a:t>THE TREND IN FAN PREDICTIONS OVER TIME</a:t>
            </a:r>
            <a:endParaRPr lang="en-US" sz="737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endParaRPr>
          </a:p>
          <a:p>
            <a:pPr algn="l">
              <a:lnSpc>
                <a:spcPts val="7005"/>
              </a:lnSpc>
            </a:pPr>
          </a:p>
        </p:txBody>
      </p:sp>
      <p:sp>
        <p:nvSpPr>
          <p:cNvPr id="9" name="TextBox 9"/>
          <p:cNvSpPr txBox="1"/>
          <p:nvPr/>
        </p:nvSpPr>
        <p:spPr>
          <a:xfrm>
            <a:off x="12417747" y="1725084"/>
            <a:ext cx="5483321" cy="8051891"/>
          </a:xfrm>
          <a:prstGeom prst="rect">
            <a:avLst/>
          </a:prstGeom>
        </p:spPr>
        <p:txBody>
          <a:bodyPr lIns="0" tIns="0" rIns="0" bIns="0" rtlCol="0" anchor="t">
            <a:spAutoFit/>
          </a:bodyPr>
          <a:lstStyle/>
          <a:p>
            <a:pPr algn="l">
              <a:lnSpc>
                <a:spcPts val="2970"/>
              </a:lnSpc>
            </a:pPr>
          </a:p>
          <a:p>
            <a:pPr algn="l">
              <a:lnSpc>
                <a:spcPts val="3100"/>
              </a:lnSpc>
            </a:pPr>
          </a:p>
          <a:p>
            <a:pPr algn="l">
              <a:lnSpc>
                <a:spcPts val="3100"/>
              </a:lnSpc>
            </a:pPr>
            <a:r>
              <a:rPr lang="en-US" sz="2215" b="1">
                <a:solidFill>
                  <a:srgbClr val="D3410D"/>
                </a:solidFill>
                <a:latin typeface="Poppins Bold" panose="00000800000000000000"/>
                <a:ea typeface="Poppins Bold" panose="00000800000000000000"/>
                <a:cs typeface="Poppins Bold" panose="00000800000000000000"/>
                <a:sym typeface="Poppins Bold" panose="00000800000000000000"/>
              </a:rPr>
              <a:t>📈 March 16-21, 2024:</a:t>
            </a:r>
            <a:r>
              <a:rPr lang="en-US" sz="2215">
                <a:solidFill>
                  <a:srgbClr val="D3410D"/>
                </a:solidFill>
                <a:latin typeface="Poppins" panose="00000500000000000000"/>
                <a:ea typeface="Poppins" panose="00000500000000000000"/>
                <a:cs typeface="Poppins" panose="00000500000000000000"/>
                <a:sym typeface="Poppins" panose="00000500000000000000"/>
              </a:rPr>
              <a:t> </a:t>
            </a:r>
            <a:r>
              <a:rPr lang="en-US" sz="2215">
                <a:solidFill>
                  <a:srgbClr val="FFFFFF"/>
                </a:solidFill>
                <a:latin typeface="Poppins" panose="00000500000000000000"/>
                <a:ea typeface="Poppins" panose="00000500000000000000"/>
                <a:cs typeface="Poppins" panose="00000500000000000000"/>
                <a:sym typeface="Poppins" panose="00000500000000000000"/>
              </a:rPr>
              <a:t>Fan predictions surged to a peak, driven by three key events.</a:t>
            </a:r>
            <a:endParaRPr lang="en-US" sz="2215">
              <a:solidFill>
                <a:srgbClr val="FFFFFF"/>
              </a:solidFill>
              <a:latin typeface="Poppins" panose="00000500000000000000"/>
              <a:ea typeface="Poppins" panose="00000500000000000000"/>
              <a:cs typeface="Poppins" panose="00000500000000000000"/>
              <a:sym typeface="Poppins" panose="00000500000000000000"/>
            </a:endParaRPr>
          </a:p>
          <a:p>
            <a:pPr algn="l">
              <a:lnSpc>
                <a:spcPts val="3100"/>
              </a:lnSpc>
            </a:pPr>
          </a:p>
          <a:p>
            <a:pPr algn="l">
              <a:lnSpc>
                <a:spcPts val="3100"/>
              </a:lnSpc>
            </a:pPr>
          </a:p>
          <a:p>
            <a:pPr algn="l">
              <a:lnSpc>
                <a:spcPts val="2970"/>
              </a:lnSpc>
            </a:pPr>
            <a:r>
              <a:rPr lang="en-US" sz="2120" b="1">
                <a:solidFill>
                  <a:srgbClr val="D3410D"/>
                </a:solidFill>
                <a:latin typeface="Poppins Bold" panose="00000800000000000000"/>
                <a:ea typeface="Poppins Bold" panose="00000800000000000000"/>
                <a:cs typeface="Poppins Bold" panose="00000800000000000000"/>
                <a:sym typeface="Poppins Bold" panose="00000800000000000000"/>
              </a:rPr>
              <a:t>🔄 Peak Period Trend:</a:t>
            </a:r>
            <a:r>
              <a:rPr lang="en-US" sz="2120">
                <a:solidFill>
                  <a:srgbClr val="FFFFFF"/>
                </a:solidFill>
                <a:latin typeface="Poppins" panose="00000500000000000000"/>
                <a:ea typeface="Poppins" panose="00000500000000000000"/>
                <a:cs typeface="Poppins" panose="00000500000000000000"/>
                <a:sym typeface="Poppins" panose="00000500000000000000"/>
              </a:rPr>
              <a:t> The proportion of predictions for the top three teams declined, indicating fans explored more diversified strategies before the deadline.</a:t>
            </a:r>
            <a:endParaRPr lang="en-US" sz="2120">
              <a:solidFill>
                <a:srgbClr val="FFFFFF"/>
              </a:solidFill>
              <a:latin typeface="Poppins" panose="00000500000000000000"/>
              <a:ea typeface="Poppins" panose="00000500000000000000"/>
              <a:cs typeface="Poppins" panose="00000500000000000000"/>
              <a:sym typeface="Poppins" panose="00000500000000000000"/>
            </a:endParaRPr>
          </a:p>
          <a:p>
            <a:pPr algn="l">
              <a:lnSpc>
                <a:spcPts val="3100"/>
              </a:lnSpc>
            </a:pPr>
          </a:p>
          <a:p>
            <a:pPr algn="l">
              <a:lnSpc>
                <a:spcPts val="3100"/>
              </a:lnSpc>
            </a:pPr>
          </a:p>
          <a:p>
            <a:pPr algn="l">
              <a:lnSpc>
                <a:spcPts val="3100"/>
              </a:lnSpc>
            </a:pPr>
            <a:r>
              <a:rPr lang="en-US" sz="2215" b="1">
                <a:solidFill>
                  <a:srgbClr val="D3410D"/>
                </a:solidFill>
                <a:latin typeface="Poppins Bold" panose="00000800000000000000"/>
                <a:ea typeface="Poppins Bold" panose="00000800000000000000"/>
                <a:cs typeface="Poppins Bold" panose="00000800000000000000"/>
                <a:sym typeface="Poppins Bold" panose="00000800000000000000"/>
              </a:rPr>
              <a:t>🎯 Post-Deadline (After March 22):</a:t>
            </a:r>
            <a:r>
              <a:rPr lang="en-US" sz="2215">
                <a:solidFill>
                  <a:srgbClr val="FFFFFF"/>
                </a:solidFill>
                <a:latin typeface="Poppins" panose="00000500000000000000"/>
                <a:ea typeface="Poppins" panose="00000500000000000000"/>
                <a:cs typeface="Poppins" panose="00000500000000000000"/>
                <a:sym typeface="Poppins" panose="00000500000000000000"/>
              </a:rPr>
              <a:t> Predictions became more concentrated on the top three teams, likely influenced by actual game results or media coverage.</a:t>
            </a:r>
            <a:endParaRPr lang="en-US" sz="2215">
              <a:solidFill>
                <a:srgbClr val="FFFFFF"/>
              </a:solidFill>
              <a:latin typeface="Poppins" panose="00000500000000000000"/>
              <a:ea typeface="Poppins" panose="00000500000000000000"/>
              <a:cs typeface="Poppins" panose="00000500000000000000"/>
              <a:sym typeface="Poppins" panose="00000500000000000000"/>
            </a:endParaRPr>
          </a:p>
          <a:p>
            <a:pPr algn="l">
              <a:lnSpc>
                <a:spcPts val="2970"/>
              </a:lnSpc>
            </a:pPr>
          </a:p>
          <a:p>
            <a:pPr algn="l">
              <a:lnSpc>
                <a:spcPts val="2970"/>
              </a:lnSpc>
              <a:spcBef>
                <a:spcPct val="0"/>
              </a:spcBef>
            </a:p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rot="0">
            <a:off x="-1008221" y="2004765"/>
            <a:ext cx="20815039" cy="5594259"/>
            <a:chOff x="0" y="0"/>
            <a:chExt cx="4677907" cy="1257236"/>
          </a:xfrm>
        </p:grpSpPr>
        <p:sp>
          <p:nvSpPr>
            <p:cNvPr id="3" name="Freeform 3"/>
            <p:cNvSpPr/>
            <p:nvPr/>
          </p:nvSpPr>
          <p:spPr>
            <a:xfrm>
              <a:off x="0" y="0"/>
              <a:ext cx="4677907" cy="1257236"/>
            </a:xfrm>
            <a:custGeom>
              <a:avLst/>
              <a:gdLst/>
              <a:ahLst/>
              <a:cxnLst/>
              <a:rect l="l" t="t" r="r" b="b"/>
              <a:pathLst>
                <a:path w="4677907" h="1257236">
                  <a:moveTo>
                    <a:pt x="203200" y="0"/>
                  </a:moveTo>
                  <a:lnTo>
                    <a:pt x="4677907" y="0"/>
                  </a:lnTo>
                  <a:lnTo>
                    <a:pt x="4474707" y="1257236"/>
                  </a:lnTo>
                  <a:lnTo>
                    <a:pt x="0" y="1257236"/>
                  </a:lnTo>
                  <a:lnTo>
                    <a:pt x="203200" y="0"/>
                  </a:lnTo>
                  <a:close/>
                </a:path>
              </a:pathLst>
            </a:custGeom>
            <a:solidFill>
              <a:srgbClr val="FFFFFF"/>
            </a:solidFill>
          </p:spPr>
        </p:sp>
        <p:sp>
          <p:nvSpPr>
            <p:cNvPr id="4" name="TextBox 4"/>
            <p:cNvSpPr txBox="1"/>
            <p:nvPr/>
          </p:nvSpPr>
          <p:spPr>
            <a:xfrm>
              <a:off x="101600" y="-57150"/>
              <a:ext cx="4474707" cy="1314386"/>
            </a:xfrm>
            <a:prstGeom prst="rect">
              <a:avLst/>
            </a:prstGeom>
          </p:spPr>
          <p:txBody>
            <a:bodyPr lIns="50800" tIns="50800" rIns="50800" bIns="50800" rtlCol="0" anchor="ctr"/>
            <a:lstStyle/>
            <a:p>
              <a:pPr algn="ctr">
                <a:lnSpc>
                  <a:spcPts val="2800"/>
                </a:lnSpc>
              </a:pPr>
            </a:p>
          </p:txBody>
        </p:sp>
      </p:grpSp>
      <p:sp>
        <p:nvSpPr>
          <p:cNvPr id="5" name="Freeform 5"/>
          <p:cNvSpPr/>
          <p:nvPr/>
        </p:nvSpPr>
        <p:spPr>
          <a:xfrm>
            <a:off x="0" y="1614308"/>
            <a:ext cx="9144000" cy="5984716"/>
          </a:xfrm>
          <a:custGeom>
            <a:avLst/>
            <a:gdLst/>
            <a:ahLst/>
            <a:cxnLst/>
            <a:rect l="l" t="t" r="r" b="b"/>
            <a:pathLst>
              <a:path w="9144000" h="5984716">
                <a:moveTo>
                  <a:pt x="0" y="0"/>
                </a:moveTo>
                <a:lnTo>
                  <a:pt x="9144000" y="0"/>
                </a:lnTo>
                <a:lnTo>
                  <a:pt x="9144000" y="5984715"/>
                </a:lnTo>
                <a:lnTo>
                  <a:pt x="0" y="5984715"/>
                </a:lnTo>
                <a:lnTo>
                  <a:pt x="0" y="0"/>
                </a:lnTo>
                <a:close/>
              </a:path>
            </a:pathLst>
          </a:custGeom>
          <a:blipFill>
            <a:blip r:embed="rId1"/>
            <a:stretch>
              <a:fillRect l="-985" r="-2671" b="-1756"/>
            </a:stretch>
          </a:blipFill>
        </p:spPr>
      </p:sp>
      <p:sp>
        <p:nvSpPr>
          <p:cNvPr id="6" name="Freeform 6"/>
          <p:cNvSpPr/>
          <p:nvPr/>
        </p:nvSpPr>
        <p:spPr>
          <a:xfrm>
            <a:off x="9144000" y="1614308"/>
            <a:ext cx="9424749" cy="5984716"/>
          </a:xfrm>
          <a:custGeom>
            <a:avLst/>
            <a:gdLst/>
            <a:ahLst/>
            <a:cxnLst/>
            <a:rect l="l" t="t" r="r" b="b"/>
            <a:pathLst>
              <a:path w="9424749" h="5984716">
                <a:moveTo>
                  <a:pt x="0" y="0"/>
                </a:moveTo>
                <a:lnTo>
                  <a:pt x="9424749" y="0"/>
                </a:lnTo>
                <a:lnTo>
                  <a:pt x="9424749" y="5984715"/>
                </a:lnTo>
                <a:lnTo>
                  <a:pt x="0" y="5984715"/>
                </a:lnTo>
                <a:lnTo>
                  <a:pt x="0" y="0"/>
                </a:lnTo>
                <a:close/>
              </a:path>
            </a:pathLst>
          </a:custGeom>
          <a:blipFill>
            <a:blip r:embed="rId2"/>
            <a:stretch>
              <a:fillRect/>
            </a:stretch>
          </a:blipFill>
        </p:spPr>
      </p:sp>
      <p:sp>
        <p:nvSpPr>
          <p:cNvPr id="7" name="TextBox 7"/>
          <p:cNvSpPr txBox="1"/>
          <p:nvPr/>
        </p:nvSpPr>
        <p:spPr>
          <a:xfrm>
            <a:off x="5648121" y="552450"/>
            <a:ext cx="11069584" cy="1162050"/>
          </a:xfrm>
          <a:prstGeom prst="rect">
            <a:avLst/>
          </a:prstGeom>
        </p:spPr>
        <p:txBody>
          <a:bodyPr lIns="0" tIns="0" rIns="0" bIns="0" rtlCol="0" anchor="t">
            <a:spAutoFit/>
          </a:bodyPr>
          <a:lstStyle/>
          <a:p>
            <a:pPr algn="l">
              <a:lnSpc>
                <a:spcPts val="8550"/>
              </a:lnSpc>
            </a:pPr>
            <a:r>
              <a:rPr lang="en-US" sz="90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rPr>
              <a:t>MOST 5 PREDICTED TEAMS</a:t>
            </a:r>
            <a:endParaRPr lang="en-US" sz="90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endParaRPr>
          </a:p>
        </p:txBody>
      </p:sp>
      <p:sp>
        <p:nvSpPr>
          <p:cNvPr id="8" name="TextBox 8"/>
          <p:cNvSpPr txBox="1"/>
          <p:nvPr/>
        </p:nvSpPr>
        <p:spPr>
          <a:xfrm>
            <a:off x="2868555" y="7494248"/>
            <a:ext cx="13061488" cy="2735797"/>
          </a:xfrm>
          <a:prstGeom prst="rect">
            <a:avLst/>
          </a:prstGeom>
        </p:spPr>
        <p:txBody>
          <a:bodyPr lIns="0" tIns="0" rIns="0" bIns="0" rtlCol="0" anchor="t">
            <a:spAutoFit/>
          </a:bodyPr>
          <a:lstStyle/>
          <a:p>
            <a:pPr algn="just">
              <a:lnSpc>
                <a:spcPts val="3005"/>
              </a:lnSpc>
            </a:pPr>
          </a:p>
          <a:p>
            <a:pPr algn="just">
              <a:lnSpc>
                <a:spcPts val="3175"/>
              </a:lnSpc>
            </a:pPr>
            <a:r>
              <a:rPr lang="en-US" sz="1865">
                <a:solidFill>
                  <a:srgbClr val="FFFFFF"/>
                </a:solidFill>
                <a:latin typeface="Poppins" panose="00000500000000000000"/>
                <a:ea typeface="Poppins" panose="00000500000000000000"/>
                <a:cs typeface="Poppins" panose="00000500000000000000"/>
                <a:sym typeface="Poppins" panose="00000500000000000000"/>
              </a:rPr>
              <a:t>✔ </a:t>
            </a:r>
            <a:r>
              <a:rPr lang="en-US" sz="1865" b="1">
                <a:solidFill>
                  <a:srgbClr val="D3410D"/>
                </a:solidFill>
                <a:latin typeface="Poppins Bold" panose="00000800000000000000"/>
                <a:ea typeface="Poppins Bold" panose="00000800000000000000"/>
                <a:cs typeface="Poppins Bold" panose="00000800000000000000"/>
                <a:sym typeface="Poppins Bold" panose="00000800000000000000"/>
              </a:rPr>
              <a:t>UConn </a:t>
            </a:r>
            <a:r>
              <a:rPr lang="en-US" sz="1865">
                <a:solidFill>
                  <a:srgbClr val="FFFFFF"/>
                </a:solidFill>
                <a:latin typeface="Poppins" panose="00000500000000000000"/>
                <a:ea typeface="Poppins" panose="00000500000000000000"/>
                <a:cs typeface="Poppins" panose="00000500000000000000"/>
                <a:sym typeface="Poppins" panose="00000500000000000000"/>
              </a:rPr>
              <a:t>is the </a:t>
            </a:r>
            <a:r>
              <a:rPr lang="en-US" sz="1865" b="1">
                <a:solidFill>
                  <a:srgbClr val="D3410D"/>
                </a:solidFill>
                <a:latin typeface="Poppins Bold" panose="00000800000000000000"/>
                <a:ea typeface="Poppins Bold" panose="00000800000000000000"/>
                <a:cs typeface="Poppins Bold" panose="00000800000000000000"/>
                <a:sym typeface="Poppins Bold" panose="00000800000000000000"/>
              </a:rPr>
              <a:t>most</a:t>
            </a:r>
            <a:r>
              <a:rPr lang="en-US" sz="1865">
                <a:solidFill>
                  <a:srgbClr val="FFFFFF"/>
                </a:solidFill>
                <a:latin typeface="Poppins" panose="00000500000000000000"/>
                <a:ea typeface="Poppins" panose="00000500000000000000"/>
                <a:cs typeface="Poppins" panose="00000500000000000000"/>
                <a:sym typeface="Poppins" panose="00000500000000000000"/>
              </a:rPr>
              <a:t> </a:t>
            </a:r>
            <a:r>
              <a:rPr lang="en-US" sz="1865" b="1">
                <a:solidFill>
                  <a:srgbClr val="D3410D"/>
                </a:solidFill>
                <a:latin typeface="Poppins Bold" panose="00000800000000000000"/>
                <a:ea typeface="Poppins Bold" panose="00000800000000000000"/>
                <a:cs typeface="Poppins Bold" panose="00000800000000000000"/>
                <a:sym typeface="Poppins Bold" panose="00000800000000000000"/>
              </a:rPr>
              <a:t>popular prediction </a:t>
            </a:r>
            <a:r>
              <a:rPr lang="en-US" sz="1865">
                <a:solidFill>
                  <a:srgbClr val="FFFFFF"/>
                </a:solidFill>
                <a:latin typeface="Poppins" panose="00000500000000000000"/>
                <a:ea typeface="Poppins" panose="00000500000000000000"/>
                <a:cs typeface="Poppins" panose="00000500000000000000"/>
                <a:sym typeface="Poppins" panose="00000500000000000000"/>
              </a:rPr>
              <a:t>among fans, with a relatively stable support rate across all stages.</a:t>
            </a:r>
            <a:endParaRPr lang="en-US" sz="1865">
              <a:solidFill>
                <a:srgbClr val="FFFFFF"/>
              </a:solidFill>
              <a:latin typeface="Poppins" panose="00000500000000000000"/>
              <a:ea typeface="Poppins" panose="00000500000000000000"/>
              <a:cs typeface="Poppins" panose="00000500000000000000"/>
              <a:sym typeface="Poppins" panose="00000500000000000000"/>
            </a:endParaRPr>
          </a:p>
          <a:p>
            <a:pPr algn="just">
              <a:lnSpc>
                <a:spcPts val="3175"/>
              </a:lnSpc>
            </a:pPr>
            <a:r>
              <a:rPr lang="en-US" sz="1865">
                <a:solidFill>
                  <a:srgbClr val="FFFFFF"/>
                </a:solidFill>
                <a:latin typeface="Poppins" panose="00000500000000000000"/>
                <a:ea typeface="Poppins" panose="00000500000000000000"/>
                <a:cs typeface="Poppins" panose="00000500000000000000"/>
                <a:sym typeface="Poppins" panose="00000500000000000000"/>
              </a:rPr>
              <a:t>✔ </a:t>
            </a:r>
            <a:r>
              <a:rPr lang="en-US" sz="1865" b="1">
                <a:solidFill>
                  <a:srgbClr val="D3410D"/>
                </a:solidFill>
                <a:latin typeface="Poppins Bold" panose="00000800000000000000"/>
                <a:ea typeface="Poppins Bold" panose="00000800000000000000"/>
                <a:cs typeface="Poppins Bold" panose="00000800000000000000"/>
                <a:sym typeface="Poppins Bold" panose="00000800000000000000"/>
              </a:rPr>
              <a:t>Houston</a:t>
            </a:r>
            <a:r>
              <a:rPr lang="en-US" sz="1865">
                <a:solidFill>
                  <a:srgbClr val="FFFFFF"/>
                </a:solidFill>
                <a:latin typeface="Poppins" panose="00000500000000000000"/>
                <a:ea typeface="Poppins" panose="00000500000000000000"/>
                <a:cs typeface="Poppins" panose="00000500000000000000"/>
                <a:sym typeface="Poppins" panose="00000500000000000000"/>
              </a:rPr>
              <a:t> and </a:t>
            </a:r>
            <a:r>
              <a:rPr lang="en-US" sz="1865" b="1">
                <a:solidFill>
                  <a:srgbClr val="D3410D"/>
                </a:solidFill>
                <a:latin typeface="Poppins Bold" panose="00000800000000000000"/>
                <a:ea typeface="Poppins Bold" panose="00000800000000000000"/>
                <a:cs typeface="Poppins Bold" panose="00000800000000000000"/>
                <a:sym typeface="Poppins Bold" panose="00000800000000000000"/>
              </a:rPr>
              <a:t>North Carolina</a:t>
            </a:r>
            <a:r>
              <a:rPr lang="en-US" sz="1865">
                <a:solidFill>
                  <a:srgbClr val="FFFFFF"/>
                </a:solidFill>
                <a:latin typeface="Poppins" panose="00000500000000000000"/>
                <a:ea typeface="Poppins" panose="00000500000000000000"/>
                <a:cs typeface="Poppins" panose="00000500000000000000"/>
                <a:sym typeface="Poppins" panose="00000500000000000000"/>
              </a:rPr>
              <a:t> experienced a </a:t>
            </a:r>
            <a:r>
              <a:rPr lang="en-US" sz="1865" b="1">
                <a:solidFill>
                  <a:srgbClr val="D3410D"/>
                </a:solidFill>
                <a:latin typeface="Poppins Bold" panose="00000800000000000000"/>
                <a:ea typeface="Poppins Bold" panose="00000800000000000000"/>
                <a:cs typeface="Poppins Bold" panose="00000800000000000000"/>
                <a:sym typeface="Poppins Bold" panose="00000800000000000000"/>
              </a:rPr>
              <a:t>significant decline</a:t>
            </a:r>
            <a:r>
              <a:rPr lang="en-US" sz="1865">
                <a:solidFill>
                  <a:srgbClr val="FFFFFF"/>
                </a:solidFill>
                <a:latin typeface="Poppins" panose="00000500000000000000"/>
                <a:ea typeface="Poppins" panose="00000500000000000000"/>
                <a:cs typeface="Poppins" panose="00000500000000000000"/>
                <a:sym typeface="Poppins" panose="00000500000000000000"/>
              </a:rPr>
              <a:t> in prediction support as they progressed, possibly influenced by actual game results, team performance, or external factors such as injuries and schedule difficulty.</a:t>
            </a:r>
            <a:endParaRPr lang="en-US" sz="1865">
              <a:solidFill>
                <a:srgbClr val="FFFFFF"/>
              </a:solidFill>
              <a:latin typeface="Poppins" panose="00000500000000000000"/>
              <a:ea typeface="Poppins" panose="00000500000000000000"/>
              <a:cs typeface="Poppins" panose="00000500000000000000"/>
              <a:sym typeface="Poppins" panose="00000500000000000000"/>
            </a:endParaRPr>
          </a:p>
          <a:p>
            <a:pPr algn="just">
              <a:lnSpc>
                <a:spcPts val="3005"/>
              </a:lnSpc>
            </a:pPr>
          </a:p>
          <a:p>
            <a:pPr algn="just">
              <a:lnSpc>
                <a:spcPts val="3005"/>
              </a:lnSpc>
            </a:pPr>
            <a:r>
              <a:rPr lang="en-US" sz="1765" b="1">
                <a:solidFill>
                  <a:srgbClr val="A7A9AC"/>
                </a:solidFill>
                <a:latin typeface="Poppins Bold" panose="00000800000000000000"/>
                <a:ea typeface="Poppins Bold" panose="00000800000000000000"/>
                <a:cs typeface="Poppins Bold" panose="00000800000000000000"/>
                <a:sym typeface="Poppins Bold" panose="00000800000000000000"/>
              </a:rPr>
              <a:t>                                                                                                                                                                                                                                                                                            </a:t>
            </a:r>
            <a:endParaRPr lang="en-US" sz="1765" b="1">
              <a:solidFill>
                <a:srgbClr val="A7A9AC"/>
              </a:solidFill>
              <a:latin typeface="Poppins Bold" panose="00000800000000000000"/>
              <a:ea typeface="Poppins Bold" panose="00000800000000000000"/>
              <a:cs typeface="Poppins Bold" panose="00000800000000000000"/>
              <a:sym typeface="Poppins Bold" panose="0000080000000000000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rot="0">
            <a:off x="8387853" y="-2174227"/>
            <a:ext cx="12765743" cy="12461227"/>
            <a:chOff x="0" y="0"/>
            <a:chExt cx="2368363" cy="2311868"/>
          </a:xfrm>
        </p:grpSpPr>
        <p:sp>
          <p:nvSpPr>
            <p:cNvPr id="3" name="Freeform 3"/>
            <p:cNvSpPr/>
            <p:nvPr/>
          </p:nvSpPr>
          <p:spPr>
            <a:xfrm>
              <a:off x="0" y="0"/>
              <a:ext cx="2368363" cy="2311868"/>
            </a:xfrm>
            <a:custGeom>
              <a:avLst/>
              <a:gdLst/>
              <a:ahLst/>
              <a:cxnLst/>
              <a:rect l="l" t="t" r="r" b="b"/>
              <a:pathLst>
                <a:path w="2368363" h="2311868">
                  <a:moveTo>
                    <a:pt x="203200" y="0"/>
                  </a:moveTo>
                  <a:lnTo>
                    <a:pt x="2368363" y="0"/>
                  </a:lnTo>
                  <a:lnTo>
                    <a:pt x="2165163" y="2311868"/>
                  </a:lnTo>
                  <a:lnTo>
                    <a:pt x="0" y="2311868"/>
                  </a:lnTo>
                  <a:lnTo>
                    <a:pt x="203200" y="0"/>
                  </a:lnTo>
                  <a:close/>
                </a:path>
              </a:pathLst>
            </a:custGeom>
            <a:gradFill rotWithShape="1">
              <a:gsLst>
                <a:gs pos="0">
                  <a:srgbClr val="8D2600">
                    <a:alpha val="100000"/>
                  </a:srgbClr>
                </a:gs>
                <a:gs pos="100000">
                  <a:srgbClr val="FF4500">
                    <a:alpha val="100000"/>
                  </a:srgbClr>
                </a:gs>
              </a:gsLst>
              <a:lin ang="0"/>
            </a:gradFill>
          </p:spPr>
        </p:sp>
        <p:sp>
          <p:nvSpPr>
            <p:cNvPr id="4" name="TextBox 4"/>
            <p:cNvSpPr txBox="1"/>
            <p:nvPr/>
          </p:nvSpPr>
          <p:spPr>
            <a:xfrm>
              <a:off x="101600" y="-57150"/>
              <a:ext cx="2165163" cy="2369018"/>
            </a:xfrm>
            <a:prstGeom prst="rect">
              <a:avLst/>
            </a:prstGeom>
          </p:spPr>
          <p:txBody>
            <a:bodyPr lIns="50800" tIns="50800" rIns="50800" bIns="50800" rtlCol="0" anchor="ctr"/>
            <a:lstStyle/>
            <a:p>
              <a:pPr algn="ctr">
                <a:lnSpc>
                  <a:spcPts val="2800"/>
                </a:lnSpc>
              </a:pPr>
            </a:p>
          </p:txBody>
        </p:sp>
      </p:grpSp>
      <p:sp>
        <p:nvSpPr>
          <p:cNvPr id="5" name="Freeform 5"/>
          <p:cNvSpPr/>
          <p:nvPr/>
        </p:nvSpPr>
        <p:spPr>
          <a:xfrm>
            <a:off x="9234105" y="802338"/>
            <a:ext cx="9144000" cy="8782934"/>
          </a:xfrm>
          <a:custGeom>
            <a:avLst/>
            <a:gdLst/>
            <a:ahLst/>
            <a:cxnLst/>
            <a:rect l="l" t="t" r="r" b="b"/>
            <a:pathLst>
              <a:path w="9144000" h="8782934">
                <a:moveTo>
                  <a:pt x="0" y="0"/>
                </a:moveTo>
                <a:lnTo>
                  <a:pt x="9144000" y="0"/>
                </a:lnTo>
                <a:lnTo>
                  <a:pt x="9144000" y="8782934"/>
                </a:lnTo>
                <a:lnTo>
                  <a:pt x="0" y="8782934"/>
                </a:lnTo>
                <a:lnTo>
                  <a:pt x="0" y="0"/>
                </a:lnTo>
                <a:close/>
              </a:path>
            </a:pathLst>
          </a:custGeom>
          <a:blipFill>
            <a:blip r:embed="rId1"/>
            <a:stretch>
              <a:fillRect l="-420" r="-420"/>
            </a:stretch>
          </a:blipFill>
        </p:spPr>
      </p:sp>
      <p:sp>
        <p:nvSpPr>
          <p:cNvPr id="6" name="Freeform 6"/>
          <p:cNvSpPr/>
          <p:nvPr/>
        </p:nvSpPr>
        <p:spPr>
          <a:xfrm>
            <a:off x="17364423" y="802338"/>
            <a:ext cx="923577" cy="582429"/>
          </a:xfrm>
          <a:custGeom>
            <a:avLst/>
            <a:gdLst/>
            <a:ahLst/>
            <a:cxnLst/>
            <a:rect l="l" t="t" r="r" b="b"/>
            <a:pathLst>
              <a:path w="923577" h="582429">
                <a:moveTo>
                  <a:pt x="0" y="0"/>
                </a:moveTo>
                <a:lnTo>
                  <a:pt x="923577" y="0"/>
                </a:lnTo>
                <a:lnTo>
                  <a:pt x="923577" y="582429"/>
                </a:lnTo>
                <a:lnTo>
                  <a:pt x="0" y="582429"/>
                </a:lnTo>
                <a:lnTo>
                  <a:pt x="0" y="0"/>
                </a:lnTo>
                <a:close/>
              </a:path>
            </a:pathLst>
          </a:custGeom>
          <a:blipFill>
            <a:blip r:embed="rId2"/>
            <a:stretch>
              <a:fillRect l="-11382" t="-13038"/>
            </a:stretch>
          </a:blipFill>
        </p:spPr>
      </p:sp>
      <p:sp>
        <p:nvSpPr>
          <p:cNvPr id="7" name="TextBox 7"/>
          <p:cNvSpPr txBox="1"/>
          <p:nvPr/>
        </p:nvSpPr>
        <p:spPr>
          <a:xfrm>
            <a:off x="110398" y="2164533"/>
            <a:ext cx="9123707" cy="1535392"/>
          </a:xfrm>
          <a:prstGeom prst="rect">
            <a:avLst/>
          </a:prstGeom>
        </p:spPr>
        <p:txBody>
          <a:bodyPr lIns="0" tIns="0" rIns="0" bIns="0" rtlCol="0" anchor="t">
            <a:spAutoFit/>
          </a:bodyPr>
          <a:lstStyle/>
          <a:p>
            <a:pPr algn="l">
              <a:lnSpc>
                <a:spcPts val="4125"/>
              </a:lnSpc>
            </a:pPr>
            <a:r>
              <a:rPr lang="en-US" sz="4345"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rPr>
              <a:t>COMPARING NATIONAL CHAMPIONSHIP WIN RATES: </a:t>
            </a:r>
            <a:endParaRPr lang="en-US" sz="4345"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endParaRPr>
          </a:p>
          <a:p>
            <a:pPr algn="l">
              <a:lnSpc>
                <a:spcPts val="3765"/>
              </a:lnSpc>
            </a:pPr>
          </a:p>
        </p:txBody>
      </p:sp>
      <p:sp>
        <p:nvSpPr>
          <p:cNvPr id="8" name="TextBox 8"/>
          <p:cNvSpPr txBox="1"/>
          <p:nvPr/>
        </p:nvSpPr>
        <p:spPr>
          <a:xfrm>
            <a:off x="272553" y="3576100"/>
            <a:ext cx="8115300" cy="3793629"/>
          </a:xfrm>
          <a:prstGeom prst="rect">
            <a:avLst/>
          </a:prstGeom>
        </p:spPr>
        <p:txBody>
          <a:bodyPr lIns="0" tIns="0" rIns="0" bIns="0" rtlCol="0" anchor="t">
            <a:spAutoFit/>
          </a:bodyPr>
          <a:lstStyle/>
          <a:p>
            <a:pPr algn="just">
              <a:lnSpc>
                <a:spcPts val="3755"/>
              </a:lnSpc>
            </a:pPr>
            <a:r>
              <a:rPr lang="en-US" sz="2205">
                <a:solidFill>
                  <a:srgbClr val="FFFFFF"/>
                </a:solidFill>
                <a:latin typeface="Poppins" panose="00000500000000000000"/>
                <a:ea typeface="Poppins" panose="00000500000000000000"/>
                <a:cs typeface="Poppins" panose="00000500000000000000"/>
                <a:sym typeface="Poppins" panose="00000500000000000000"/>
              </a:rPr>
              <a:t>✔ </a:t>
            </a:r>
            <a:r>
              <a:rPr lang="en-US" sz="2205" b="1">
                <a:solidFill>
                  <a:srgbClr val="D3410D"/>
                </a:solidFill>
                <a:latin typeface="Poppins Bold" panose="00000800000000000000"/>
                <a:ea typeface="Poppins Bold" panose="00000800000000000000"/>
                <a:cs typeface="Poppins Bold" panose="00000800000000000000"/>
                <a:sym typeface="Poppins Bold" panose="00000800000000000000"/>
              </a:rPr>
              <a:t>UConn (164)</a:t>
            </a:r>
            <a:r>
              <a:rPr lang="en-US" sz="2205">
                <a:solidFill>
                  <a:srgbClr val="FFFFFF"/>
                </a:solidFill>
                <a:latin typeface="Poppins" panose="00000500000000000000"/>
                <a:ea typeface="Poppins" panose="00000500000000000000"/>
                <a:cs typeface="Poppins" panose="00000500000000000000"/>
                <a:sym typeface="Poppins" panose="00000500000000000000"/>
              </a:rPr>
              <a:t> and </a:t>
            </a:r>
            <a:r>
              <a:rPr lang="en-US" sz="2205" b="1">
                <a:solidFill>
                  <a:srgbClr val="D3410D"/>
                </a:solidFill>
                <a:latin typeface="Poppins Bold" panose="00000800000000000000"/>
                <a:ea typeface="Poppins Bold" panose="00000800000000000000"/>
                <a:cs typeface="Poppins Bold" panose="00000800000000000000"/>
                <a:sym typeface="Poppins Bold" panose="00000800000000000000"/>
              </a:rPr>
              <a:t>Houston (288)</a:t>
            </a:r>
            <a:r>
              <a:rPr lang="en-US" sz="2205">
                <a:solidFill>
                  <a:srgbClr val="FFFFFF"/>
                </a:solidFill>
                <a:latin typeface="Poppins" panose="00000500000000000000"/>
                <a:ea typeface="Poppins" panose="00000500000000000000"/>
                <a:cs typeface="Poppins" panose="00000500000000000000"/>
                <a:sym typeface="Poppins" panose="00000500000000000000"/>
              </a:rPr>
              <a:t> are the top favorites in their respective regions, having the highest number of national championships.</a:t>
            </a:r>
            <a:endParaRPr lang="en-US" sz="2205">
              <a:solidFill>
                <a:srgbClr val="FFFFFF"/>
              </a:solidFill>
              <a:latin typeface="Poppins" panose="00000500000000000000"/>
              <a:ea typeface="Poppins" panose="00000500000000000000"/>
              <a:cs typeface="Poppins" panose="00000500000000000000"/>
              <a:sym typeface="Poppins" panose="00000500000000000000"/>
            </a:endParaRPr>
          </a:p>
          <a:p>
            <a:pPr algn="just">
              <a:lnSpc>
                <a:spcPts val="3755"/>
              </a:lnSpc>
            </a:pPr>
          </a:p>
          <a:p>
            <a:pPr algn="just">
              <a:lnSpc>
                <a:spcPts val="3755"/>
              </a:lnSpc>
            </a:pPr>
            <a:r>
              <a:rPr lang="en-US" sz="2205">
                <a:solidFill>
                  <a:srgbClr val="FFFFFF"/>
                </a:solidFill>
                <a:latin typeface="Poppins" panose="00000500000000000000"/>
                <a:ea typeface="Poppins" panose="00000500000000000000"/>
                <a:cs typeface="Poppins" panose="00000500000000000000"/>
                <a:sym typeface="Poppins" panose="00000500000000000000"/>
              </a:rPr>
              <a:t>✔ </a:t>
            </a:r>
            <a:r>
              <a:rPr lang="en-US" sz="2205" b="1">
                <a:solidFill>
                  <a:srgbClr val="D3410D"/>
                </a:solidFill>
                <a:latin typeface="Poppins Bold" panose="00000800000000000000"/>
                <a:ea typeface="Poppins Bold" panose="00000800000000000000"/>
                <a:cs typeface="Poppins Bold" panose="00000800000000000000"/>
                <a:sym typeface="Poppins Bold" panose="00000800000000000000"/>
              </a:rPr>
              <a:t>Teams 559</a:t>
            </a:r>
            <a:r>
              <a:rPr lang="en-US" sz="2205">
                <a:solidFill>
                  <a:srgbClr val="FFFFFF"/>
                </a:solidFill>
                <a:latin typeface="Poppins" panose="00000500000000000000"/>
                <a:ea typeface="Poppins" panose="00000500000000000000"/>
                <a:cs typeface="Poppins" panose="00000500000000000000"/>
                <a:sym typeface="Poppins" panose="00000500000000000000"/>
              </a:rPr>
              <a:t> and </a:t>
            </a:r>
            <a:r>
              <a:rPr lang="en-US" sz="2205" b="1">
                <a:solidFill>
                  <a:srgbClr val="D3410D"/>
                </a:solidFill>
                <a:latin typeface="Poppins Bold" panose="00000800000000000000"/>
                <a:ea typeface="Poppins Bold" panose="00000800000000000000"/>
                <a:cs typeface="Poppins Bold" panose="00000800000000000000"/>
                <a:sym typeface="Poppins Bold" panose="00000800000000000000"/>
              </a:rPr>
              <a:t>334</a:t>
            </a:r>
            <a:r>
              <a:rPr lang="en-US" sz="2205">
                <a:solidFill>
                  <a:srgbClr val="FFFFFF"/>
                </a:solidFill>
                <a:latin typeface="Poppins" panose="00000500000000000000"/>
                <a:ea typeface="Poppins" panose="00000500000000000000"/>
                <a:cs typeface="Poppins" panose="00000500000000000000"/>
                <a:sym typeface="Poppins" panose="00000500000000000000"/>
              </a:rPr>
              <a:t> from the South Midwest region, as well as </a:t>
            </a:r>
            <a:r>
              <a:rPr lang="en-US" sz="2205" b="1">
                <a:solidFill>
                  <a:srgbClr val="D3410D"/>
                </a:solidFill>
                <a:latin typeface="Poppins Bold" panose="00000800000000000000"/>
                <a:ea typeface="Poppins Bold" panose="00000800000000000000"/>
                <a:cs typeface="Poppins Bold" panose="00000800000000000000"/>
                <a:sym typeface="Poppins Bold" panose="00000800000000000000"/>
              </a:rPr>
              <a:t>Teams 457</a:t>
            </a:r>
            <a:r>
              <a:rPr lang="en-US" sz="2205">
                <a:solidFill>
                  <a:srgbClr val="FFFFFF"/>
                </a:solidFill>
                <a:latin typeface="Poppins" panose="00000500000000000000"/>
                <a:ea typeface="Poppins" panose="00000500000000000000"/>
                <a:cs typeface="Poppins" panose="00000500000000000000"/>
                <a:sym typeface="Poppins" panose="00000500000000000000"/>
              </a:rPr>
              <a:t> and 311 from the East West region, also demonstrate strong championship competitiveness.</a:t>
            </a:r>
            <a:endParaRPr lang="en-US" sz="2205">
              <a:solidFill>
                <a:srgbClr val="FFFFFF"/>
              </a:solidFill>
              <a:latin typeface="Poppins" panose="00000500000000000000"/>
              <a:ea typeface="Poppins" panose="00000500000000000000"/>
              <a:cs typeface="Poppins" panose="00000500000000000000"/>
              <a:sym typeface="Poppins" panose="00000500000000000000"/>
            </a:endParaRPr>
          </a:p>
          <a:p>
            <a:pPr algn="just">
              <a:lnSpc>
                <a:spcPts val="3755"/>
              </a:lnSpc>
            </a:p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22" b="-9222"/>
            </a:stretch>
          </a:blipFill>
        </p:spPr>
      </p:sp>
      <p:grpSp>
        <p:nvGrpSpPr>
          <p:cNvPr id="3" name="Group 3"/>
          <p:cNvGrpSpPr/>
          <p:nvPr/>
        </p:nvGrpSpPr>
        <p:grpSpPr>
          <a:xfrm rot="0">
            <a:off x="-8706556" y="1354277"/>
            <a:ext cx="21715648" cy="8496667"/>
            <a:chOff x="0" y="0"/>
            <a:chExt cx="2420649" cy="947126"/>
          </a:xfrm>
        </p:grpSpPr>
        <p:sp>
          <p:nvSpPr>
            <p:cNvPr id="4" name="Freeform 4"/>
            <p:cNvSpPr/>
            <p:nvPr/>
          </p:nvSpPr>
          <p:spPr>
            <a:xfrm>
              <a:off x="0" y="0"/>
              <a:ext cx="2420649" cy="947126"/>
            </a:xfrm>
            <a:custGeom>
              <a:avLst/>
              <a:gdLst/>
              <a:ahLst/>
              <a:cxnLst/>
              <a:rect l="l" t="t" r="r" b="b"/>
              <a:pathLst>
                <a:path w="2420649" h="947126">
                  <a:moveTo>
                    <a:pt x="203200" y="0"/>
                  </a:moveTo>
                  <a:lnTo>
                    <a:pt x="2420649" y="0"/>
                  </a:lnTo>
                  <a:lnTo>
                    <a:pt x="2217449" y="947126"/>
                  </a:lnTo>
                  <a:lnTo>
                    <a:pt x="0" y="947126"/>
                  </a:lnTo>
                  <a:lnTo>
                    <a:pt x="203200" y="0"/>
                  </a:lnTo>
                  <a:close/>
                </a:path>
              </a:pathLst>
            </a:custGeom>
            <a:gradFill rotWithShape="1">
              <a:gsLst>
                <a:gs pos="0">
                  <a:srgbClr val="8D2600">
                    <a:alpha val="100000"/>
                  </a:srgbClr>
                </a:gs>
                <a:gs pos="100000">
                  <a:srgbClr val="FF4500">
                    <a:alpha val="100000"/>
                  </a:srgbClr>
                </a:gs>
              </a:gsLst>
              <a:lin ang="0"/>
            </a:gradFill>
          </p:spPr>
        </p:sp>
        <p:sp>
          <p:nvSpPr>
            <p:cNvPr id="5" name="TextBox 5"/>
            <p:cNvSpPr txBox="1"/>
            <p:nvPr/>
          </p:nvSpPr>
          <p:spPr>
            <a:xfrm>
              <a:off x="101600" y="-57150"/>
              <a:ext cx="2217449" cy="1004276"/>
            </a:xfrm>
            <a:prstGeom prst="rect">
              <a:avLst/>
            </a:prstGeom>
          </p:spPr>
          <p:txBody>
            <a:bodyPr lIns="50800" tIns="50800" rIns="50800" bIns="50800" rtlCol="0" anchor="ctr"/>
            <a:lstStyle/>
            <a:p>
              <a:pPr algn="ctr">
                <a:lnSpc>
                  <a:spcPts val="2800"/>
                </a:lnSpc>
              </a:pPr>
            </a:p>
          </p:txBody>
        </p:sp>
      </p:grpSp>
      <p:sp>
        <p:nvSpPr>
          <p:cNvPr id="6" name="Freeform 6"/>
          <p:cNvSpPr/>
          <p:nvPr/>
        </p:nvSpPr>
        <p:spPr>
          <a:xfrm>
            <a:off x="0" y="1369294"/>
            <a:ext cx="11866370" cy="8481650"/>
          </a:xfrm>
          <a:custGeom>
            <a:avLst/>
            <a:gdLst/>
            <a:ahLst/>
            <a:cxnLst/>
            <a:rect l="l" t="t" r="r" b="b"/>
            <a:pathLst>
              <a:path w="11866370" h="8481650">
                <a:moveTo>
                  <a:pt x="0" y="0"/>
                </a:moveTo>
                <a:lnTo>
                  <a:pt x="11866370" y="0"/>
                </a:lnTo>
                <a:lnTo>
                  <a:pt x="11866370" y="8481650"/>
                </a:lnTo>
                <a:lnTo>
                  <a:pt x="0" y="8481650"/>
                </a:lnTo>
                <a:lnTo>
                  <a:pt x="0" y="0"/>
                </a:lnTo>
                <a:close/>
              </a:path>
            </a:pathLst>
          </a:custGeom>
          <a:blipFill>
            <a:blip r:embed="rId2"/>
            <a:stretch>
              <a:fillRect l="-395" t="-4606" r="-134"/>
            </a:stretch>
          </a:blipFill>
        </p:spPr>
      </p:sp>
      <p:sp>
        <p:nvSpPr>
          <p:cNvPr id="7" name="Freeform 7"/>
          <p:cNvSpPr/>
          <p:nvPr/>
        </p:nvSpPr>
        <p:spPr>
          <a:xfrm>
            <a:off x="10027017" y="4756412"/>
            <a:ext cx="1425079" cy="1056142"/>
          </a:xfrm>
          <a:custGeom>
            <a:avLst/>
            <a:gdLst/>
            <a:ahLst/>
            <a:cxnLst/>
            <a:rect l="l" t="t" r="r" b="b"/>
            <a:pathLst>
              <a:path w="1425079" h="1056142">
                <a:moveTo>
                  <a:pt x="0" y="0"/>
                </a:moveTo>
                <a:lnTo>
                  <a:pt x="1425078" y="0"/>
                </a:lnTo>
                <a:lnTo>
                  <a:pt x="1425078" y="1056142"/>
                </a:lnTo>
                <a:lnTo>
                  <a:pt x="0" y="1056142"/>
                </a:lnTo>
                <a:lnTo>
                  <a:pt x="0" y="0"/>
                </a:lnTo>
                <a:close/>
              </a:path>
            </a:pathLst>
          </a:custGeom>
          <a:blipFill>
            <a:blip r:embed="rId3"/>
            <a:stretch>
              <a:fillRect l="-1845" t="-6190"/>
            </a:stretch>
          </a:blipFill>
        </p:spPr>
      </p:sp>
      <p:sp>
        <p:nvSpPr>
          <p:cNvPr id="8" name="TextBox 8"/>
          <p:cNvSpPr txBox="1"/>
          <p:nvPr/>
        </p:nvSpPr>
        <p:spPr>
          <a:xfrm>
            <a:off x="148908" y="337734"/>
            <a:ext cx="16487928" cy="1141493"/>
          </a:xfrm>
          <a:prstGeom prst="rect">
            <a:avLst/>
          </a:prstGeom>
        </p:spPr>
        <p:txBody>
          <a:bodyPr lIns="0" tIns="0" rIns="0" bIns="0" rtlCol="0" anchor="t">
            <a:spAutoFit/>
          </a:bodyPr>
          <a:lstStyle/>
          <a:p>
            <a:pPr algn="l">
              <a:lnSpc>
                <a:spcPts val="5260"/>
              </a:lnSpc>
            </a:pPr>
            <a:r>
              <a:rPr lang="en-US" sz="554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rPr>
              <a:t>GUESSING NATIONAL CHAMPION RATE VS. REGULAR WIN RATE</a:t>
            </a:r>
            <a:endParaRPr lang="en-US" sz="554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endParaRPr>
          </a:p>
          <a:p>
            <a:pPr algn="l">
              <a:lnSpc>
                <a:spcPts val="3720"/>
              </a:lnSpc>
            </a:pPr>
          </a:p>
        </p:txBody>
      </p:sp>
      <p:sp>
        <p:nvSpPr>
          <p:cNvPr id="9" name="TextBox 9"/>
          <p:cNvSpPr txBox="1"/>
          <p:nvPr/>
        </p:nvSpPr>
        <p:spPr>
          <a:xfrm>
            <a:off x="12124134" y="3411959"/>
            <a:ext cx="6058743" cy="4329644"/>
          </a:xfrm>
          <a:prstGeom prst="rect">
            <a:avLst/>
          </a:prstGeom>
        </p:spPr>
        <p:txBody>
          <a:bodyPr lIns="0" tIns="0" rIns="0" bIns="0" rtlCol="0" anchor="t">
            <a:spAutoFit/>
          </a:bodyPr>
          <a:lstStyle/>
          <a:p>
            <a:pPr algn="ctr">
              <a:lnSpc>
                <a:spcPts val="3115"/>
              </a:lnSpc>
            </a:pPr>
            <a:r>
              <a:rPr lang="en-US" sz="2225">
                <a:solidFill>
                  <a:srgbClr val="FFFFFF"/>
                </a:solidFill>
                <a:latin typeface="Poppins" panose="00000500000000000000"/>
                <a:ea typeface="Poppins" panose="00000500000000000000"/>
                <a:cs typeface="Poppins" panose="00000500000000000000"/>
                <a:sym typeface="Poppins" panose="00000500000000000000"/>
              </a:rPr>
              <a:t>✔ </a:t>
            </a:r>
            <a:r>
              <a:rPr lang="en-US" sz="2225" b="1">
                <a:solidFill>
                  <a:srgbClr val="D3410D"/>
                </a:solidFill>
                <a:latin typeface="Poppins Bold" panose="00000800000000000000"/>
                <a:ea typeface="Poppins Bold" panose="00000800000000000000"/>
                <a:cs typeface="Poppins Bold" panose="00000800000000000000"/>
                <a:sym typeface="Poppins Bold" panose="00000800000000000000"/>
              </a:rPr>
              <a:t>Fan prediction preferences</a:t>
            </a:r>
            <a:r>
              <a:rPr lang="en-US" sz="2225">
                <a:solidFill>
                  <a:srgbClr val="FFFFFF"/>
                </a:solidFill>
                <a:latin typeface="Poppins" panose="00000500000000000000"/>
                <a:ea typeface="Poppins" panose="00000500000000000000"/>
                <a:cs typeface="Poppins" panose="00000500000000000000"/>
                <a:sym typeface="Poppins" panose="00000500000000000000"/>
              </a:rPr>
              <a:t> do not always align with </a:t>
            </a:r>
            <a:r>
              <a:rPr lang="en-US" sz="2225" b="1">
                <a:solidFill>
                  <a:srgbClr val="D3410D"/>
                </a:solidFill>
                <a:latin typeface="Poppins Bold" panose="00000800000000000000"/>
                <a:ea typeface="Poppins Bold" panose="00000800000000000000"/>
                <a:cs typeface="Poppins Bold" panose="00000800000000000000"/>
                <a:sym typeface="Poppins Bold" panose="00000800000000000000"/>
              </a:rPr>
              <a:t>actual win rates</a:t>
            </a:r>
            <a:r>
              <a:rPr lang="en-US" sz="2225">
                <a:solidFill>
                  <a:srgbClr val="FFFFFF"/>
                </a:solidFill>
                <a:latin typeface="Poppins" panose="00000500000000000000"/>
                <a:ea typeface="Poppins" panose="00000500000000000000"/>
                <a:cs typeface="Poppins" panose="00000500000000000000"/>
                <a:sym typeface="Poppins" panose="00000500000000000000"/>
              </a:rPr>
              <a:t>, indicating that predictions may be influenced by </a:t>
            </a:r>
            <a:r>
              <a:rPr lang="en-US" sz="2225" b="1">
                <a:solidFill>
                  <a:srgbClr val="D3410D"/>
                </a:solidFill>
                <a:latin typeface="Poppins Bold" panose="00000800000000000000"/>
                <a:ea typeface="Poppins Bold" panose="00000800000000000000"/>
                <a:cs typeface="Poppins Bold" panose="00000800000000000000"/>
                <a:sym typeface="Poppins Bold" panose="00000800000000000000"/>
              </a:rPr>
              <a:t>Team effect</a:t>
            </a:r>
            <a:r>
              <a:rPr lang="en-US" sz="2225">
                <a:solidFill>
                  <a:srgbClr val="FFFFFF"/>
                </a:solidFill>
                <a:latin typeface="Poppins" panose="00000500000000000000"/>
                <a:ea typeface="Poppins" panose="00000500000000000000"/>
                <a:cs typeface="Poppins" panose="00000500000000000000"/>
                <a:sym typeface="Poppins" panose="00000500000000000000"/>
              </a:rPr>
              <a:t>, </a:t>
            </a:r>
            <a:r>
              <a:rPr lang="en-US" sz="2225" b="1">
                <a:solidFill>
                  <a:srgbClr val="D3410D"/>
                </a:solidFill>
                <a:latin typeface="Poppins Bold" panose="00000800000000000000"/>
                <a:ea typeface="Poppins Bold" panose="00000800000000000000"/>
                <a:cs typeface="Poppins Bold" panose="00000800000000000000"/>
                <a:sym typeface="Poppins Bold" panose="00000800000000000000"/>
              </a:rPr>
              <a:t>historical performance</a:t>
            </a:r>
            <a:r>
              <a:rPr lang="en-US" sz="2225">
                <a:solidFill>
                  <a:srgbClr val="FFFFFF"/>
                </a:solidFill>
                <a:latin typeface="Poppins" panose="00000500000000000000"/>
                <a:ea typeface="Poppins" panose="00000500000000000000"/>
                <a:cs typeface="Poppins" panose="00000500000000000000"/>
                <a:sym typeface="Poppins" panose="00000500000000000000"/>
              </a:rPr>
              <a:t>, and </a:t>
            </a:r>
            <a:r>
              <a:rPr lang="en-US" sz="2225" b="1">
                <a:solidFill>
                  <a:srgbClr val="D3410D"/>
                </a:solidFill>
                <a:latin typeface="Poppins Bold" panose="00000800000000000000"/>
                <a:ea typeface="Poppins Bold" panose="00000800000000000000"/>
                <a:cs typeface="Poppins Bold" panose="00000800000000000000"/>
                <a:sym typeface="Poppins Bold" panose="00000800000000000000"/>
              </a:rPr>
              <a:t>emotional bias</a:t>
            </a:r>
            <a:r>
              <a:rPr lang="en-US" sz="2225">
                <a:solidFill>
                  <a:srgbClr val="FFFFFF"/>
                </a:solidFill>
                <a:latin typeface="Poppins" panose="00000500000000000000"/>
                <a:ea typeface="Poppins" panose="00000500000000000000"/>
                <a:cs typeface="Poppins" panose="00000500000000000000"/>
                <a:sym typeface="Poppins" panose="00000500000000000000"/>
              </a:rPr>
              <a:t>.</a:t>
            </a:r>
            <a:endParaRPr lang="en-US" sz="2225">
              <a:solidFill>
                <a:srgbClr val="FFFFFF"/>
              </a:solidFill>
              <a:latin typeface="Poppins" panose="00000500000000000000"/>
              <a:ea typeface="Poppins" panose="00000500000000000000"/>
              <a:cs typeface="Poppins" panose="00000500000000000000"/>
              <a:sym typeface="Poppins" panose="00000500000000000000"/>
            </a:endParaRPr>
          </a:p>
          <a:p>
            <a:pPr algn="ctr">
              <a:lnSpc>
                <a:spcPts val="3115"/>
              </a:lnSpc>
            </a:pPr>
          </a:p>
          <a:p>
            <a:pPr algn="ctr">
              <a:lnSpc>
                <a:spcPts val="3115"/>
              </a:lnSpc>
            </a:pPr>
            <a:r>
              <a:rPr lang="en-US" sz="2225">
                <a:solidFill>
                  <a:srgbClr val="FFFFFF"/>
                </a:solidFill>
                <a:latin typeface="Poppins" panose="00000500000000000000"/>
                <a:ea typeface="Poppins" panose="00000500000000000000"/>
                <a:cs typeface="Poppins" panose="00000500000000000000"/>
                <a:sym typeface="Poppins" panose="00000500000000000000"/>
              </a:rPr>
              <a:t>✔ Some </a:t>
            </a:r>
            <a:r>
              <a:rPr lang="en-US" sz="2225" b="1">
                <a:solidFill>
                  <a:srgbClr val="D3410D"/>
                </a:solidFill>
                <a:latin typeface="Poppins Bold" panose="00000800000000000000"/>
                <a:ea typeface="Poppins Bold" panose="00000800000000000000"/>
                <a:cs typeface="Poppins Bold" panose="00000800000000000000"/>
                <a:sym typeface="Poppins Bold" panose="00000800000000000000"/>
              </a:rPr>
              <a:t>high-win-rate teams</a:t>
            </a:r>
            <a:r>
              <a:rPr lang="en-US" sz="2225">
                <a:solidFill>
                  <a:srgbClr val="FFFFFF"/>
                </a:solidFill>
                <a:latin typeface="Poppins" panose="00000500000000000000"/>
                <a:ea typeface="Poppins" panose="00000500000000000000"/>
                <a:cs typeface="Poppins" panose="00000500000000000000"/>
                <a:sym typeface="Poppins" panose="00000500000000000000"/>
              </a:rPr>
              <a:t>, such as </a:t>
            </a:r>
            <a:r>
              <a:rPr lang="en-US" sz="2225" b="1">
                <a:solidFill>
                  <a:srgbClr val="D3410D"/>
                </a:solidFill>
                <a:latin typeface="Poppins Bold" panose="00000800000000000000"/>
                <a:ea typeface="Poppins Bold" panose="00000800000000000000"/>
                <a:cs typeface="Poppins Bold" panose="00000800000000000000"/>
                <a:sym typeface="Poppins Bold" panose="00000800000000000000"/>
              </a:rPr>
              <a:t>James Madison</a:t>
            </a:r>
            <a:r>
              <a:rPr lang="en-US" sz="2225">
                <a:solidFill>
                  <a:srgbClr val="FFFFFF"/>
                </a:solidFill>
                <a:latin typeface="Poppins" panose="00000500000000000000"/>
                <a:ea typeface="Poppins" panose="00000500000000000000"/>
                <a:cs typeface="Poppins" panose="00000500000000000000"/>
                <a:sym typeface="Poppins" panose="00000500000000000000"/>
              </a:rPr>
              <a:t> and </a:t>
            </a:r>
            <a:r>
              <a:rPr lang="en-US" sz="2225" b="1">
                <a:solidFill>
                  <a:srgbClr val="D3410D"/>
                </a:solidFill>
                <a:latin typeface="Poppins Bold" panose="00000800000000000000"/>
                <a:ea typeface="Poppins Bold" panose="00000800000000000000"/>
                <a:cs typeface="Poppins Bold" panose="00000800000000000000"/>
                <a:sym typeface="Poppins Bold" panose="00000800000000000000"/>
              </a:rPr>
              <a:t>McNeese</a:t>
            </a:r>
            <a:r>
              <a:rPr lang="en-US" sz="2225">
                <a:solidFill>
                  <a:srgbClr val="FFFFFF"/>
                </a:solidFill>
                <a:latin typeface="Poppins" panose="00000500000000000000"/>
                <a:ea typeface="Poppins" panose="00000500000000000000"/>
                <a:cs typeface="Poppins" panose="00000500000000000000"/>
                <a:sym typeface="Poppins" panose="00000500000000000000"/>
              </a:rPr>
              <a:t>, are significantly </a:t>
            </a:r>
            <a:r>
              <a:rPr lang="en-US" sz="2225" b="1">
                <a:solidFill>
                  <a:srgbClr val="D3410D"/>
                </a:solidFill>
                <a:latin typeface="Poppins Bold" panose="00000800000000000000"/>
                <a:ea typeface="Poppins Bold" panose="00000800000000000000"/>
                <a:cs typeface="Poppins Bold" panose="00000800000000000000"/>
                <a:sym typeface="Poppins Bold" panose="00000800000000000000"/>
              </a:rPr>
              <a:t>underrated</a:t>
            </a:r>
            <a:r>
              <a:rPr lang="en-US" sz="2225">
                <a:solidFill>
                  <a:srgbClr val="FFFFFF"/>
                </a:solidFill>
                <a:latin typeface="Poppins" panose="00000500000000000000"/>
                <a:ea typeface="Poppins" panose="00000500000000000000"/>
                <a:cs typeface="Poppins" panose="00000500000000000000"/>
                <a:sym typeface="Poppins" panose="00000500000000000000"/>
              </a:rPr>
              <a:t> and may deserve </a:t>
            </a:r>
            <a:r>
              <a:rPr lang="en-US" sz="2225" b="1">
                <a:solidFill>
                  <a:srgbClr val="D3410D"/>
                </a:solidFill>
                <a:latin typeface="Poppins Bold" panose="00000800000000000000"/>
                <a:ea typeface="Poppins Bold" panose="00000800000000000000"/>
                <a:cs typeface="Poppins Bold" panose="00000800000000000000"/>
                <a:sym typeface="Poppins Bold" panose="00000800000000000000"/>
              </a:rPr>
              <a:t>more attention</a:t>
            </a:r>
            <a:r>
              <a:rPr lang="en-US" sz="2225">
                <a:solidFill>
                  <a:srgbClr val="FFFFFF"/>
                </a:solidFill>
                <a:latin typeface="Poppins" panose="00000500000000000000"/>
                <a:ea typeface="Poppins" panose="00000500000000000000"/>
                <a:cs typeface="Poppins" panose="00000500000000000000"/>
                <a:sym typeface="Poppins" panose="00000500000000000000"/>
              </a:rPr>
              <a:t>.</a:t>
            </a:r>
            <a:endParaRPr lang="en-US" sz="2225">
              <a:solidFill>
                <a:srgbClr val="FFFFFF"/>
              </a:solidFill>
              <a:latin typeface="Poppins" panose="00000500000000000000"/>
              <a:ea typeface="Poppins" panose="00000500000000000000"/>
              <a:cs typeface="Poppins" panose="00000500000000000000"/>
              <a:sym typeface="Poppins" panose="00000500000000000000"/>
            </a:endParaRPr>
          </a:p>
          <a:p>
            <a:pPr algn="ctr">
              <a:lnSpc>
                <a:spcPts val="3115"/>
              </a:lnSpc>
            </a:p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22" b="-9222"/>
            </a:stretch>
          </a:blipFill>
        </p:spPr>
      </p:sp>
      <p:sp>
        <p:nvSpPr>
          <p:cNvPr id="3" name="TextBox 3"/>
          <p:cNvSpPr txBox="1"/>
          <p:nvPr/>
        </p:nvSpPr>
        <p:spPr>
          <a:xfrm>
            <a:off x="726138" y="514911"/>
            <a:ext cx="12083623" cy="1541665"/>
          </a:xfrm>
          <a:prstGeom prst="rect">
            <a:avLst/>
          </a:prstGeom>
        </p:spPr>
        <p:txBody>
          <a:bodyPr lIns="0" tIns="0" rIns="0" bIns="0" rtlCol="0" anchor="t">
            <a:spAutoFit/>
          </a:bodyPr>
          <a:lstStyle/>
          <a:p>
            <a:pPr algn="l">
              <a:lnSpc>
                <a:spcPts val="5895"/>
              </a:lnSpc>
            </a:pPr>
            <a:r>
              <a:rPr lang="en-US" sz="6205"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rPr>
              <a:t>HOMETOWN BIAS OR TRUE CONTENDERS?</a:t>
            </a:r>
            <a:endParaRPr lang="en-US" sz="6205"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endParaRPr>
          </a:p>
          <a:p>
            <a:pPr algn="l">
              <a:lnSpc>
                <a:spcPts val="5895"/>
              </a:lnSpc>
            </a:pPr>
          </a:p>
        </p:txBody>
      </p:sp>
      <p:grpSp>
        <p:nvGrpSpPr>
          <p:cNvPr id="4" name="Group 4"/>
          <p:cNvGrpSpPr/>
          <p:nvPr/>
        </p:nvGrpSpPr>
        <p:grpSpPr>
          <a:xfrm rot="0">
            <a:off x="7022071" y="1209543"/>
            <a:ext cx="12084988" cy="9190328"/>
            <a:chOff x="0" y="0"/>
            <a:chExt cx="3040033" cy="2311868"/>
          </a:xfrm>
        </p:grpSpPr>
        <p:sp>
          <p:nvSpPr>
            <p:cNvPr id="5" name="Freeform 5"/>
            <p:cNvSpPr/>
            <p:nvPr/>
          </p:nvSpPr>
          <p:spPr>
            <a:xfrm>
              <a:off x="0" y="0"/>
              <a:ext cx="3040033" cy="2311868"/>
            </a:xfrm>
            <a:custGeom>
              <a:avLst/>
              <a:gdLst/>
              <a:ahLst/>
              <a:cxnLst/>
              <a:rect l="l" t="t" r="r" b="b"/>
              <a:pathLst>
                <a:path w="3040033" h="2311868">
                  <a:moveTo>
                    <a:pt x="203200" y="0"/>
                  </a:moveTo>
                  <a:lnTo>
                    <a:pt x="3040033" y="0"/>
                  </a:lnTo>
                  <a:lnTo>
                    <a:pt x="2836833" y="2311868"/>
                  </a:lnTo>
                  <a:lnTo>
                    <a:pt x="0" y="2311868"/>
                  </a:lnTo>
                  <a:lnTo>
                    <a:pt x="203200" y="0"/>
                  </a:lnTo>
                  <a:close/>
                </a:path>
              </a:pathLst>
            </a:custGeom>
            <a:gradFill rotWithShape="1">
              <a:gsLst>
                <a:gs pos="0">
                  <a:srgbClr val="8D2600">
                    <a:alpha val="100000"/>
                  </a:srgbClr>
                </a:gs>
                <a:gs pos="100000">
                  <a:srgbClr val="FF4500">
                    <a:alpha val="100000"/>
                  </a:srgbClr>
                </a:gs>
              </a:gsLst>
              <a:lin ang="0"/>
            </a:gradFill>
          </p:spPr>
        </p:sp>
        <p:sp>
          <p:nvSpPr>
            <p:cNvPr id="6" name="TextBox 6"/>
            <p:cNvSpPr txBox="1"/>
            <p:nvPr/>
          </p:nvSpPr>
          <p:spPr>
            <a:xfrm>
              <a:off x="101600" y="-57150"/>
              <a:ext cx="2836833" cy="2369018"/>
            </a:xfrm>
            <a:prstGeom prst="rect">
              <a:avLst/>
            </a:prstGeom>
          </p:spPr>
          <p:txBody>
            <a:bodyPr lIns="50800" tIns="50800" rIns="50800" bIns="50800" rtlCol="0" anchor="ctr"/>
            <a:lstStyle/>
            <a:p>
              <a:pPr algn="ctr">
                <a:lnSpc>
                  <a:spcPts val="2800"/>
                </a:lnSpc>
              </a:pPr>
            </a:p>
          </p:txBody>
        </p:sp>
      </p:grpSp>
      <p:sp>
        <p:nvSpPr>
          <p:cNvPr id="7" name="Freeform 7"/>
          <p:cNvSpPr/>
          <p:nvPr/>
        </p:nvSpPr>
        <p:spPr>
          <a:xfrm>
            <a:off x="0" y="2056575"/>
            <a:ext cx="12493737" cy="7023481"/>
          </a:xfrm>
          <a:custGeom>
            <a:avLst/>
            <a:gdLst/>
            <a:ahLst/>
            <a:cxnLst/>
            <a:rect l="l" t="t" r="r" b="b"/>
            <a:pathLst>
              <a:path w="12493737" h="7023481">
                <a:moveTo>
                  <a:pt x="0" y="0"/>
                </a:moveTo>
                <a:lnTo>
                  <a:pt x="12493737" y="0"/>
                </a:lnTo>
                <a:lnTo>
                  <a:pt x="12493737" y="7023481"/>
                </a:lnTo>
                <a:lnTo>
                  <a:pt x="0" y="7023481"/>
                </a:lnTo>
                <a:lnTo>
                  <a:pt x="0" y="0"/>
                </a:lnTo>
                <a:close/>
              </a:path>
            </a:pathLst>
          </a:custGeom>
          <a:blipFill>
            <a:blip r:embed="rId2"/>
            <a:stretch>
              <a:fillRect l="-2675" t="-28788" r="-4499" b="-852"/>
            </a:stretch>
          </a:blipFill>
        </p:spPr>
      </p:sp>
      <p:sp>
        <p:nvSpPr>
          <p:cNvPr id="8" name="Freeform 8"/>
          <p:cNvSpPr/>
          <p:nvPr/>
        </p:nvSpPr>
        <p:spPr>
          <a:xfrm>
            <a:off x="10482088" y="6325421"/>
            <a:ext cx="2011648" cy="2754635"/>
          </a:xfrm>
          <a:custGeom>
            <a:avLst/>
            <a:gdLst/>
            <a:ahLst/>
            <a:cxnLst/>
            <a:rect l="l" t="t" r="r" b="b"/>
            <a:pathLst>
              <a:path w="2011648" h="2754635">
                <a:moveTo>
                  <a:pt x="0" y="0"/>
                </a:moveTo>
                <a:lnTo>
                  <a:pt x="2011649" y="0"/>
                </a:lnTo>
                <a:lnTo>
                  <a:pt x="2011649" y="2754635"/>
                </a:lnTo>
                <a:lnTo>
                  <a:pt x="0" y="2754635"/>
                </a:lnTo>
                <a:lnTo>
                  <a:pt x="0" y="0"/>
                </a:lnTo>
                <a:close/>
              </a:path>
            </a:pathLst>
          </a:custGeom>
          <a:blipFill>
            <a:blip r:embed="rId3"/>
            <a:stretch>
              <a:fillRect t="-48" r="-650" b="-48"/>
            </a:stretch>
          </a:blipFill>
        </p:spPr>
      </p:sp>
      <p:sp>
        <p:nvSpPr>
          <p:cNvPr id="9" name="TextBox 9"/>
          <p:cNvSpPr txBox="1"/>
          <p:nvPr/>
        </p:nvSpPr>
        <p:spPr>
          <a:xfrm>
            <a:off x="12711690" y="1970850"/>
            <a:ext cx="5396099" cy="7626144"/>
          </a:xfrm>
          <a:prstGeom prst="rect">
            <a:avLst/>
          </a:prstGeom>
        </p:spPr>
        <p:txBody>
          <a:bodyPr lIns="0" tIns="0" rIns="0" bIns="0" rtlCol="0" anchor="t">
            <a:spAutoFit/>
          </a:bodyPr>
          <a:lstStyle/>
          <a:p>
            <a:pPr algn="just">
              <a:lnSpc>
                <a:spcPts val="2575"/>
              </a:lnSpc>
            </a:pPr>
          </a:p>
          <a:p>
            <a:pPr algn="just">
              <a:lnSpc>
                <a:spcPts val="3065"/>
              </a:lnSpc>
            </a:pPr>
            <a:r>
              <a:rPr lang="en-US" sz="1805" b="1">
                <a:solidFill>
                  <a:srgbClr val="FFFFFF"/>
                </a:solidFill>
                <a:latin typeface="Poppins Bold" panose="00000800000000000000"/>
                <a:ea typeface="Poppins Bold" panose="00000800000000000000"/>
                <a:cs typeface="Poppins Bold" panose="00000800000000000000"/>
                <a:sym typeface="Poppins Bold" panose="00000800000000000000"/>
              </a:rPr>
              <a:t> 📍 Geospatial Visualization:</a:t>
            </a:r>
            <a:endParaRPr lang="en-US" sz="1805" b="1">
              <a:solidFill>
                <a:srgbClr val="FFFFFF"/>
              </a:solidFill>
              <a:latin typeface="Poppins Bold" panose="00000800000000000000"/>
              <a:ea typeface="Poppins Bold" panose="00000800000000000000"/>
              <a:cs typeface="Poppins Bold" panose="00000800000000000000"/>
              <a:sym typeface="Poppins Bold" panose="00000800000000000000"/>
            </a:endParaRPr>
          </a:p>
          <a:p>
            <a:pPr algn="just">
              <a:lnSpc>
                <a:spcPts val="3065"/>
              </a:lnSpc>
            </a:pPr>
            <a:r>
              <a:rPr lang="en-US" sz="1805">
                <a:solidFill>
                  <a:srgbClr val="FFFFFF"/>
                </a:solidFill>
                <a:latin typeface="Poppins" panose="00000500000000000000"/>
                <a:ea typeface="Poppins" panose="00000500000000000000"/>
                <a:cs typeface="Poppins" panose="00000500000000000000"/>
                <a:sym typeface="Poppins" panose="00000500000000000000"/>
              </a:rPr>
              <a:t> • Shows </a:t>
            </a:r>
            <a:r>
              <a:rPr lang="en-US" sz="1805" b="1">
                <a:solidFill>
                  <a:srgbClr val="FFFFFF"/>
                </a:solidFill>
                <a:latin typeface="Poppins Bold" panose="00000800000000000000"/>
                <a:ea typeface="Poppins Bold" panose="00000800000000000000"/>
                <a:cs typeface="Poppins Bold" panose="00000800000000000000"/>
                <a:sym typeface="Poppins Bold" panose="00000800000000000000"/>
              </a:rPr>
              <a:t>fan support distribution </a:t>
            </a:r>
            <a:r>
              <a:rPr lang="en-US" sz="1805">
                <a:solidFill>
                  <a:srgbClr val="FFFFFF"/>
                </a:solidFill>
                <a:latin typeface="Poppins" panose="00000500000000000000"/>
                <a:ea typeface="Poppins" panose="00000500000000000000"/>
                <a:cs typeface="Poppins" panose="00000500000000000000"/>
                <a:sym typeface="Poppins" panose="00000500000000000000"/>
              </a:rPr>
              <a:t>across U.S. regions.</a:t>
            </a:r>
            <a:endParaRPr lang="en-US" sz="1805">
              <a:solidFill>
                <a:srgbClr val="FFFFFF"/>
              </a:solidFill>
              <a:latin typeface="Poppins" panose="00000500000000000000"/>
              <a:ea typeface="Poppins" panose="00000500000000000000"/>
              <a:cs typeface="Poppins" panose="00000500000000000000"/>
              <a:sym typeface="Poppins" panose="00000500000000000000"/>
            </a:endParaRPr>
          </a:p>
          <a:p>
            <a:pPr algn="just">
              <a:lnSpc>
                <a:spcPts val="3065"/>
              </a:lnSpc>
            </a:pPr>
            <a:r>
              <a:rPr lang="en-US" sz="1805">
                <a:solidFill>
                  <a:srgbClr val="FFFFFF"/>
                </a:solidFill>
                <a:latin typeface="Poppins" panose="00000500000000000000"/>
                <a:ea typeface="Poppins" panose="00000500000000000000"/>
                <a:cs typeface="Poppins" panose="00000500000000000000"/>
                <a:sym typeface="Poppins" panose="00000500000000000000"/>
              </a:rPr>
              <a:t> • Bubble size = </a:t>
            </a:r>
            <a:r>
              <a:rPr lang="en-US" sz="1805" b="1">
                <a:solidFill>
                  <a:srgbClr val="FFFFFF"/>
                </a:solidFill>
                <a:latin typeface="Poppins Bold" panose="00000800000000000000"/>
                <a:ea typeface="Poppins Bold" panose="00000800000000000000"/>
                <a:cs typeface="Poppins Bold" panose="00000800000000000000"/>
                <a:sym typeface="Poppins Bold" panose="00000800000000000000"/>
              </a:rPr>
              <a:t>prediction rate</a:t>
            </a:r>
            <a:r>
              <a:rPr lang="en-US" sz="1805">
                <a:solidFill>
                  <a:srgbClr val="FFFFFF"/>
                </a:solidFill>
                <a:latin typeface="Poppins" panose="00000500000000000000"/>
                <a:ea typeface="Poppins" panose="00000500000000000000"/>
                <a:cs typeface="Poppins" panose="00000500000000000000"/>
                <a:sym typeface="Poppins" panose="00000500000000000000"/>
              </a:rPr>
              <a:t>.</a:t>
            </a:r>
            <a:endParaRPr lang="en-US" sz="1805">
              <a:solidFill>
                <a:srgbClr val="FFFFFF"/>
              </a:solidFill>
              <a:latin typeface="Poppins" panose="00000500000000000000"/>
              <a:ea typeface="Poppins" panose="00000500000000000000"/>
              <a:cs typeface="Poppins" panose="00000500000000000000"/>
              <a:sym typeface="Poppins" panose="00000500000000000000"/>
            </a:endParaRPr>
          </a:p>
          <a:p>
            <a:pPr algn="just">
              <a:lnSpc>
                <a:spcPts val="3065"/>
              </a:lnSpc>
            </a:pPr>
          </a:p>
          <a:p>
            <a:pPr algn="just">
              <a:lnSpc>
                <a:spcPts val="3065"/>
              </a:lnSpc>
            </a:pPr>
            <a:r>
              <a:rPr lang="en-US" sz="1805">
                <a:solidFill>
                  <a:srgbClr val="FFFFFF"/>
                </a:solidFill>
                <a:latin typeface="Poppins" panose="00000500000000000000"/>
                <a:ea typeface="Poppins" panose="00000500000000000000"/>
                <a:cs typeface="Poppins" panose="00000500000000000000"/>
                <a:sym typeface="Poppins" panose="00000500000000000000"/>
              </a:rPr>
              <a:t>  🔍</a:t>
            </a:r>
            <a:r>
              <a:rPr lang="en-US" sz="1805" b="1">
                <a:solidFill>
                  <a:srgbClr val="FFFFFF"/>
                </a:solidFill>
                <a:latin typeface="Poppins Bold" panose="00000800000000000000"/>
                <a:ea typeface="Poppins Bold" panose="00000800000000000000"/>
                <a:cs typeface="Poppins Bold" panose="00000800000000000000"/>
                <a:sym typeface="Poppins Bold" panose="00000800000000000000"/>
              </a:rPr>
              <a:t> Key Insights:</a:t>
            </a:r>
            <a:endParaRPr lang="en-US" sz="1805" b="1">
              <a:solidFill>
                <a:srgbClr val="FFFFFF"/>
              </a:solidFill>
              <a:latin typeface="Poppins Bold" panose="00000800000000000000"/>
              <a:ea typeface="Poppins Bold" panose="00000800000000000000"/>
              <a:cs typeface="Poppins Bold" panose="00000800000000000000"/>
              <a:sym typeface="Poppins Bold" panose="00000800000000000000"/>
            </a:endParaRPr>
          </a:p>
          <a:p>
            <a:pPr algn="just">
              <a:lnSpc>
                <a:spcPts val="3065"/>
              </a:lnSpc>
            </a:pPr>
            <a:r>
              <a:rPr lang="en-US" sz="1805">
                <a:solidFill>
                  <a:srgbClr val="FFFFFF"/>
                </a:solidFill>
                <a:latin typeface="Poppins" panose="00000500000000000000"/>
                <a:ea typeface="Poppins" panose="00000500000000000000"/>
                <a:cs typeface="Poppins" panose="00000500000000000000"/>
                <a:sym typeface="Poppins" panose="00000500000000000000"/>
              </a:rPr>
              <a:t> • </a:t>
            </a:r>
            <a:r>
              <a:rPr lang="en-US" sz="1805" b="1">
                <a:solidFill>
                  <a:srgbClr val="FFFFFF"/>
                </a:solidFill>
                <a:latin typeface="Poppins Bold" panose="00000800000000000000"/>
                <a:ea typeface="Poppins Bold" panose="00000800000000000000"/>
                <a:cs typeface="Poppins Bold" panose="00000800000000000000"/>
                <a:sym typeface="Poppins Bold" panose="00000800000000000000"/>
              </a:rPr>
              <a:t>Regional Bias:</a:t>
            </a:r>
            <a:r>
              <a:rPr lang="en-US" sz="1805">
                <a:solidFill>
                  <a:srgbClr val="FFFFFF"/>
                </a:solidFill>
                <a:latin typeface="Poppins" panose="00000500000000000000"/>
                <a:ea typeface="Poppins" panose="00000500000000000000"/>
                <a:cs typeface="Poppins" panose="00000500000000000000"/>
                <a:sym typeface="Poppins" panose="00000500000000000000"/>
              </a:rPr>
              <a:t> Fans favor local teams (e.g., </a:t>
            </a:r>
            <a:r>
              <a:rPr lang="en-US" sz="1805" b="1">
                <a:solidFill>
                  <a:srgbClr val="FFFFFF"/>
                </a:solidFill>
                <a:latin typeface="Poppins Bold" panose="00000800000000000000"/>
                <a:ea typeface="Poppins Bold" panose="00000800000000000000"/>
                <a:cs typeface="Poppins Bold" panose="00000800000000000000"/>
                <a:sym typeface="Poppins Bold" panose="00000800000000000000"/>
              </a:rPr>
              <a:t>Houston 40.16%</a:t>
            </a:r>
            <a:r>
              <a:rPr lang="en-US" sz="1805">
                <a:solidFill>
                  <a:srgbClr val="FFFFFF"/>
                </a:solidFill>
                <a:latin typeface="Poppins" panose="00000500000000000000"/>
                <a:ea typeface="Poppins" panose="00000500000000000000"/>
                <a:cs typeface="Poppins" panose="00000500000000000000"/>
                <a:sym typeface="Poppins" panose="00000500000000000000"/>
              </a:rPr>
              <a:t> in Texas, </a:t>
            </a:r>
            <a:r>
              <a:rPr lang="en-US" sz="1805" b="1">
                <a:solidFill>
                  <a:srgbClr val="FFFFFF"/>
                </a:solidFill>
                <a:latin typeface="Poppins Bold" panose="00000800000000000000"/>
                <a:ea typeface="Poppins Bold" panose="00000800000000000000"/>
                <a:cs typeface="Poppins Bold" panose="00000800000000000000"/>
                <a:sym typeface="Poppins Bold" panose="00000800000000000000"/>
              </a:rPr>
              <a:t>UConn 42.88%</a:t>
            </a:r>
            <a:r>
              <a:rPr lang="en-US" sz="1805">
                <a:solidFill>
                  <a:srgbClr val="FFFFFF"/>
                </a:solidFill>
                <a:latin typeface="Poppins" panose="00000500000000000000"/>
                <a:ea typeface="Poppins" panose="00000500000000000000"/>
                <a:cs typeface="Poppins" panose="00000500000000000000"/>
                <a:sym typeface="Poppins" panose="00000500000000000000"/>
              </a:rPr>
              <a:t> in Northeast).</a:t>
            </a:r>
            <a:endParaRPr lang="en-US" sz="1805">
              <a:solidFill>
                <a:srgbClr val="FFFFFF"/>
              </a:solidFill>
              <a:latin typeface="Poppins" panose="00000500000000000000"/>
              <a:ea typeface="Poppins" panose="00000500000000000000"/>
              <a:cs typeface="Poppins" panose="00000500000000000000"/>
              <a:sym typeface="Poppins" panose="00000500000000000000"/>
            </a:endParaRPr>
          </a:p>
          <a:p>
            <a:pPr algn="just">
              <a:lnSpc>
                <a:spcPts val="3065"/>
              </a:lnSpc>
            </a:pPr>
            <a:r>
              <a:rPr lang="en-US" sz="1805">
                <a:solidFill>
                  <a:srgbClr val="FFFFFF"/>
                </a:solidFill>
                <a:latin typeface="Poppins" panose="00000500000000000000"/>
                <a:ea typeface="Poppins" panose="00000500000000000000"/>
                <a:cs typeface="Poppins" panose="00000500000000000000"/>
                <a:sym typeface="Poppins" panose="00000500000000000000"/>
              </a:rPr>
              <a:t> • </a:t>
            </a:r>
            <a:r>
              <a:rPr lang="en-US" sz="1805" b="1">
                <a:solidFill>
                  <a:srgbClr val="FFFFFF"/>
                </a:solidFill>
                <a:latin typeface="Poppins Bold" panose="00000800000000000000"/>
                <a:ea typeface="Poppins Bold" panose="00000800000000000000"/>
                <a:cs typeface="Poppins Bold" panose="00000800000000000000"/>
                <a:sym typeface="Poppins Bold" panose="00000800000000000000"/>
              </a:rPr>
              <a:t>Varied Preferences:</a:t>
            </a:r>
            <a:r>
              <a:rPr lang="en-US" sz="1805">
                <a:solidFill>
                  <a:srgbClr val="FFFFFF"/>
                </a:solidFill>
                <a:latin typeface="Poppins" panose="00000500000000000000"/>
                <a:ea typeface="Poppins" panose="00000500000000000000"/>
                <a:cs typeface="Poppins" panose="00000500000000000000"/>
                <a:sym typeface="Poppins" panose="00000500000000000000"/>
              </a:rPr>
              <a:t> Some states show strong local loyalty, others more diverse guesses.</a:t>
            </a:r>
            <a:endParaRPr lang="en-US" sz="1805">
              <a:solidFill>
                <a:srgbClr val="FFFFFF"/>
              </a:solidFill>
              <a:latin typeface="Poppins" panose="00000500000000000000"/>
              <a:ea typeface="Poppins" panose="00000500000000000000"/>
              <a:cs typeface="Poppins" panose="00000500000000000000"/>
              <a:sym typeface="Poppins" panose="00000500000000000000"/>
            </a:endParaRPr>
          </a:p>
          <a:p>
            <a:pPr algn="just">
              <a:lnSpc>
                <a:spcPts val="3065"/>
              </a:lnSpc>
            </a:pPr>
            <a:r>
              <a:rPr lang="en-US" sz="1805">
                <a:solidFill>
                  <a:srgbClr val="FFFFFF"/>
                </a:solidFill>
                <a:latin typeface="Poppins" panose="00000500000000000000"/>
                <a:ea typeface="Poppins" panose="00000500000000000000"/>
                <a:cs typeface="Poppins" panose="00000500000000000000"/>
                <a:sym typeface="Poppins" panose="00000500000000000000"/>
              </a:rPr>
              <a:t> • </a:t>
            </a:r>
            <a:r>
              <a:rPr lang="en-US" sz="1805" b="1">
                <a:solidFill>
                  <a:srgbClr val="FFFFFF"/>
                </a:solidFill>
                <a:latin typeface="Poppins Bold" panose="00000800000000000000"/>
                <a:ea typeface="Poppins Bold" panose="00000800000000000000"/>
                <a:cs typeface="Poppins Bold" panose="00000800000000000000"/>
                <a:sym typeface="Poppins Bold" panose="00000800000000000000"/>
              </a:rPr>
              <a:t>Overestimation:</a:t>
            </a:r>
            <a:r>
              <a:rPr lang="en-US" sz="1805">
                <a:solidFill>
                  <a:srgbClr val="FFFFFF"/>
                </a:solidFill>
                <a:latin typeface="Poppins" panose="00000500000000000000"/>
                <a:ea typeface="Poppins" panose="00000500000000000000"/>
                <a:cs typeface="Poppins" panose="00000500000000000000"/>
                <a:sym typeface="Poppins" panose="00000500000000000000"/>
              </a:rPr>
              <a:t> Teams like </a:t>
            </a:r>
            <a:r>
              <a:rPr lang="en-US" sz="1805" b="1">
                <a:solidFill>
                  <a:srgbClr val="FFFFFF"/>
                </a:solidFill>
                <a:latin typeface="Poppins Bold" panose="00000800000000000000"/>
                <a:ea typeface="Poppins Bold" panose="00000800000000000000"/>
                <a:cs typeface="Poppins Bold" panose="00000800000000000000"/>
                <a:sym typeface="Poppins Bold" panose="00000800000000000000"/>
              </a:rPr>
              <a:t>Purdue (46.66%)</a:t>
            </a:r>
            <a:r>
              <a:rPr lang="en-US" sz="1805">
                <a:solidFill>
                  <a:srgbClr val="FFFFFF"/>
                </a:solidFill>
                <a:latin typeface="Poppins" panose="00000500000000000000"/>
                <a:ea typeface="Poppins" panose="00000500000000000000"/>
                <a:cs typeface="Poppins" panose="00000500000000000000"/>
                <a:sym typeface="Poppins" panose="00000500000000000000"/>
              </a:rPr>
              <a:t> in the </a:t>
            </a:r>
            <a:r>
              <a:rPr lang="en-US" sz="1805" b="1">
                <a:solidFill>
                  <a:srgbClr val="FFFFFF"/>
                </a:solidFill>
                <a:latin typeface="Poppins Bold" panose="00000800000000000000"/>
                <a:ea typeface="Poppins Bold" panose="00000800000000000000"/>
                <a:cs typeface="Poppins Bold" panose="00000800000000000000"/>
                <a:sym typeface="Poppins Bold" panose="00000800000000000000"/>
              </a:rPr>
              <a:t>Midwest</a:t>
            </a:r>
            <a:r>
              <a:rPr lang="en-US" sz="1805">
                <a:solidFill>
                  <a:srgbClr val="FFFFFF"/>
                </a:solidFill>
                <a:latin typeface="Poppins" panose="00000500000000000000"/>
                <a:ea typeface="Poppins" panose="00000500000000000000"/>
                <a:cs typeface="Poppins" panose="00000500000000000000"/>
                <a:sym typeface="Poppins" panose="00000500000000000000"/>
              </a:rPr>
              <a:t> may be </a:t>
            </a:r>
            <a:r>
              <a:rPr lang="en-US" sz="1805" b="1">
                <a:solidFill>
                  <a:srgbClr val="FFFFFF"/>
                </a:solidFill>
                <a:latin typeface="Poppins Bold" panose="00000800000000000000"/>
                <a:ea typeface="Poppins Bold" panose="00000800000000000000"/>
                <a:cs typeface="Poppins Bold" panose="00000800000000000000"/>
                <a:sym typeface="Poppins Bold" panose="00000800000000000000"/>
              </a:rPr>
              <a:t>overrated due to hometown bias.</a:t>
            </a:r>
            <a:endParaRPr lang="en-US" sz="1805" b="1">
              <a:solidFill>
                <a:srgbClr val="FFFFFF"/>
              </a:solidFill>
              <a:latin typeface="Poppins Bold" panose="00000800000000000000"/>
              <a:ea typeface="Poppins Bold" panose="00000800000000000000"/>
              <a:cs typeface="Poppins Bold" panose="00000800000000000000"/>
              <a:sym typeface="Poppins Bold" panose="00000800000000000000"/>
            </a:endParaRPr>
          </a:p>
          <a:p>
            <a:pPr algn="just">
              <a:lnSpc>
                <a:spcPts val="3065"/>
              </a:lnSpc>
            </a:pPr>
            <a:r>
              <a:rPr lang="en-US" sz="1805">
                <a:solidFill>
                  <a:srgbClr val="FFFFFF"/>
                </a:solidFill>
                <a:latin typeface="Poppins" panose="00000500000000000000"/>
                <a:ea typeface="Poppins" panose="00000500000000000000"/>
                <a:cs typeface="Poppins" panose="00000500000000000000"/>
                <a:sym typeface="Poppins" panose="00000500000000000000"/>
              </a:rPr>
              <a:t> </a:t>
            </a:r>
            <a:endParaRPr lang="en-US" sz="1805">
              <a:solidFill>
                <a:srgbClr val="FFFFFF"/>
              </a:solidFill>
              <a:latin typeface="Poppins" panose="00000500000000000000"/>
              <a:ea typeface="Poppins" panose="00000500000000000000"/>
              <a:cs typeface="Poppins" panose="00000500000000000000"/>
              <a:sym typeface="Poppins" panose="00000500000000000000"/>
            </a:endParaRPr>
          </a:p>
          <a:p>
            <a:pPr algn="just">
              <a:lnSpc>
                <a:spcPts val="2575"/>
              </a:lnSpc>
            </a:pPr>
          </a:p>
          <a:p>
            <a:pPr algn="just">
              <a:lnSpc>
                <a:spcPts val="2575"/>
              </a:lnSpc>
            </a:pPr>
          </a:p>
          <a:p>
            <a:pPr algn="just">
              <a:lnSpc>
                <a:spcPts val="2020"/>
              </a:lnSpc>
            </a:pPr>
          </a:p>
          <a:p>
            <a:pPr algn="just">
              <a:lnSpc>
                <a:spcPts val="2020"/>
              </a:lnSpc>
            </a:p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22" b="-9222"/>
            </a:stretch>
          </a:blipFill>
        </p:spPr>
      </p:sp>
      <p:grpSp>
        <p:nvGrpSpPr>
          <p:cNvPr id="3" name="Group 3"/>
          <p:cNvGrpSpPr/>
          <p:nvPr/>
        </p:nvGrpSpPr>
        <p:grpSpPr>
          <a:xfrm rot="0">
            <a:off x="1341999" y="2105173"/>
            <a:ext cx="7572139" cy="6076654"/>
            <a:chOff x="0" y="0"/>
            <a:chExt cx="2472652" cy="1984307"/>
          </a:xfrm>
        </p:grpSpPr>
        <p:sp>
          <p:nvSpPr>
            <p:cNvPr id="4" name="Freeform 4"/>
            <p:cNvSpPr/>
            <p:nvPr/>
          </p:nvSpPr>
          <p:spPr>
            <a:xfrm>
              <a:off x="0" y="0"/>
              <a:ext cx="2472652" cy="1984307"/>
            </a:xfrm>
            <a:custGeom>
              <a:avLst/>
              <a:gdLst/>
              <a:ahLst/>
              <a:cxnLst/>
              <a:rect l="l" t="t" r="r" b="b"/>
              <a:pathLst>
                <a:path w="2472652" h="1984307">
                  <a:moveTo>
                    <a:pt x="0" y="0"/>
                  </a:moveTo>
                  <a:lnTo>
                    <a:pt x="2472652" y="0"/>
                  </a:lnTo>
                  <a:lnTo>
                    <a:pt x="2472652" y="1984307"/>
                  </a:lnTo>
                  <a:lnTo>
                    <a:pt x="0" y="1984307"/>
                  </a:lnTo>
                  <a:close/>
                </a:path>
              </a:pathLst>
            </a:custGeom>
            <a:gradFill rotWithShape="1">
              <a:gsLst>
                <a:gs pos="0">
                  <a:srgbClr val="8D2600">
                    <a:alpha val="100000"/>
                  </a:srgbClr>
                </a:gs>
                <a:gs pos="100000">
                  <a:srgbClr val="FF4500">
                    <a:alpha val="100000"/>
                  </a:srgbClr>
                </a:gs>
              </a:gsLst>
              <a:lin ang="0"/>
            </a:gradFill>
          </p:spPr>
        </p:sp>
        <p:sp>
          <p:nvSpPr>
            <p:cNvPr id="5" name="TextBox 5"/>
            <p:cNvSpPr txBox="1"/>
            <p:nvPr/>
          </p:nvSpPr>
          <p:spPr>
            <a:xfrm>
              <a:off x="0" y="-57150"/>
              <a:ext cx="2472652" cy="2041457"/>
            </a:xfrm>
            <a:prstGeom prst="rect">
              <a:avLst/>
            </a:prstGeom>
          </p:spPr>
          <p:txBody>
            <a:bodyPr lIns="50800" tIns="50800" rIns="50800" bIns="50800" rtlCol="0" anchor="ctr"/>
            <a:lstStyle/>
            <a:p>
              <a:pPr algn="ctr">
                <a:lnSpc>
                  <a:spcPts val="2800"/>
                </a:lnSpc>
              </a:pPr>
            </a:p>
          </p:txBody>
        </p:sp>
      </p:grpSp>
      <p:grpSp>
        <p:nvGrpSpPr>
          <p:cNvPr id="6" name="Group 6"/>
          <p:cNvGrpSpPr/>
          <p:nvPr/>
        </p:nvGrpSpPr>
        <p:grpSpPr>
          <a:xfrm rot="0">
            <a:off x="-509048" y="2105173"/>
            <a:ext cx="9423186" cy="6076654"/>
            <a:chOff x="0" y="0"/>
            <a:chExt cx="806256" cy="519924"/>
          </a:xfrm>
        </p:grpSpPr>
        <p:sp>
          <p:nvSpPr>
            <p:cNvPr id="7" name="Freeform 7"/>
            <p:cNvSpPr/>
            <p:nvPr/>
          </p:nvSpPr>
          <p:spPr>
            <a:xfrm>
              <a:off x="0" y="0"/>
              <a:ext cx="806256" cy="519924"/>
            </a:xfrm>
            <a:custGeom>
              <a:avLst/>
              <a:gdLst/>
              <a:ahLst/>
              <a:cxnLst/>
              <a:rect l="l" t="t" r="r" b="b"/>
              <a:pathLst>
                <a:path w="806256" h="519924">
                  <a:moveTo>
                    <a:pt x="603056" y="0"/>
                  </a:moveTo>
                  <a:lnTo>
                    <a:pt x="0" y="0"/>
                  </a:lnTo>
                  <a:lnTo>
                    <a:pt x="0" y="519924"/>
                  </a:lnTo>
                  <a:lnTo>
                    <a:pt x="603056" y="519924"/>
                  </a:lnTo>
                  <a:lnTo>
                    <a:pt x="806256" y="259962"/>
                  </a:lnTo>
                  <a:lnTo>
                    <a:pt x="603056" y="0"/>
                  </a:lnTo>
                  <a:close/>
                </a:path>
              </a:pathLst>
            </a:custGeom>
            <a:blipFill>
              <a:blip r:embed="rId2"/>
              <a:stretch>
                <a:fillRect t="-8477" b="-31391"/>
              </a:stretch>
            </a:blipFill>
          </p:spPr>
        </p:sp>
      </p:grpSp>
      <p:sp>
        <p:nvSpPr>
          <p:cNvPr id="8" name="TextBox 8"/>
          <p:cNvSpPr txBox="1"/>
          <p:nvPr/>
        </p:nvSpPr>
        <p:spPr>
          <a:xfrm>
            <a:off x="9440548" y="2314723"/>
            <a:ext cx="6881606" cy="1162050"/>
          </a:xfrm>
          <a:prstGeom prst="rect">
            <a:avLst/>
          </a:prstGeom>
        </p:spPr>
        <p:txBody>
          <a:bodyPr lIns="0" tIns="0" rIns="0" bIns="0" rtlCol="0" anchor="t">
            <a:spAutoFit/>
          </a:bodyPr>
          <a:lstStyle/>
          <a:p>
            <a:pPr algn="l">
              <a:lnSpc>
                <a:spcPts val="8550"/>
              </a:lnSpc>
            </a:pPr>
            <a:r>
              <a:rPr lang="en-US" sz="90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rPr>
              <a:t>REGIONAL BIAS</a:t>
            </a:r>
            <a:endParaRPr lang="en-US" sz="90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endParaRPr>
          </a:p>
        </p:txBody>
      </p:sp>
      <p:sp>
        <p:nvSpPr>
          <p:cNvPr id="9" name="TextBox 9"/>
          <p:cNvSpPr txBox="1"/>
          <p:nvPr/>
        </p:nvSpPr>
        <p:spPr>
          <a:xfrm>
            <a:off x="9554199" y="3963232"/>
            <a:ext cx="7421765" cy="4434969"/>
          </a:xfrm>
          <a:prstGeom prst="rect">
            <a:avLst/>
          </a:prstGeom>
        </p:spPr>
        <p:txBody>
          <a:bodyPr lIns="0" tIns="0" rIns="0" bIns="0" rtlCol="0" anchor="t">
            <a:spAutoFit/>
          </a:bodyPr>
          <a:lstStyle/>
          <a:p>
            <a:pPr algn="just">
              <a:lnSpc>
                <a:spcPts val="2735"/>
              </a:lnSpc>
            </a:pPr>
            <a:r>
              <a:rPr lang="en-US" sz="1610" b="1">
                <a:solidFill>
                  <a:srgbClr val="FFFFFF"/>
                </a:solidFill>
                <a:latin typeface="Poppins Bold" panose="00000800000000000000"/>
                <a:ea typeface="Poppins Bold" panose="00000800000000000000"/>
                <a:cs typeface="Poppins Bold" panose="00000800000000000000"/>
                <a:sym typeface="Poppins Bold" panose="00000800000000000000"/>
              </a:rPr>
              <a:t>√ Higher Bias in Some States: States like </a:t>
            </a:r>
            <a:r>
              <a:rPr lang="en-US" sz="1610" b="1" i="1">
                <a:solidFill>
                  <a:srgbClr val="D3410D"/>
                </a:solidFill>
                <a:latin typeface="Poppins Bold Italics" panose="00000800000000000000"/>
                <a:ea typeface="Poppins Bold Italics" panose="00000800000000000000"/>
                <a:cs typeface="Poppins Bold Italics" panose="00000800000000000000"/>
                <a:sym typeface="Poppins Bold Italics" panose="00000800000000000000"/>
              </a:rPr>
              <a:t>Connecticut (Yale), Kentucky (Morehead St.), and Mississippi (Mississippi St.)</a:t>
            </a:r>
            <a:r>
              <a:rPr lang="en-US" sz="1610" b="1">
                <a:solidFill>
                  <a:srgbClr val="FFFFFF"/>
                </a:solidFill>
                <a:latin typeface="Poppins Bold" panose="00000800000000000000"/>
                <a:ea typeface="Poppins Bold" panose="00000800000000000000"/>
                <a:cs typeface="Poppins Bold" panose="00000800000000000000"/>
                <a:sym typeface="Poppins Bold" panose="00000800000000000000"/>
              </a:rPr>
              <a:t> show strong home-state favoritism, as seen by their darker shades.</a:t>
            </a:r>
            <a:endParaRPr lang="en-US" sz="1610" b="1">
              <a:solidFill>
                <a:srgbClr val="FFFFFF"/>
              </a:solidFill>
              <a:latin typeface="Poppins Bold" panose="00000800000000000000"/>
              <a:ea typeface="Poppins Bold" panose="00000800000000000000"/>
              <a:cs typeface="Poppins Bold" panose="00000800000000000000"/>
              <a:sym typeface="Poppins Bold" panose="00000800000000000000"/>
            </a:endParaRPr>
          </a:p>
          <a:p>
            <a:pPr algn="just">
              <a:lnSpc>
                <a:spcPts val="2735"/>
              </a:lnSpc>
            </a:pPr>
          </a:p>
          <a:p>
            <a:pPr algn="just">
              <a:lnSpc>
                <a:spcPts val="2735"/>
              </a:lnSpc>
            </a:pPr>
            <a:r>
              <a:rPr lang="en-US" sz="1610" b="1">
                <a:solidFill>
                  <a:srgbClr val="FFFFFF"/>
                </a:solidFill>
                <a:latin typeface="Poppins Bold" panose="00000800000000000000"/>
                <a:ea typeface="Poppins Bold" panose="00000800000000000000"/>
                <a:cs typeface="Poppins Bold" panose="00000800000000000000"/>
                <a:sym typeface="Poppins Bold" panose="00000800000000000000"/>
              </a:rPr>
              <a:t>√ Small Schools Can Have High Bias: Despite not being traditional powerhouses, teams like Morehead St. and Saint Peter’s have high local support, suggesting school loyalty influences predictions more than objective rankings.</a:t>
            </a:r>
            <a:endParaRPr lang="en-US" sz="1610" b="1">
              <a:solidFill>
                <a:srgbClr val="FFFFFF"/>
              </a:solidFill>
              <a:latin typeface="Poppins Bold" panose="00000800000000000000"/>
              <a:ea typeface="Poppins Bold" panose="00000800000000000000"/>
              <a:cs typeface="Poppins Bold" panose="00000800000000000000"/>
              <a:sym typeface="Poppins Bold" panose="00000800000000000000"/>
            </a:endParaRPr>
          </a:p>
          <a:p>
            <a:pPr algn="just">
              <a:lnSpc>
                <a:spcPts val="2735"/>
              </a:lnSpc>
            </a:pPr>
          </a:p>
          <a:p>
            <a:pPr algn="just">
              <a:lnSpc>
                <a:spcPts val="2735"/>
              </a:lnSpc>
            </a:pPr>
            <a:r>
              <a:rPr lang="en-US" sz="1610" b="1">
                <a:solidFill>
                  <a:srgbClr val="FFFFFF"/>
                </a:solidFill>
                <a:latin typeface="Poppins Bold" panose="00000800000000000000"/>
                <a:ea typeface="Poppins Bold" panose="00000800000000000000"/>
                <a:cs typeface="Poppins Bold" panose="00000800000000000000"/>
                <a:sym typeface="Poppins Bold" panose="00000800000000000000"/>
              </a:rPr>
              <a:t>√ Potential School Affinity Effect: The darker the shade, the stronger the local prediction bias, suggesting that users tend to pick teams from their own state regardless of team strength.</a:t>
            </a:r>
            <a:endParaRPr lang="en-US" sz="1610" b="1">
              <a:solidFill>
                <a:srgbClr val="FFFFFF"/>
              </a:solidFill>
              <a:latin typeface="Poppins Bold" panose="00000800000000000000"/>
              <a:ea typeface="Poppins Bold" panose="00000800000000000000"/>
              <a:cs typeface="Poppins Bold" panose="00000800000000000000"/>
              <a:sym typeface="Poppins Bold" panose="00000800000000000000"/>
            </a:endParaRPr>
          </a:p>
          <a:p>
            <a:pPr algn="just">
              <a:lnSpc>
                <a:spcPts val="2560"/>
              </a:lnSpc>
            </a:pPr>
          </a:p>
        </p:txBody>
      </p:sp>
      <p:sp>
        <p:nvSpPr>
          <p:cNvPr id="10" name="TextBox 10"/>
          <p:cNvSpPr txBox="1"/>
          <p:nvPr/>
        </p:nvSpPr>
        <p:spPr>
          <a:xfrm>
            <a:off x="9328794" y="3247358"/>
            <a:ext cx="8246864" cy="392155"/>
          </a:xfrm>
          <a:prstGeom prst="rect">
            <a:avLst/>
          </a:prstGeom>
        </p:spPr>
        <p:txBody>
          <a:bodyPr lIns="0" tIns="0" rIns="0" bIns="0" rtlCol="0" anchor="t">
            <a:spAutoFit/>
          </a:bodyPr>
          <a:lstStyle/>
          <a:p>
            <a:pPr algn="ctr">
              <a:lnSpc>
                <a:spcPts val="3060"/>
              </a:lnSpc>
            </a:pPr>
            <a:r>
              <a:rPr lang="en-US" sz="2185" b="1" i="1">
                <a:solidFill>
                  <a:srgbClr val="D3410D"/>
                </a:solidFill>
                <a:latin typeface="Poppins Bold Italics" panose="00000800000000000000"/>
                <a:ea typeface="Poppins Bold Italics" panose="00000800000000000000"/>
                <a:cs typeface="Poppins Bold Italics" panose="00000800000000000000"/>
                <a:sym typeface="Poppins Bold Italics" panose="00000800000000000000"/>
              </a:rPr>
              <a:t>Favouritism of Predicted Team in Home State vs All States</a:t>
            </a:r>
            <a:endParaRPr lang="en-US" sz="2185" b="1" i="1">
              <a:solidFill>
                <a:srgbClr val="D3410D"/>
              </a:solidFill>
              <a:latin typeface="Poppins Bold Italics" panose="00000800000000000000"/>
              <a:ea typeface="Poppins Bold Italics" panose="00000800000000000000"/>
              <a:cs typeface="Poppins Bold Italics" panose="00000800000000000000"/>
              <a:sym typeface="Poppins Bold Italics" panose="0000080000000000000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22" b="-9222"/>
            </a:stretch>
          </a:blipFill>
        </p:spPr>
      </p:sp>
      <p:grpSp>
        <p:nvGrpSpPr>
          <p:cNvPr id="3" name="Group 3"/>
          <p:cNvGrpSpPr/>
          <p:nvPr/>
        </p:nvGrpSpPr>
        <p:grpSpPr>
          <a:xfrm rot="0">
            <a:off x="-2762179" y="1519239"/>
            <a:ext cx="21050179" cy="8342737"/>
            <a:chOff x="0" y="0"/>
            <a:chExt cx="4730752" cy="1874921"/>
          </a:xfrm>
        </p:grpSpPr>
        <p:sp>
          <p:nvSpPr>
            <p:cNvPr id="4" name="Freeform 4"/>
            <p:cNvSpPr/>
            <p:nvPr/>
          </p:nvSpPr>
          <p:spPr>
            <a:xfrm>
              <a:off x="0" y="0"/>
              <a:ext cx="4730752" cy="1874921"/>
            </a:xfrm>
            <a:custGeom>
              <a:avLst/>
              <a:gdLst/>
              <a:ahLst/>
              <a:cxnLst/>
              <a:rect l="l" t="t" r="r" b="b"/>
              <a:pathLst>
                <a:path w="4730752" h="1874921">
                  <a:moveTo>
                    <a:pt x="203200" y="0"/>
                  </a:moveTo>
                  <a:lnTo>
                    <a:pt x="4730752" y="0"/>
                  </a:lnTo>
                  <a:lnTo>
                    <a:pt x="4527552" y="1874921"/>
                  </a:lnTo>
                  <a:lnTo>
                    <a:pt x="0" y="1874921"/>
                  </a:lnTo>
                  <a:lnTo>
                    <a:pt x="203200" y="0"/>
                  </a:lnTo>
                  <a:close/>
                </a:path>
              </a:pathLst>
            </a:custGeom>
            <a:gradFill rotWithShape="1">
              <a:gsLst>
                <a:gs pos="0">
                  <a:srgbClr val="8D2600">
                    <a:alpha val="100000"/>
                  </a:srgbClr>
                </a:gs>
                <a:gs pos="100000">
                  <a:srgbClr val="FF4500">
                    <a:alpha val="100000"/>
                  </a:srgbClr>
                </a:gs>
              </a:gsLst>
              <a:lin ang="0"/>
            </a:gradFill>
          </p:spPr>
        </p:sp>
        <p:sp>
          <p:nvSpPr>
            <p:cNvPr id="5" name="TextBox 5"/>
            <p:cNvSpPr txBox="1"/>
            <p:nvPr/>
          </p:nvSpPr>
          <p:spPr>
            <a:xfrm>
              <a:off x="101600" y="-57150"/>
              <a:ext cx="4527552" cy="1932071"/>
            </a:xfrm>
            <a:prstGeom prst="rect">
              <a:avLst/>
            </a:prstGeom>
          </p:spPr>
          <p:txBody>
            <a:bodyPr lIns="50800" tIns="50800" rIns="50800" bIns="50800" rtlCol="0" anchor="ctr"/>
            <a:lstStyle/>
            <a:p>
              <a:pPr algn="ctr">
                <a:lnSpc>
                  <a:spcPts val="2800"/>
                </a:lnSpc>
              </a:pPr>
            </a:p>
          </p:txBody>
        </p:sp>
      </p:grpSp>
      <p:sp>
        <p:nvSpPr>
          <p:cNvPr id="6" name="Freeform 6"/>
          <p:cNvSpPr/>
          <p:nvPr/>
        </p:nvSpPr>
        <p:spPr>
          <a:xfrm>
            <a:off x="0" y="1519239"/>
            <a:ext cx="11785144" cy="8342737"/>
          </a:xfrm>
          <a:custGeom>
            <a:avLst/>
            <a:gdLst/>
            <a:ahLst/>
            <a:cxnLst/>
            <a:rect l="l" t="t" r="r" b="b"/>
            <a:pathLst>
              <a:path w="11785144" h="8342737">
                <a:moveTo>
                  <a:pt x="0" y="0"/>
                </a:moveTo>
                <a:lnTo>
                  <a:pt x="11785144" y="0"/>
                </a:lnTo>
                <a:lnTo>
                  <a:pt x="11785144" y="8342737"/>
                </a:lnTo>
                <a:lnTo>
                  <a:pt x="0" y="8342737"/>
                </a:lnTo>
                <a:lnTo>
                  <a:pt x="0" y="0"/>
                </a:lnTo>
                <a:close/>
              </a:path>
            </a:pathLst>
          </a:custGeom>
          <a:blipFill>
            <a:blip r:embed="rId2"/>
            <a:stretch>
              <a:fillRect t="-1702" r="-316" b="-11664"/>
            </a:stretch>
          </a:blipFill>
        </p:spPr>
      </p:sp>
      <p:sp>
        <p:nvSpPr>
          <p:cNvPr id="7" name="TextBox 7"/>
          <p:cNvSpPr txBox="1"/>
          <p:nvPr/>
        </p:nvSpPr>
        <p:spPr>
          <a:xfrm>
            <a:off x="181542" y="522205"/>
            <a:ext cx="17630761" cy="1127290"/>
          </a:xfrm>
          <a:prstGeom prst="rect">
            <a:avLst/>
          </a:prstGeom>
        </p:spPr>
        <p:txBody>
          <a:bodyPr lIns="0" tIns="0" rIns="0" bIns="0" rtlCol="0" anchor="t">
            <a:spAutoFit/>
          </a:bodyPr>
          <a:lstStyle/>
          <a:p>
            <a:pPr algn="l">
              <a:lnSpc>
                <a:spcPts val="4355"/>
              </a:lnSpc>
            </a:pPr>
            <a:r>
              <a:rPr lang="en-US" sz="4585"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rPr>
              <a:t>DOES WOMEN’S BASKETBALL POPULARITY INFLUENCE MEN’S BASKETBALL SUPPORT?</a:t>
            </a:r>
            <a:endParaRPr lang="en-US" sz="4585"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endParaRPr>
          </a:p>
          <a:p>
            <a:pPr algn="l">
              <a:lnSpc>
                <a:spcPts val="4355"/>
              </a:lnSpc>
            </a:pPr>
          </a:p>
        </p:txBody>
      </p:sp>
      <p:sp>
        <p:nvSpPr>
          <p:cNvPr id="8" name="TextBox 8"/>
          <p:cNvSpPr txBox="1"/>
          <p:nvPr/>
        </p:nvSpPr>
        <p:spPr>
          <a:xfrm>
            <a:off x="11607113" y="1692363"/>
            <a:ext cx="5817380" cy="7461597"/>
          </a:xfrm>
          <a:prstGeom prst="rect">
            <a:avLst/>
          </a:prstGeom>
        </p:spPr>
        <p:txBody>
          <a:bodyPr lIns="0" tIns="0" rIns="0" bIns="0" rtlCol="0" anchor="t">
            <a:spAutoFit/>
          </a:bodyPr>
          <a:lstStyle/>
          <a:p>
            <a:pPr marL="398145" lvl="1" indent="-199390" algn="just">
              <a:lnSpc>
                <a:spcPts val="3135"/>
              </a:lnSpc>
              <a:buFont typeface="Arial" panose="020B0604020202020204"/>
              <a:buChar char="•"/>
            </a:pPr>
            <a:r>
              <a:rPr lang="en-US" sz="1845" b="1">
                <a:solidFill>
                  <a:srgbClr val="FFFFFF"/>
                </a:solidFill>
                <a:latin typeface="Poppins Bold" panose="00000800000000000000"/>
                <a:ea typeface="Poppins Bold" panose="00000800000000000000"/>
                <a:cs typeface="Poppins Bold" panose="00000800000000000000"/>
                <a:sym typeface="Poppins Bold" panose="00000800000000000000"/>
              </a:rPr>
              <a:t>Strong Women’s Basketball Programs → Loyal Fanbase</a:t>
            </a:r>
            <a:endParaRPr lang="en-US" sz="1845" b="1">
              <a:solidFill>
                <a:srgbClr val="FFFFFF"/>
              </a:solidFill>
              <a:latin typeface="Poppins Bold" panose="00000800000000000000"/>
              <a:ea typeface="Poppins Bold" panose="00000800000000000000"/>
              <a:cs typeface="Poppins Bold" panose="00000800000000000000"/>
              <a:sym typeface="Poppins Bold" panose="00000800000000000000"/>
            </a:endParaRPr>
          </a:p>
          <a:p>
            <a:pPr marL="796290" lvl="2" indent="-265430" algn="just">
              <a:lnSpc>
                <a:spcPts val="3135"/>
              </a:lnSpc>
              <a:buFont typeface="Arial" panose="020B0604020202020204"/>
              <a:buChar char="⚬"/>
            </a:pPr>
            <a:r>
              <a:rPr lang="en-US" sz="1845" b="1">
                <a:solidFill>
                  <a:srgbClr val="000000"/>
                </a:solidFill>
                <a:latin typeface="Poppins Bold" panose="00000800000000000000"/>
                <a:ea typeface="Poppins Bold" panose="00000800000000000000"/>
                <a:cs typeface="Poppins Bold" panose="00000800000000000000"/>
                <a:sym typeface="Poppins Bold" panose="00000800000000000000"/>
              </a:rPr>
              <a:t>UConn, Stanford, and South Carolina show consistently high win rates &amp; strong fan engagement.</a:t>
            </a:r>
            <a:endParaRPr lang="en-US" sz="1845" b="1">
              <a:solidFill>
                <a:srgbClr val="000000"/>
              </a:solidFill>
              <a:latin typeface="Poppins Bold" panose="00000800000000000000"/>
              <a:ea typeface="Poppins Bold" panose="00000800000000000000"/>
              <a:cs typeface="Poppins Bold" panose="00000800000000000000"/>
              <a:sym typeface="Poppins Bold" panose="00000800000000000000"/>
            </a:endParaRPr>
          </a:p>
          <a:p>
            <a:pPr algn="just">
              <a:lnSpc>
                <a:spcPts val="3135"/>
              </a:lnSpc>
            </a:pPr>
          </a:p>
          <a:p>
            <a:pPr marL="398145" lvl="1" indent="-199390" algn="just">
              <a:lnSpc>
                <a:spcPts val="3135"/>
              </a:lnSpc>
              <a:buFont typeface="Arial" panose="020B0604020202020204"/>
              <a:buChar char="•"/>
            </a:pPr>
            <a:r>
              <a:rPr lang="en-US" sz="1845" b="1">
                <a:solidFill>
                  <a:srgbClr val="FFFFFF"/>
                </a:solidFill>
                <a:latin typeface="Poppins Bold" panose="00000800000000000000"/>
                <a:ea typeface="Poppins Bold" panose="00000800000000000000"/>
                <a:cs typeface="Poppins Bold" panose="00000800000000000000"/>
                <a:sym typeface="Poppins Bold" panose="00000800000000000000"/>
              </a:rPr>
              <a:t>Possible Link Between Women’s &amp; Men’s Support</a:t>
            </a:r>
            <a:endParaRPr lang="en-US" sz="1845" b="1">
              <a:solidFill>
                <a:srgbClr val="FFFFFF"/>
              </a:solidFill>
              <a:latin typeface="Poppins Bold" panose="00000800000000000000"/>
              <a:ea typeface="Poppins Bold" panose="00000800000000000000"/>
              <a:cs typeface="Poppins Bold" panose="00000800000000000000"/>
              <a:sym typeface="Poppins Bold" panose="00000800000000000000"/>
            </a:endParaRPr>
          </a:p>
          <a:p>
            <a:pPr marL="796290" lvl="2" indent="-265430" algn="just">
              <a:lnSpc>
                <a:spcPts val="3135"/>
              </a:lnSpc>
              <a:buFont typeface="Arial" panose="020B0604020202020204"/>
              <a:buChar char="⚬"/>
            </a:pPr>
            <a:r>
              <a:rPr lang="en-US" sz="1845" b="1">
                <a:solidFill>
                  <a:srgbClr val="000000"/>
                </a:solidFill>
                <a:latin typeface="Poppins Bold" panose="00000800000000000000"/>
                <a:ea typeface="Poppins Bold" panose="00000800000000000000"/>
                <a:cs typeface="Poppins Bold" panose="00000800000000000000"/>
                <a:sym typeface="Poppins Bold" panose="00000800000000000000"/>
              </a:rPr>
              <a:t>Universities</a:t>
            </a:r>
            <a:r>
              <a:rPr lang="en-US" sz="1845" b="1">
                <a:solidFill>
                  <a:srgbClr val="000000"/>
                </a:solidFill>
                <a:latin typeface="Poppins Bold" panose="00000800000000000000"/>
                <a:ea typeface="Poppins Bold" panose="00000800000000000000"/>
                <a:cs typeface="Poppins Bold" panose="00000800000000000000"/>
                <a:sym typeface="Poppins Bold" panose="00000800000000000000"/>
              </a:rPr>
              <a:t> with dominant women’s teams often have well-recognized men’s programs, suggesting a potential crossover effect.</a:t>
            </a:r>
            <a:endParaRPr lang="en-US" sz="1845" b="1">
              <a:solidFill>
                <a:srgbClr val="000000"/>
              </a:solidFill>
              <a:latin typeface="Poppins Bold" panose="00000800000000000000"/>
              <a:ea typeface="Poppins Bold" panose="00000800000000000000"/>
              <a:cs typeface="Poppins Bold" panose="00000800000000000000"/>
              <a:sym typeface="Poppins Bold" panose="00000800000000000000"/>
            </a:endParaRPr>
          </a:p>
          <a:p>
            <a:pPr algn="just">
              <a:lnSpc>
                <a:spcPts val="3135"/>
              </a:lnSpc>
            </a:pPr>
          </a:p>
          <a:p>
            <a:pPr marL="398145" lvl="1" indent="-199390" algn="just">
              <a:lnSpc>
                <a:spcPts val="3135"/>
              </a:lnSpc>
              <a:buFont typeface="Arial" panose="020B0604020202020204"/>
              <a:buChar char="•"/>
            </a:pPr>
            <a:r>
              <a:rPr lang="en-US" sz="1845" b="1">
                <a:solidFill>
                  <a:srgbClr val="000000"/>
                </a:solidFill>
                <a:latin typeface="Poppins Bold" panose="00000800000000000000"/>
                <a:ea typeface="Poppins Bold" panose="00000800000000000000"/>
                <a:cs typeface="Poppins Bold" panose="00000800000000000000"/>
                <a:sym typeface="Poppins Bold" panose="00000800000000000000"/>
              </a:rPr>
              <a:t> </a:t>
            </a:r>
            <a:r>
              <a:rPr lang="en-US" sz="1845" b="1">
                <a:solidFill>
                  <a:srgbClr val="FFFFFF"/>
                </a:solidFill>
                <a:latin typeface="Poppins Bold" panose="00000800000000000000"/>
                <a:ea typeface="Poppins Bold" panose="00000800000000000000"/>
                <a:cs typeface="Poppins Bold" panose="00000800000000000000"/>
                <a:sym typeface="Poppins Bold" panose="00000800000000000000"/>
              </a:rPr>
              <a:t>Regional &amp; Historical Influence</a:t>
            </a:r>
            <a:endParaRPr lang="en-US" sz="1845" b="1">
              <a:solidFill>
                <a:srgbClr val="FFFFFF"/>
              </a:solidFill>
              <a:latin typeface="Poppins Bold" panose="00000800000000000000"/>
              <a:ea typeface="Poppins Bold" panose="00000800000000000000"/>
              <a:cs typeface="Poppins Bold" panose="00000800000000000000"/>
              <a:sym typeface="Poppins Bold" panose="00000800000000000000"/>
            </a:endParaRPr>
          </a:p>
          <a:p>
            <a:pPr marL="796290" lvl="2" indent="-265430" algn="just">
              <a:lnSpc>
                <a:spcPts val="3135"/>
              </a:lnSpc>
              <a:buFont typeface="Arial" panose="020B0604020202020204"/>
              <a:buChar char="⚬"/>
            </a:pPr>
            <a:r>
              <a:rPr lang="en-US" sz="1845" b="1">
                <a:solidFill>
                  <a:srgbClr val="000000"/>
                </a:solidFill>
                <a:latin typeface="Poppins Bold" panose="00000800000000000000"/>
                <a:ea typeface="Poppins Bold" panose="00000800000000000000"/>
                <a:cs typeface="Poppins Bold" panose="00000800000000000000"/>
                <a:sym typeface="Poppins Bold" panose="00000800000000000000"/>
              </a:rPr>
              <a:t> Fan support may extend across genders due to school-wide sports culture and local loyalty.</a:t>
            </a:r>
            <a:endParaRPr lang="en-US" sz="1845" b="1">
              <a:solidFill>
                <a:srgbClr val="000000"/>
              </a:solidFill>
              <a:latin typeface="Poppins Bold" panose="00000800000000000000"/>
              <a:ea typeface="Poppins Bold" panose="00000800000000000000"/>
              <a:cs typeface="Poppins Bold" panose="00000800000000000000"/>
              <a:sym typeface="Poppins Bold" panose="00000800000000000000"/>
            </a:endParaRPr>
          </a:p>
          <a:p>
            <a:pPr algn="just">
              <a:lnSpc>
                <a:spcPts val="3305"/>
              </a:lnSpc>
            </a:pPr>
          </a:p>
          <a:p>
            <a:pPr algn="just">
              <a:lnSpc>
                <a:spcPts val="3305"/>
              </a:lnSpc>
            </a:p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22" b="-9222"/>
            </a:stretch>
          </a:blipFill>
        </p:spPr>
      </p:sp>
      <p:grpSp>
        <p:nvGrpSpPr>
          <p:cNvPr id="3" name="Group 3"/>
          <p:cNvGrpSpPr/>
          <p:nvPr/>
        </p:nvGrpSpPr>
        <p:grpSpPr>
          <a:xfrm rot="0">
            <a:off x="-223578" y="4945216"/>
            <a:ext cx="3976178" cy="10781843"/>
            <a:chOff x="0" y="0"/>
            <a:chExt cx="472130" cy="1280233"/>
          </a:xfrm>
        </p:grpSpPr>
        <p:sp>
          <p:nvSpPr>
            <p:cNvPr id="4" name="Freeform 4"/>
            <p:cNvSpPr/>
            <p:nvPr/>
          </p:nvSpPr>
          <p:spPr>
            <a:xfrm>
              <a:off x="0" y="0"/>
              <a:ext cx="472130" cy="1280233"/>
            </a:xfrm>
            <a:custGeom>
              <a:avLst/>
              <a:gdLst/>
              <a:ahLst/>
              <a:cxnLst/>
              <a:rect l="l" t="t" r="r" b="b"/>
              <a:pathLst>
                <a:path w="472130" h="1280233">
                  <a:moveTo>
                    <a:pt x="203200" y="0"/>
                  </a:moveTo>
                  <a:lnTo>
                    <a:pt x="472130" y="0"/>
                  </a:lnTo>
                  <a:lnTo>
                    <a:pt x="268930" y="1280233"/>
                  </a:lnTo>
                  <a:lnTo>
                    <a:pt x="0" y="1280233"/>
                  </a:lnTo>
                  <a:lnTo>
                    <a:pt x="203200" y="0"/>
                  </a:lnTo>
                  <a:close/>
                </a:path>
              </a:pathLst>
            </a:custGeom>
            <a:gradFill rotWithShape="1">
              <a:gsLst>
                <a:gs pos="0">
                  <a:srgbClr val="8D2600">
                    <a:alpha val="100000"/>
                  </a:srgbClr>
                </a:gs>
                <a:gs pos="100000">
                  <a:srgbClr val="FF4500">
                    <a:alpha val="100000"/>
                  </a:srgbClr>
                </a:gs>
              </a:gsLst>
              <a:lin ang="0"/>
            </a:gradFill>
          </p:spPr>
        </p:sp>
        <p:sp>
          <p:nvSpPr>
            <p:cNvPr id="5" name="TextBox 5"/>
            <p:cNvSpPr txBox="1"/>
            <p:nvPr/>
          </p:nvSpPr>
          <p:spPr>
            <a:xfrm>
              <a:off x="101600" y="-57150"/>
              <a:ext cx="268930" cy="1337383"/>
            </a:xfrm>
            <a:prstGeom prst="rect">
              <a:avLst/>
            </a:prstGeom>
          </p:spPr>
          <p:txBody>
            <a:bodyPr lIns="50800" tIns="50800" rIns="50800" bIns="50800" rtlCol="0" anchor="ctr"/>
            <a:lstStyle/>
            <a:p>
              <a:pPr algn="ctr">
                <a:lnSpc>
                  <a:spcPts val="2800"/>
                </a:lnSpc>
              </a:pPr>
            </a:p>
          </p:txBody>
        </p:sp>
      </p:grpSp>
      <p:grpSp>
        <p:nvGrpSpPr>
          <p:cNvPr id="6" name="Group 6"/>
          <p:cNvGrpSpPr/>
          <p:nvPr/>
        </p:nvGrpSpPr>
        <p:grpSpPr>
          <a:xfrm rot="0">
            <a:off x="1551304" y="2186357"/>
            <a:ext cx="2602929" cy="2331842"/>
            <a:chOff x="0" y="0"/>
            <a:chExt cx="1429066" cy="1280233"/>
          </a:xfrm>
        </p:grpSpPr>
        <p:sp>
          <p:nvSpPr>
            <p:cNvPr id="7" name="Freeform 7"/>
            <p:cNvSpPr/>
            <p:nvPr/>
          </p:nvSpPr>
          <p:spPr>
            <a:xfrm>
              <a:off x="0" y="0"/>
              <a:ext cx="1429066" cy="1280233"/>
            </a:xfrm>
            <a:custGeom>
              <a:avLst/>
              <a:gdLst/>
              <a:ahLst/>
              <a:cxnLst/>
              <a:rect l="l" t="t" r="r" b="b"/>
              <a:pathLst>
                <a:path w="1429066" h="1280233">
                  <a:moveTo>
                    <a:pt x="203200" y="0"/>
                  </a:moveTo>
                  <a:lnTo>
                    <a:pt x="1429066" y="0"/>
                  </a:lnTo>
                  <a:lnTo>
                    <a:pt x="1225866" y="1280233"/>
                  </a:lnTo>
                  <a:lnTo>
                    <a:pt x="0" y="1280233"/>
                  </a:lnTo>
                  <a:lnTo>
                    <a:pt x="203200" y="0"/>
                  </a:lnTo>
                  <a:close/>
                </a:path>
              </a:pathLst>
            </a:custGeom>
            <a:gradFill rotWithShape="1">
              <a:gsLst>
                <a:gs pos="0">
                  <a:srgbClr val="8D2600">
                    <a:alpha val="100000"/>
                  </a:srgbClr>
                </a:gs>
                <a:gs pos="100000">
                  <a:srgbClr val="FF4500">
                    <a:alpha val="100000"/>
                  </a:srgbClr>
                </a:gs>
              </a:gsLst>
              <a:lin ang="0"/>
            </a:gradFill>
          </p:spPr>
        </p:sp>
        <p:sp>
          <p:nvSpPr>
            <p:cNvPr id="8" name="TextBox 8"/>
            <p:cNvSpPr txBox="1"/>
            <p:nvPr/>
          </p:nvSpPr>
          <p:spPr>
            <a:xfrm>
              <a:off x="101600" y="-57150"/>
              <a:ext cx="1225866" cy="1337383"/>
            </a:xfrm>
            <a:prstGeom prst="rect">
              <a:avLst/>
            </a:prstGeom>
          </p:spPr>
          <p:txBody>
            <a:bodyPr lIns="50800" tIns="50800" rIns="50800" bIns="50800" rtlCol="0" anchor="ctr"/>
            <a:lstStyle/>
            <a:p>
              <a:pPr algn="ctr">
                <a:lnSpc>
                  <a:spcPts val="2800"/>
                </a:lnSpc>
              </a:pPr>
            </a:p>
          </p:txBody>
        </p:sp>
      </p:grpSp>
      <p:grpSp>
        <p:nvGrpSpPr>
          <p:cNvPr id="9" name="Group 9"/>
          <p:cNvGrpSpPr/>
          <p:nvPr/>
        </p:nvGrpSpPr>
        <p:grpSpPr>
          <a:xfrm rot="0">
            <a:off x="3609316" y="-247421"/>
            <a:ext cx="3976178" cy="10781843"/>
            <a:chOff x="0" y="0"/>
            <a:chExt cx="472130" cy="1280233"/>
          </a:xfrm>
        </p:grpSpPr>
        <p:sp>
          <p:nvSpPr>
            <p:cNvPr id="10" name="Freeform 10"/>
            <p:cNvSpPr/>
            <p:nvPr/>
          </p:nvSpPr>
          <p:spPr>
            <a:xfrm>
              <a:off x="0" y="0"/>
              <a:ext cx="472130" cy="1280233"/>
            </a:xfrm>
            <a:custGeom>
              <a:avLst/>
              <a:gdLst/>
              <a:ahLst/>
              <a:cxnLst/>
              <a:rect l="l" t="t" r="r" b="b"/>
              <a:pathLst>
                <a:path w="472130" h="1280233">
                  <a:moveTo>
                    <a:pt x="203200" y="0"/>
                  </a:moveTo>
                  <a:lnTo>
                    <a:pt x="472130" y="0"/>
                  </a:lnTo>
                  <a:lnTo>
                    <a:pt x="268930" y="1280233"/>
                  </a:lnTo>
                  <a:lnTo>
                    <a:pt x="0" y="1280233"/>
                  </a:lnTo>
                  <a:lnTo>
                    <a:pt x="203200" y="0"/>
                  </a:lnTo>
                  <a:close/>
                </a:path>
              </a:pathLst>
            </a:custGeom>
            <a:gradFill rotWithShape="1">
              <a:gsLst>
                <a:gs pos="0">
                  <a:srgbClr val="8D2600">
                    <a:alpha val="100000"/>
                  </a:srgbClr>
                </a:gs>
                <a:gs pos="100000">
                  <a:srgbClr val="FF4500">
                    <a:alpha val="100000"/>
                  </a:srgbClr>
                </a:gs>
              </a:gsLst>
              <a:lin ang="0"/>
            </a:gradFill>
          </p:spPr>
        </p:sp>
        <p:sp>
          <p:nvSpPr>
            <p:cNvPr id="11" name="TextBox 11"/>
            <p:cNvSpPr txBox="1"/>
            <p:nvPr/>
          </p:nvSpPr>
          <p:spPr>
            <a:xfrm>
              <a:off x="101600" y="-57150"/>
              <a:ext cx="268930" cy="1337383"/>
            </a:xfrm>
            <a:prstGeom prst="rect">
              <a:avLst/>
            </a:prstGeom>
          </p:spPr>
          <p:txBody>
            <a:bodyPr lIns="50800" tIns="50800" rIns="50800" bIns="50800" rtlCol="0" anchor="ctr"/>
            <a:lstStyle/>
            <a:p>
              <a:pPr algn="ctr">
                <a:lnSpc>
                  <a:spcPts val="2800"/>
                </a:lnSpc>
              </a:pPr>
            </a:p>
          </p:txBody>
        </p:sp>
      </p:grpSp>
      <p:sp>
        <p:nvSpPr>
          <p:cNvPr id="12" name="Freeform 12"/>
          <p:cNvSpPr/>
          <p:nvPr/>
        </p:nvSpPr>
        <p:spPr>
          <a:xfrm>
            <a:off x="-1803374" y="4945216"/>
            <a:ext cx="10096228" cy="7534310"/>
          </a:xfrm>
          <a:custGeom>
            <a:avLst/>
            <a:gdLst/>
            <a:ahLst/>
            <a:cxnLst/>
            <a:rect l="l" t="t" r="r" b="b"/>
            <a:pathLst>
              <a:path w="10096228" h="7534310">
                <a:moveTo>
                  <a:pt x="0" y="0"/>
                </a:moveTo>
                <a:lnTo>
                  <a:pt x="10096228" y="0"/>
                </a:lnTo>
                <a:lnTo>
                  <a:pt x="10096228" y="7534311"/>
                </a:lnTo>
                <a:lnTo>
                  <a:pt x="0" y="7534311"/>
                </a:lnTo>
                <a:lnTo>
                  <a:pt x="0" y="0"/>
                </a:lnTo>
                <a:close/>
              </a:path>
            </a:pathLst>
          </a:custGeom>
          <a:blipFill>
            <a:blip r:embed="rId2"/>
            <a:stretch>
              <a:fillRect/>
            </a:stretch>
          </a:blipFill>
        </p:spPr>
      </p:sp>
      <p:sp>
        <p:nvSpPr>
          <p:cNvPr id="13" name="TextBox 13"/>
          <p:cNvSpPr txBox="1"/>
          <p:nvPr/>
        </p:nvSpPr>
        <p:spPr>
          <a:xfrm>
            <a:off x="1028700" y="1146175"/>
            <a:ext cx="1873255" cy="263525"/>
          </a:xfrm>
          <a:prstGeom prst="rect">
            <a:avLst/>
          </a:prstGeom>
        </p:spPr>
        <p:txBody>
          <a:bodyPr lIns="0" tIns="0" rIns="0" bIns="0" rtlCol="0" anchor="t">
            <a:spAutoFit/>
          </a:bodyPr>
          <a:lstStyle/>
          <a:p>
            <a:pPr algn="l">
              <a:lnSpc>
                <a:spcPts val="1900"/>
              </a:lnSpc>
            </a:pPr>
            <a:r>
              <a:rPr lang="en-US" sz="20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rPr>
              <a:t>CCAC</a:t>
            </a:r>
            <a:endParaRPr lang="en-US" sz="20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endParaRPr>
          </a:p>
        </p:txBody>
      </p:sp>
      <p:sp>
        <p:nvSpPr>
          <p:cNvPr id="14" name="TextBox 14"/>
          <p:cNvSpPr txBox="1"/>
          <p:nvPr/>
        </p:nvSpPr>
        <p:spPr>
          <a:xfrm>
            <a:off x="8292854" y="3842331"/>
            <a:ext cx="8826797" cy="2076250"/>
          </a:xfrm>
          <a:prstGeom prst="rect">
            <a:avLst/>
          </a:prstGeom>
        </p:spPr>
        <p:txBody>
          <a:bodyPr lIns="0" tIns="0" rIns="0" bIns="0" rtlCol="0" anchor="t">
            <a:spAutoFit/>
          </a:bodyPr>
          <a:lstStyle/>
          <a:p>
            <a:pPr algn="ctr">
              <a:lnSpc>
                <a:spcPts val="15385"/>
              </a:lnSpc>
            </a:pPr>
            <a:r>
              <a:rPr lang="en-US" sz="16195"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rPr>
              <a:t>PART 5</a:t>
            </a:r>
            <a:endParaRPr lang="en-US" sz="16195"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endParaRPr>
          </a:p>
        </p:txBody>
      </p:sp>
      <p:sp>
        <p:nvSpPr>
          <p:cNvPr id="15" name="TextBox 15"/>
          <p:cNvSpPr txBox="1"/>
          <p:nvPr/>
        </p:nvSpPr>
        <p:spPr>
          <a:xfrm>
            <a:off x="10002099" y="5690721"/>
            <a:ext cx="6169009" cy="625476"/>
          </a:xfrm>
          <a:prstGeom prst="rect">
            <a:avLst/>
          </a:prstGeom>
        </p:spPr>
        <p:txBody>
          <a:bodyPr lIns="0" tIns="0" rIns="0" bIns="0" rtlCol="0" anchor="t">
            <a:spAutoFit/>
          </a:bodyPr>
          <a:lstStyle/>
          <a:p>
            <a:pPr algn="ctr">
              <a:lnSpc>
                <a:spcPts val="4900"/>
              </a:lnSpc>
            </a:pPr>
            <a:r>
              <a:rPr lang="en-US" sz="3500" b="1">
                <a:solidFill>
                  <a:srgbClr val="FFFFFF"/>
                </a:solidFill>
                <a:latin typeface="Poppins Bold" panose="00000800000000000000"/>
                <a:ea typeface="Poppins Bold" panose="00000800000000000000"/>
                <a:cs typeface="Poppins Bold" panose="00000800000000000000"/>
                <a:sym typeface="Poppins Bold" panose="00000800000000000000"/>
              </a:rPr>
              <a:t>Conclusion &amp; Future Work</a:t>
            </a:r>
            <a:endParaRPr lang="en-US" sz="3500" b="1">
              <a:solidFill>
                <a:srgbClr val="FFFFFF"/>
              </a:solidFill>
              <a:latin typeface="Poppins Bold" panose="00000800000000000000"/>
              <a:ea typeface="Poppins Bold" panose="00000800000000000000"/>
              <a:cs typeface="Poppins Bold" panose="00000800000000000000"/>
              <a:sym typeface="Poppins Bold" panose="00000800000000000000"/>
            </a:endParaRPr>
          </a:p>
        </p:txBody>
      </p:sp>
      <p:sp>
        <p:nvSpPr>
          <p:cNvPr id="16" name="TextBox 16"/>
          <p:cNvSpPr txBox="1"/>
          <p:nvPr/>
        </p:nvSpPr>
        <p:spPr>
          <a:xfrm>
            <a:off x="10217666" y="6259047"/>
            <a:ext cx="1945005" cy="358775"/>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Poppins" panose="00000500000000000000"/>
                <a:ea typeface="Poppins" panose="00000500000000000000"/>
                <a:cs typeface="Poppins" panose="00000500000000000000"/>
                <a:sym typeface="Poppins" panose="00000500000000000000"/>
              </a:rPr>
              <a:t>Key Takeaways</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17" name="TextBox 17"/>
          <p:cNvSpPr txBox="1"/>
          <p:nvPr/>
        </p:nvSpPr>
        <p:spPr>
          <a:xfrm>
            <a:off x="10198854" y="6672635"/>
            <a:ext cx="1501616" cy="358775"/>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Poppins" panose="00000500000000000000"/>
                <a:ea typeface="Poppins" panose="00000500000000000000"/>
                <a:cs typeface="Poppins" panose="00000500000000000000"/>
                <a:sym typeface="Poppins" panose="00000500000000000000"/>
              </a:rPr>
              <a:t>Future Work</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22" b="-9222"/>
            </a:stretch>
          </a:blipFill>
        </p:spPr>
      </p:sp>
      <p:sp>
        <p:nvSpPr>
          <p:cNvPr id="3" name="TextBox 3"/>
          <p:cNvSpPr txBox="1"/>
          <p:nvPr/>
        </p:nvSpPr>
        <p:spPr>
          <a:xfrm>
            <a:off x="5128069" y="989942"/>
            <a:ext cx="1537379" cy="358742"/>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Poppins" panose="00000500000000000000"/>
                <a:ea typeface="Poppins" panose="00000500000000000000"/>
                <a:cs typeface="Poppins" panose="00000500000000000000"/>
                <a:sym typeface="Poppins" panose="00000500000000000000"/>
              </a:rPr>
              <a:t>Home</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p:txBody>
      </p:sp>
      <p:grpSp>
        <p:nvGrpSpPr>
          <p:cNvPr id="4" name="Group 4"/>
          <p:cNvGrpSpPr/>
          <p:nvPr/>
        </p:nvGrpSpPr>
        <p:grpSpPr>
          <a:xfrm rot="0">
            <a:off x="251095" y="-114545"/>
            <a:ext cx="7700180" cy="10516090"/>
            <a:chOff x="0" y="0"/>
            <a:chExt cx="5462150" cy="7459626"/>
          </a:xfrm>
        </p:grpSpPr>
        <p:sp>
          <p:nvSpPr>
            <p:cNvPr id="5" name="Freeform 5"/>
            <p:cNvSpPr/>
            <p:nvPr/>
          </p:nvSpPr>
          <p:spPr>
            <a:xfrm>
              <a:off x="0" y="0"/>
              <a:ext cx="5462150" cy="7459627"/>
            </a:xfrm>
            <a:custGeom>
              <a:avLst/>
              <a:gdLst/>
              <a:ahLst/>
              <a:cxnLst/>
              <a:rect l="l" t="t" r="r" b="b"/>
              <a:pathLst>
                <a:path w="5462150" h="7459627">
                  <a:moveTo>
                    <a:pt x="0" y="7459627"/>
                  </a:moveTo>
                  <a:lnTo>
                    <a:pt x="634727" y="0"/>
                  </a:lnTo>
                  <a:lnTo>
                    <a:pt x="5462150" y="0"/>
                  </a:lnTo>
                  <a:lnTo>
                    <a:pt x="4827423" y="7459627"/>
                  </a:lnTo>
                  <a:close/>
                </a:path>
              </a:pathLst>
            </a:custGeom>
            <a:blipFill>
              <a:blip r:embed="rId2"/>
              <a:stretch>
                <a:fillRect t="-4917" b="-4917"/>
              </a:stretch>
            </a:blipFill>
          </p:spPr>
        </p:sp>
      </p:grpSp>
      <p:grpSp>
        <p:nvGrpSpPr>
          <p:cNvPr id="6" name="Group 6"/>
          <p:cNvGrpSpPr/>
          <p:nvPr/>
        </p:nvGrpSpPr>
        <p:grpSpPr>
          <a:xfrm rot="0">
            <a:off x="-1057903" y="-479363"/>
            <a:ext cx="1808337" cy="10287000"/>
            <a:chOff x="0" y="0"/>
            <a:chExt cx="406400" cy="2311868"/>
          </a:xfrm>
        </p:grpSpPr>
        <p:sp>
          <p:nvSpPr>
            <p:cNvPr id="7" name="Freeform 7"/>
            <p:cNvSpPr/>
            <p:nvPr/>
          </p:nvSpPr>
          <p:spPr>
            <a:xfrm>
              <a:off x="0" y="0"/>
              <a:ext cx="406400" cy="2311868"/>
            </a:xfrm>
            <a:custGeom>
              <a:avLst/>
              <a:gdLst/>
              <a:ahLst/>
              <a:cxnLst/>
              <a:rect l="l" t="t" r="r" b="b"/>
              <a:pathLst>
                <a:path w="406400" h="2311868">
                  <a:moveTo>
                    <a:pt x="203200" y="0"/>
                  </a:moveTo>
                  <a:lnTo>
                    <a:pt x="406400" y="0"/>
                  </a:lnTo>
                  <a:lnTo>
                    <a:pt x="203200" y="2311868"/>
                  </a:lnTo>
                  <a:lnTo>
                    <a:pt x="0" y="2311868"/>
                  </a:lnTo>
                  <a:lnTo>
                    <a:pt x="203200" y="0"/>
                  </a:lnTo>
                  <a:close/>
                </a:path>
              </a:pathLst>
            </a:custGeom>
            <a:gradFill rotWithShape="1">
              <a:gsLst>
                <a:gs pos="0">
                  <a:srgbClr val="8D2600">
                    <a:alpha val="100000"/>
                  </a:srgbClr>
                </a:gs>
                <a:gs pos="100000">
                  <a:srgbClr val="FF4500">
                    <a:alpha val="100000"/>
                  </a:srgbClr>
                </a:gs>
              </a:gsLst>
              <a:lin ang="0"/>
            </a:gradFill>
          </p:spPr>
        </p:sp>
        <p:sp>
          <p:nvSpPr>
            <p:cNvPr id="8" name="TextBox 8"/>
            <p:cNvSpPr txBox="1"/>
            <p:nvPr/>
          </p:nvSpPr>
          <p:spPr>
            <a:xfrm>
              <a:off x="101600" y="-57150"/>
              <a:ext cx="203200" cy="2369018"/>
            </a:xfrm>
            <a:prstGeom prst="rect">
              <a:avLst/>
            </a:prstGeom>
          </p:spPr>
          <p:txBody>
            <a:bodyPr lIns="50800" tIns="50800" rIns="50800" bIns="50800" rtlCol="0" anchor="ctr"/>
            <a:lstStyle/>
            <a:p>
              <a:pPr algn="ctr">
                <a:lnSpc>
                  <a:spcPts val="2800"/>
                </a:lnSpc>
              </a:pPr>
            </a:p>
          </p:txBody>
        </p:sp>
      </p:grpSp>
      <p:sp>
        <p:nvSpPr>
          <p:cNvPr id="9" name="Freeform 9"/>
          <p:cNvSpPr/>
          <p:nvPr/>
        </p:nvSpPr>
        <p:spPr>
          <a:xfrm>
            <a:off x="4101185" y="7469243"/>
            <a:ext cx="14089896" cy="2448119"/>
          </a:xfrm>
          <a:custGeom>
            <a:avLst/>
            <a:gdLst/>
            <a:ahLst/>
            <a:cxnLst/>
            <a:rect l="l" t="t" r="r" b="b"/>
            <a:pathLst>
              <a:path w="14089896" h="2448119">
                <a:moveTo>
                  <a:pt x="0" y="0"/>
                </a:moveTo>
                <a:lnTo>
                  <a:pt x="14089896" y="0"/>
                </a:lnTo>
                <a:lnTo>
                  <a:pt x="14089896" y="2448120"/>
                </a:lnTo>
                <a:lnTo>
                  <a:pt x="0" y="2448120"/>
                </a:lnTo>
                <a:lnTo>
                  <a:pt x="0" y="0"/>
                </a:lnTo>
                <a:close/>
              </a:path>
            </a:pathLst>
          </a:custGeom>
          <a:blipFill>
            <a:blip r:embed="rId3"/>
            <a:stretch>
              <a:fillRect/>
            </a:stretch>
          </a:blipFill>
        </p:spPr>
      </p:sp>
      <p:sp>
        <p:nvSpPr>
          <p:cNvPr id="10" name="TextBox 10"/>
          <p:cNvSpPr txBox="1"/>
          <p:nvPr/>
        </p:nvSpPr>
        <p:spPr>
          <a:xfrm>
            <a:off x="8266651" y="552450"/>
            <a:ext cx="7794678" cy="1162050"/>
          </a:xfrm>
          <a:prstGeom prst="rect">
            <a:avLst/>
          </a:prstGeom>
        </p:spPr>
        <p:txBody>
          <a:bodyPr lIns="0" tIns="0" rIns="0" bIns="0" rtlCol="0" anchor="t">
            <a:spAutoFit/>
          </a:bodyPr>
          <a:lstStyle/>
          <a:p>
            <a:pPr algn="l">
              <a:lnSpc>
                <a:spcPts val="8550"/>
              </a:lnSpc>
            </a:pPr>
            <a:r>
              <a:rPr lang="en-US" sz="90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rPr>
              <a:t>KEY TAKEAWAYS</a:t>
            </a:r>
            <a:endParaRPr lang="en-US" sz="90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endParaRPr>
          </a:p>
        </p:txBody>
      </p:sp>
      <p:sp>
        <p:nvSpPr>
          <p:cNvPr id="11" name="TextBox 11"/>
          <p:cNvSpPr txBox="1"/>
          <p:nvPr/>
        </p:nvSpPr>
        <p:spPr>
          <a:xfrm>
            <a:off x="8169733" y="1647825"/>
            <a:ext cx="8810270" cy="1152525"/>
          </a:xfrm>
          <a:prstGeom prst="rect">
            <a:avLst/>
          </a:prstGeom>
        </p:spPr>
        <p:txBody>
          <a:bodyPr lIns="0" tIns="0" rIns="0" bIns="0" rtlCol="0" anchor="t">
            <a:spAutoFit/>
          </a:bodyPr>
          <a:lstStyle/>
          <a:p>
            <a:pPr algn="l">
              <a:lnSpc>
                <a:spcPts val="3500"/>
              </a:lnSpc>
              <a:spcBef>
                <a:spcPct val="0"/>
              </a:spcBef>
            </a:pPr>
            <a:r>
              <a:rPr lang="en-US" sz="2500" b="1">
                <a:solidFill>
                  <a:srgbClr val="FFFFFF"/>
                </a:solidFill>
                <a:latin typeface="Poppins Bold" panose="00000800000000000000"/>
                <a:ea typeface="Poppins Bold" panose="00000800000000000000"/>
                <a:cs typeface="Poppins Bold" panose="00000800000000000000"/>
                <a:sym typeface="Poppins Bold" panose="00000800000000000000"/>
              </a:rPr>
              <a:t>1️⃣ Predictive Model Performance </a:t>
            </a:r>
            <a:endParaRPr lang="en-US" sz="2500" b="1">
              <a:solidFill>
                <a:srgbClr val="FFFFFF"/>
              </a:solidFill>
              <a:latin typeface="Poppins Bold" panose="00000800000000000000"/>
              <a:ea typeface="Poppins Bold" panose="00000800000000000000"/>
              <a:cs typeface="Poppins Bold" panose="00000800000000000000"/>
              <a:sym typeface="Poppins Bold" panose="00000800000000000000"/>
            </a:endParaRPr>
          </a:p>
          <a:p>
            <a:pPr algn="l">
              <a:lnSpc>
                <a:spcPts val="2800"/>
              </a:lnSpc>
              <a:spcBef>
                <a:spcPct val="0"/>
              </a:spcBef>
            </a:pPr>
            <a:r>
              <a:rPr lang="en-US" sz="2000">
                <a:solidFill>
                  <a:srgbClr val="FFFFFF"/>
                </a:solidFill>
                <a:latin typeface="Poppins" panose="00000500000000000000"/>
                <a:ea typeface="Poppins" panose="00000500000000000000"/>
                <a:cs typeface="Poppins" panose="00000500000000000000"/>
                <a:sym typeface="Poppins" panose="00000500000000000000"/>
              </a:rPr>
              <a:t>📌 Kaggle Leaderboard Performance</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a:p>
            <a:pPr algn="l">
              <a:lnSpc>
                <a:spcPts val="2800"/>
              </a:lnSpc>
              <a:spcBef>
                <a:spcPct val="0"/>
              </a:spcBef>
            </a:pPr>
            <a:r>
              <a:rPr lang="en-US" sz="2000">
                <a:solidFill>
                  <a:srgbClr val="FFFFFF"/>
                </a:solidFill>
                <a:latin typeface="Poppins" panose="00000500000000000000"/>
                <a:ea typeface="Poppins" panose="00000500000000000000"/>
                <a:cs typeface="Poppins" panose="00000500000000000000"/>
                <a:sym typeface="Poppins" panose="00000500000000000000"/>
              </a:rPr>
              <a:t>Our model achieved a Kaggle score of 0.63051.</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12" name="TextBox 12"/>
          <p:cNvSpPr txBox="1"/>
          <p:nvPr/>
        </p:nvSpPr>
        <p:spPr>
          <a:xfrm>
            <a:off x="8169733" y="2930010"/>
            <a:ext cx="10021349" cy="3267075"/>
          </a:xfrm>
          <a:prstGeom prst="rect">
            <a:avLst/>
          </a:prstGeom>
        </p:spPr>
        <p:txBody>
          <a:bodyPr lIns="0" tIns="0" rIns="0" bIns="0" rtlCol="0" anchor="t">
            <a:spAutoFit/>
          </a:bodyPr>
          <a:lstStyle/>
          <a:p>
            <a:pPr algn="l">
              <a:lnSpc>
                <a:spcPts val="3500"/>
              </a:lnSpc>
              <a:spcBef>
                <a:spcPct val="0"/>
              </a:spcBef>
            </a:pPr>
            <a:r>
              <a:rPr lang="en-US" sz="2500">
                <a:solidFill>
                  <a:srgbClr val="FFFFFF"/>
                </a:solidFill>
                <a:latin typeface="Poppins" panose="00000500000000000000"/>
                <a:ea typeface="Poppins" panose="00000500000000000000"/>
                <a:cs typeface="Poppins" panose="00000500000000000000"/>
                <a:sym typeface="Poppins" panose="00000500000000000000"/>
              </a:rPr>
              <a:t>2️⃣</a:t>
            </a:r>
            <a:r>
              <a:rPr lang="en-US" sz="2500" b="1">
                <a:solidFill>
                  <a:srgbClr val="FFFFFF"/>
                </a:solidFill>
                <a:latin typeface="Poppins Bold" panose="00000800000000000000"/>
                <a:ea typeface="Poppins Bold" panose="00000800000000000000"/>
                <a:cs typeface="Poppins Bold" panose="00000800000000000000"/>
                <a:sym typeface="Poppins Bold" panose="00000800000000000000"/>
              </a:rPr>
              <a:t> School Affinity &amp; Fan Bias Findings</a:t>
            </a:r>
            <a:endParaRPr lang="en-US" sz="2500" b="1">
              <a:solidFill>
                <a:srgbClr val="FFFFFF"/>
              </a:solidFill>
              <a:latin typeface="Poppins Bold" panose="00000800000000000000"/>
              <a:ea typeface="Poppins Bold" panose="00000800000000000000"/>
              <a:cs typeface="Poppins Bold" panose="00000800000000000000"/>
              <a:sym typeface="Poppins Bold" panose="00000800000000000000"/>
            </a:endParaRPr>
          </a:p>
          <a:p>
            <a:pPr algn="l">
              <a:lnSpc>
                <a:spcPts val="2800"/>
              </a:lnSpc>
              <a:spcBef>
                <a:spcPct val="0"/>
              </a:spcBef>
            </a:pPr>
            <a:r>
              <a:rPr lang="en-US" sz="2000">
                <a:solidFill>
                  <a:srgbClr val="FFFFFF"/>
                </a:solidFill>
                <a:latin typeface="Poppins" panose="00000500000000000000"/>
                <a:ea typeface="Poppins" panose="00000500000000000000"/>
                <a:cs typeface="Poppins" panose="00000500000000000000"/>
                <a:sym typeface="Poppins" panose="00000500000000000000"/>
              </a:rPr>
              <a:t>📌 Key Observations on Fan Loyalty &amp; Bias</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a:p>
            <a:pPr marL="431800" lvl="1" indent="-215900" algn="l">
              <a:lnSpc>
                <a:spcPts val="2800"/>
              </a:lnSpc>
              <a:buFont typeface="Arial" panose="020B0604020202020204"/>
              <a:buChar char="•"/>
            </a:pPr>
            <a:r>
              <a:rPr lang="en-US" sz="2000">
                <a:solidFill>
                  <a:srgbClr val="A7A9AC"/>
                </a:solidFill>
                <a:latin typeface="Poppins" panose="00000500000000000000"/>
                <a:ea typeface="Poppins" panose="00000500000000000000"/>
                <a:cs typeface="Poppins" panose="00000500000000000000"/>
                <a:sym typeface="Poppins" panose="00000500000000000000"/>
              </a:rPr>
              <a:t>Fans exhibit strong school affinity, favoring local teams over objectively stronger competitors.</a:t>
            </a:r>
            <a:endParaRPr lang="en-US" sz="2000">
              <a:solidFill>
                <a:srgbClr val="A7A9AC"/>
              </a:solidFill>
              <a:latin typeface="Poppins" panose="00000500000000000000"/>
              <a:ea typeface="Poppins" panose="00000500000000000000"/>
              <a:cs typeface="Poppins" panose="00000500000000000000"/>
              <a:sym typeface="Poppins" panose="00000500000000000000"/>
            </a:endParaRPr>
          </a:p>
          <a:p>
            <a:pPr marL="431800" lvl="1" indent="-215900" algn="l">
              <a:lnSpc>
                <a:spcPts val="2800"/>
              </a:lnSpc>
              <a:buFont typeface="Arial" panose="020B0604020202020204"/>
              <a:buChar char="•"/>
            </a:pPr>
            <a:r>
              <a:rPr lang="en-US" sz="2000">
                <a:solidFill>
                  <a:srgbClr val="A7A9AC"/>
                </a:solidFill>
                <a:latin typeface="Poppins" panose="00000500000000000000"/>
                <a:ea typeface="Poppins" panose="00000500000000000000"/>
                <a:cs typeface="Poppins" panose="00000500000000000000"/>
                <a:sym typeface="Poppins" panose="00000500000000000000"/>
              </a:rPr>
              <a:t>Regional clustering reveals distinct voting biases—certain states heavily support their home institutions, even when their teams are underdogs.</a:t>
            </a:r>
            <a:endParaRPr lang="en-US" sz="2000">
              <a:solidFill>
                <a:srgbClr val="A7A9AC"/>
              </a:solidFill>
              <a:latin typeface="Poppins" panose="00000500000000000000"/>
              <a:ea typeface="Poppins" panose="00000500000000000000"/>
              <a:cs typeface="Poppins" panose="00000500000000000000"/>
              <a:sym typeface="Poppins" panose="00000500000000000000"/>
            </a:endParaRPr>
          </a:p>
          <a:p>
            <a:pPr marL="431800" lvl="1" indent="-215900" algn="l">
              <a:lnSpc>
                <a:spcPts val="2800"/>
              </a:lnSpc>
              <a:buFont typeface="Arial" panose="020B0604020202020204"/>
              <a:buChar char="•"/>
            </a:pPr>
            <a:r>
              <a:rPr lang="en-US" sz="2000">
                <a:solidFill>
                  <a:srgbClr val="A7A9AC"/>
                </a:solidFill>
                <a:latin typeface="Poppins" panose="00000500000000000000"/>
                <a:ea typeface="Poppins" panose="00000500000000000000"/>
                <a:cs typeface="Poppins" panose="00000500000000000000"/>
                <a:sym typeface="Poppins" panose="00000500000000000000"/>
              </a:rPr>
              <a:t>Historical school performance influences both men’s and women’s basketball predictions, reinforcing the idea that fans are loyal to the school, not just a specific team.</a:t>
            </a:r>
            <a:endParaRPr lang="en-US" sz="2000">
              <a:solidFill>
                <a:srgbClr val="A7A9AC"/>
              </a:solidFill>
              <a:latin typeface="Poppins" panose="00000500000000000000"/>
              <a:ea typeface="Poppins" panose="00000500000000000000"/>
              <a:cs typeface="Poppins" panose="00000500000000000000"/>
              <a:sym typeface="Poppins" panose="00000500000000000000"/>
            </a:endParaRPr>
          </a:p>
        </p:txBody>
      </p:sp>
      <p:sp>
        <p:nvSpPr>
          <p:cNvPr id="13" name="TextBox 13"/>
          <p:cNvSpPr txBox="1"/>
          <p:nvPr/>
        </p:nvSpPr>
        <p:spPr>
          <a:xfrm>
            <a:off x="8169733" y="6180702"/>
            <a:ext cx="9318123" cy="1238250"/>
          </a:xfrm>
          <a:prstGeom prst="rect">
            <a:avLst/>
          </a:prstGeom>
        </p:spPr>
        <p:txBody>
          <a:bodyPr lIns="0" tIns="0" rIns="0" bIns="0" rtlCol="0" anchor="t">
            <a:spAutoFit/>
          </a:bodyPr>
          <a:lstStyle/>
          <a:p>
            <a:pPr algn="l">
              <a:lnSpc>
                <a:spcPts val="3500"/>
              </a:lnSpc>
              <a:spcBef>
                <a:spcPct val="0"/>
              </a:spcBef>
            </a:pPr>
            <a:r>
              <a:rPr lang="en-US" sz="2500" b="1">
                <a:solidFill>
                  <a:srgbClr val="FFFFFF"/>
                </a:solidFill>
                <a:latin typeface="Poppins Bold" panose="00000800000000000000"/>
                <a:ea typeface="Poppins Bold" panose="00000800000000000000"/>
                <a:cs typeface="Poppins Bold" panose="00000800000000000000"/>
                <a:sym typeface="Poppins Bold" panose="00000800000000000000"/>
              </a:rPr>
              <a:t>3️⃣ Additional Analytical Findings (Part 4 Insights &amp; Extended Analysis)</a:t>
            </a:r>
            <a:endParaRPr lang="en-US" sz="2500" b="1">
              <a:solidFill>
                <a:srgbClr val="FFFFFF"/>
              </a:solidFill>
              <a:latin typeface="Poppins Bold" panose="00000800000000000000"/>
              <a:ea typeface="Poppins Bold" panose="00000800000000000000"/>
              <a:cs typeface="Poppins Bold" panose="00000800000000000000"/>
              <a:sym typeface="Poppins Bold" panose="00000800000000000000"/>
            </a:endParaRPr>
          </a:p>
          <a:p>
            <a:pPr algn="l">
              <a:lnSpc>
                <a:spcPts val="2800"/>
              </a:lnSpc>
              <a:spcBef>
                <a:spcPct val="0"/>
              </a:spcBef>
            </a:pPr>
            <a:r>
              <a:rPr lang="en-US" sz="2000">
                <a:solidFill>
                  <a:srgbClr val="FFFFFF"/>
                </a:solidFill>
                <a:latin typeface="Poppins" panose="00000500000000000000"/>
                <a:ea typeface="Poppins" panose="00000500000000000000"/>
                <a:cs typeface="Poppins" panose="00000500000000000000"/>
                <a:sym typeface="Poppins" panose="00000500000000000000"/>
              </a:rPr>
              <a:t>📌 Exploring Trends in Fan Predictions</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22" b="-9222"/>
            </a:stretch>
          </a:blipFill>
        </p:spPr>
      </p:sp>
      <p:grpSp>
        <p:nvGrpSpPr>
          <p:cNvPr id="3" name="Group 3"/>
          <p:cNvGrpSpPr/>
          <p:nvPr/>
        </p:nvGrpSpPr>
        <p:grpSpPr>
          <a:xfrm rot="0">
            <a:off x="3375421" y="3058581"/>
            <a:ext cx="4852175" cy="4169838"/>
            <a:chOff x="0" y="0"/>
            <a:chExt cx="812800" cy="698500"/>
          </a:xfrm>
        </p:grpSpPr>
        <p:sp>
          <p:nvSpPr>
            <p:cNvPr id="4" name="Freeform 4"/>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8D2600">
                    <a:alpha val="100000"/>
                  </a:srgbClr>
                </a:gs>
                <a:gs pos="100000">
                  <a:srgbClr val="FF4500">
                    <a:alpha val="100000"/>
                  </a:srgbClr>
                </a:gs>
              </a:gsLst>
              <a:lin ang="0"/>
            </a:gradFill>
          </p:spPr>
        </p:sp>
        <p:sp>
          <p:nvSpPr>
            <p:cNvPr id="5" name="TextBox 5"/>
            <p:cNvSpPr txBox="1"/>
            <p:nvPr/>
          </p:nvSpPr>
          <p:spPr>
            <a:xfrm>
              <a:off x="114300" y="-57150"/>
              <a:ext cx="584200" cy="755650"/>
            </a:xfrm>
            <a:prstGeom prst="rect">
              <a:avLst/>
            </a:prstGeom>
          </p:spPr>
          <p:txBody>
            <a:bodyPr lIns="50800" tIns="50800" rIns="50800" bIns="50800" rtlCol="0" anchor="ctr"/>
            <a:lstStyle/>
            <a:p>
              <a:pPr algn="ctr">
                <a:lnSpc>
                  <a:spcPts val="2800"/>
                </a:lnSpc>
              </a:pPr>
            </a:p>
          </p:txBody>
        </p:sp>
      </p:grpSp>
      <p:grpSp>
        <p:nvGrpSpPr>
          <p:cNvPr id="6" name="Group 6"/>
          <p:cNvGrpSpPr/>
          <p:nvPr/>
        </p:nvGrpSpPr>
        <p:grpSpPr>
          <a:xfrm rot="0">
            <a:off x="-1646722" y="2560019"/>
            <a:ext cx="9186486" cy="5246370"/>
            <a:chOff x="0" y="0"/>
            <a:chExt cx="1223086" cy="698500"/>
          </a:xfrm>
        </p:grpSpPr>
        <p:sp>
          <p:nvSpPr>
            <p:cNvPr id="7" name="Freeform 7"/>
            <p:cNvSpPr/>
            <p:nvPr/>
          </p:nvSpPr>
          <p:spPr>
            <a:xfrm>
              <a:off x="0" y="0"/>
              <a:ext cx="1223086" cy="698500"/>
            </a:xfrm>
            <a:custGeom>
              <a:avLst/>
              <a:gdLst/>
              <a:ahLst/>
              <a:cxnLst/>
              <a:rect l="l" t="t" r="r" b="b"/>
              <a:pathLst>
                <a:path w="1223086" h="698500">
                  <a:moveTo>
                    <a:pt x="1223086" y="349250"/>
                  </a:moveTo>
                  <a:lnTo>
                    <a:pt x="1019886" y="698500"/>
                  </a:lnTo>
                  <a:lnTo>
                    <a:pt x="203200" y="698500"/>
                  </a:lnTo>
                  <a:lnTo>
                    <a:pt x="0" y="349250"/>
                  </a:lnTo>
                  <a:lnTo>
                    <a:pt x="203200" y="0"/>
                  </a:lnTo>
                  <a:lnTo>
                    <a:pt x="1019886" y="0"/>
                  </a:lnTo>
                  <a:lnTo>
                    <a:pt x="1223086" y="349250"/>
                  </a:lnTo>
                  <a:close/>
                </a:path>
              </a:pathLst>
            </a:custGeom>
            <a:blipFill>
              <a:blip r:embed="rId2"/>
              <a:stretch>
                <a:fillRect t="-8367" b="-8367"/>
              </a:stretch>
            </a:blipFill>
          </p:spPr>
        </p:sp>
      </p:grpSp>
      <p:sp>
        <p:nvSpPr>
          <p:cNvPr id="8" name="TextBox 8"/>
          <p:cNvSpPr txBox="1"/>
          <p:nvPr/>
        </p:nvSpPr>
        <p:spPr>
          <a:xfrm>
            <a:off x="8702231" y="1419093"/>
            <a:ext cx="6881606" cy="1162050"/>
          </a:xfrm>
          <a:prstGeom prst="rect">
            <a:avLst/>
          </a:prstGeom>
        </p:spPr>
        <p:txBody>
          <a:bodyPr lIns="0" tIns="0" rIns="0" bIns="0" rtlCol="0" anchor="t">
            <a:spAutoFit/>
          </a:bodyPr>
          <a:lstStyle/>
          <a:p>
            <a:pPr algn="l">
              <a:lnSpc>
                <a:spcPts val="8550"/>
              </a:lnSpc>
            </a:pPr>
            <a:r>
              <a:rPr lang="en-US" sz="90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rPr>
              <a:t>FUTURE WORK</a:t>
            </a:r>
            <a:endParaRPr lang="en-US" sz="90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endParaRPr>
          </a:p>
        </p:txBody>
      </p:sp>
      <p:sp>
        <p:nvSpPr>
          <p:cNvPr id="9" name="TextBox 9"/>
          <p:cNvSpPr txBox="1"/>
          <p:nvPr/>
        </p:nvSpPr>
        <p:spPr>
          <a:xfrm>
            <a:off x="8503472" y="2842316"/>
            <a:ext cx="9346068" cy="6063615"/>
          </a:xfrm>
          <a:prstGeom prst="rect">
            <a:avLst/>
          </a:prstGeom>
        </p:spPr>
        <p:txBody>
          <a:bodyPr lIns="0" tIns="0" rIns="0" bIns="0" rtlCol="0" anchor="t">
            <a:spAutoFit/>
          </a:bodyPr>
          <a:lstStyle/>
          <a:p>
            <a:pPr algn="l">
              <a:lnSpc>
                <a:spcPts val="3640"/>
              </a:lnSpc>
              <a:spcBef>
                <a:spcPct val="0"/>
              </a:spcBef>
            </a:pPr>
            <a:r>
              <a:rPr lang="en-US" sz="2600">
                <a:solidFill>
                  <a:srgbClr val="FFFFFF"/>
                </a:solidFill>
                <a:latin typeface="Poppins" panose="00000500000000000000"/>
                <a:ea typeface="Poppins" panose="00000500000000000000"/>
                <a:cs typeface="Poppins" panose="00000500000000000000"/>
                <a:sym typeface="Poppins" panose="00000500000000000000"/>
              </a:rPr>
              <a:t>🔹 </a:t>
            </a:r>
            <a:r>
              <a:rPr lang="en-US" sz="2600" b="1">
                <a:solidFill>
                  <a:srgbClr val="FFFFFF"/>
                </a:solidFill>
                <a:latin typeface="Poppins Bold" panose="00000800000000000000"/>
                <a:ea typeface="Poppins Bold" panose="00000800000000000000"/>
                <a:cs typeface="Poppins Bold" panose="00000800000000000000"/>
                <a:sym typeface="Poppins Bold" panose="00000800000000000000"/>
              </a:rPr>
              <a:t>Address Data Bias in Predictions</a:t>
            </a:r>
            <a:endParaRPr lang="en-US" sz="2600" b="1">
              <a:solidFill>
                <a:srgbClr val="FFFFFF"/>
              </a:solidFill>
              <a:latin typeface="Poppins Bold" panose="00000800000000000000"/>
              <a:ea typeface="Poppins Bold" panose="00000800000000000000"/>
              <a:cs typeface="Poppins Bold" panose="00000800000000000000"/>
              <a:sym typeface="Poppins Bold" panose="00000800000000000000"/>
            </a:endParaRPr>
          </a:p>
          <a:p>
            <a:pPr marL="474980" lvl="1" indent="-237490" algn="l">
              <a:lnSpc>
                <a:spcPts val="3080"/>
              </a:lnSpc>
              <a:buFont typeface="Arial" panose="020B0604020202020204"/>
              <a:buChar char="•"/>
            </a:pPr>
            <a:r>
              <a:rPr lang="en-US" sz="2200">
                <a:solidFill>
                  <a:srgbClr val="A7A9AC"/>
                </a:solidFill>
                <a:latin typeface="Poppins" panose="00000500000000000000"/>
                <a:ea typeface="Poppins" panose="00000500000000000000"/>
                <a:cs typeface="Poppins" panose="00000500000000000000"/>
                <a:sym typeface="Poppins" panose="00000500000000000000"/>
              </a:rPr>
              <a:t>If fans over-support popular teams, the model may reinforce this bias, reducing accuracy in identifying underdog victories.</a:t>
            </a:r>
            <a:endParaRPr lang="en-US" sz="2200">
              <a:solidFill>
                <a:srgbClr val="A7A9AC"/>
              </a:solidFill>
              <a:latin typeface="Poppins" panose="00000500000000000000"/>
              <a:ea typeface="Poppins" panose="00000500000000000000"/>
              <a:cs typeface="Poppins" panose="00000500000000000000"/>
              <a:sym typeface="Poppins" panose="00000500000000000000"/>
            </a:endParaRPr>
          </a:p>
          <a:p>
            <a:pPr marL="474980" lvl="1" indent="-237490" algn="l">
              <a:lnSpc>
                <a:spcPts val="3080"/>
              </a:lnSpc>
              <a:buFont typeface="Arial" panose="020B0604020202020204"/>
              <a:buChar char="•"/>
            </a:pPr>
            <a:r>
              <a:rPr lang="en-US" sz="2200">
                <a:solidFill>
                  <a:srgbClr val="A7A9AC"/>
                </a:solidFill>
                <a:latin typeface="Poppins" panose="00000500000000000000"/>
                <a:ea typeface="Poppins" panose="00000500000000000000"/>
                <a:cs typeface="Poppins" panose="00000500000000000000"/>
                <a:sym typeface="Poppins" panose="00000500000000000000"/>
              </a:rPr>
              <a:t>Future improvements should include bias correction techniques such as reweighting predictions or incorporating adjusted ranking features.</a:t>
            </a:r>
            <a:endParaRPr lang="en-US" sz="2200">
              <a:solidFill>
                <a:srgbClr val="A7A9AC"/>
              </a:solidFill>
              <a:latin typeface="Poppins" panose="00000500000000000000"/>
              <a:ea typeface="Poppins" panose="00000500000000000000"/>
              <a:cs typeface="Poppins" panose="00000500000000000000"/>
              <a:sym typeface="Poppins" panose="00000500000000000000"/>
            </a:endParaRPr>
          </a:p>
          <a:p>
            <a:pPr algn="l">
              <a:lnSpc>
                <a:spcPts val="3640"/>
              </a:lnSpc>
              <a:spcBef>
                <a:spcPct val="0"/>
              </a:spcBef>
            </a:pPr>
            <a:r>
              <a:rPr lang="en-US" sz="2600">
                <a:solidFill>
                  <a:srgbClr val="FFFFFF"/>
                </a:solidFill>
                <a:latin typeface="Poppins" panose="00000500000000000000"/>
                <a:ea typeface="Poppins" panose="00000500000000000000"/>
                <a:cs typeface="Poppins" panose="00000500000000000000"/>
                <a:sym typeface="Poppins" panose="00000500000000000000"/>
              </a:rPr>
              <a:t>🔹</a:t>
            </a:r>
            <a:r>
              <a:rPr lang="en-US" sz="2600" b="1">
                <a:solidFill>
                  <a:srgbClr val="FFFFFF"/>
                </a:solidFill>
                <a:latin typeface="Poppins Bold" panose="00000800000000000000"/>
                <a:ea typeface="Poppins Bold" panose="00000800000000000000"/>
                <a:cs typeface="Poppins Bold" panose="00000800000000000000"/>
                <a:sym typeface="Poppins Bold" panose="00000800000000000000"/>
              </a:rPr>
              <a:t> Improve Feature Utilization in Predictive Models</a:t>
            </a:r>
            <a:endParaRPr lang="en-US" sz="2600" b="1">
              <a:solidFill>
                <a:srgbClr val="FFFFFF"/>
              </a:solidFill>
              <a:latin typeface="Poppins Bold" panose="00000800000000000000"/>
              <a:ea typeface="Poppins Bold" panose="00000800000000000000"/>
              <a:cs typeface="Poppins Bold" panose="00000800000000000000"/>
              <a:sym typeface="Poppins Bold" panose="00000800000000000000"/>
            </a:endParaRPr>
          </a:p>
          <a:p>
            <a:pPr marL="474980" lvl="1" indent="-237490" algn="l">
              <a:lnSpc>
                <a:spcPts val="3080"/>
              </a:lnSpc>
              <a:buFont typeface="Arial" panose="020B0604020202020204"/>
              <a:buChar char="•"/>
            </a:pPr>
            <a:r>
              <a:rPr lang="en-US" sz="2200">
                <a:solidFill>
                  <a:srgbClr val="A7A9AC"/>
                </a:solidFill>
                <a:latin typeface="Poppins" panose="00000500000000000000"/>
                <a:ea typeface="Poppins" panose="00000500000000000000"/>
                <a:cs typeface="Poppins" panose="00000500000000000000"/>
                <a:sym typeface="Poppins" panose="00000500000000000000"/>
              </a:rPr>
              <a:t>Although we explored One-Hot Encoding, it was not fully implemented in the predictive model.</a:t>
            </a:r>
            <a:endParaRPr lang="en-US" sz="2200">
              <a:solidFill>
                <a:srgbClr val="A7A9AC"/>
              </a:solidFill>
              <a:latin typeface="Poppins" panose="00000500000000000000"/>
              <a:ea typeface="Poppins" panose="00000500000000000000"/>
              <a:cs typeface="Poppins" panose="00000500000000000000"/>
              <a:sym typeface="Poppins" panose="00000500000000000000"/>
            </a:endParaRPr>
          </a:p>
          <a:p>
            <a:pPr marL="474980" lvl="1" indent="-237490" algn="l">
              <a:lnSpc>
                <a:spcPts val="3080"/>
              </a:lnSpc>
              <a:buFont typeface="Arial" panose="020B0604020202020204"/>
              <a:buChar char="•"/>
            </a:pPr>
            <a:r>
              <a:rPr lang="en-US" sz="2200">
                <a:solidFill>
                  <a:srgbClr val="A7A9AC"/>
                </a:solidFill>
                <a:latin typeface="Poppins" panose="00000500000000000000"/>
                <a:ea typeface="Poppins" panose="00000500000000000000"/>
                <a:cs typeface="Poppins" panose="00000500000000000000"/>
                <a:sym typeface="Poppins" panose="00000500000000000000"/>
              </a:rPr>
              <a:t>Future iterations should integrate richer categorical features, such as conference affiliations, historical trends, and game-level statistics, to improve prediction accuracy.</a:t>
            </a:r>
            <a:endParaRPr lang="en-US" sz="2200">
              <a:solidFill>
                <a:srgbClr val="A7A9AC"/>
              </a:solidFill>
              <a:latin typeface="Poppins" panose="00000500000000000000"/>
              <a:ea typeface="Poppins" panose="00000500000000000000"/>
              <a:cs typeface="Poppins" panose="00000500000000000000"/>
              <a:sym typeface="Poppins" panose="00000500000000000000"/>
            </a:endParaRPr>
          </a:p>
          <a:p>
            <a:pPr algn="l">
              <a:lnSpc>
                <a:spcPts val="3640"/>
              </a:lnSpc>
              <a:spcBef>
                <a:spcPct val="0"/>
              </a:spcBef>
            </a:pPr>
            <a:r>
              <a:rPr lang="en-US" sz="2600">
                <a:solidFill>
                  <a:srgbClr val="FFFFFF"/>
                </a:solidFill>
                <a:latin typeface="Poppins" panose="00000500000000000000"/>
                <a:ea typeface="Poppins" panose="00000500000000000000"/>
                <a:cs typeface="Poppins" panose="00000500000000000000"/>
                <a:sym typeface="Poppins" panose="00000500000000000000"/>
              </a:rPr>
              <a:t>🔹</a:t>
            </a:r>
            <a:r>
              <a:rPr lang="en-US" sz="2600" b="1">
                <a:solidFill>
                  <a:srgbClr val="FFFFFF"/>
                </a:solidFill>
                <a:latin typeface="Poppins Bold" panose="00000800000000000000"/>
                <a:ea typeface="Poppins Bold" panose="00000800000000000000"/>
                <a:cs typeface="Poppins Bold" panose="00000800000000000000"/>
                <a:sym typeface="Poppins Bold" panose="00000800000000000000"/>
              </a:rPr>
              <a:t> Enhance Model Interpretability &amp; Feature Expansion</a:t>
            </a:r>
            <a:endParaRPr lang="en-US" sz="2600" b="1">
              <a:solidFill>
                <a:srgbClr val="FFFFFF"/>
              </a:solidFill>
              <a:latin typeface="Poppins Bold" panose="00000800000000000000"/>
              <a:ea typeface="Poppins Bold" panose="00000800000000000000"/>
              <a:cs typeface="Poppins Bold" panose="00000800000000000000"/>
              <a:sym typeface="Poppins Bold" panose="00000800000000000000"/>
            </a:endParaRPr>
          </a:p>
          <a:p>
            <a:pPr marL="474980" lvl="1" indent="-237490" algn="l">
              <a:lnSpc>
                <a:spcPts val="3080"/>
              </a:lnSpc>
              <a:buFont typeface="Arial" panose="020B0604020202020204"/>
              <a:buChar char="•"/>
            </a:pPr>
            <a:r>
              <a:rPr lang="en-US" sz="2200">
                <a:solidFill>
                  <a:srgbClr val="A7A9AC"/>
                </a:solidFill>
                <a:latin typeface="Poppins" panose="00000500000000000000"/>
                <a:ea typeface="Poppins" panose="00000500000000000000"/>
                <a:cs typeface="Poppins" panose="00000500000000000000"/>
                <a:sym typeface="Poppins" panose="00000500000000000000"/>
              </a:rPr>
              <a:t>Expand feature engineering efforts, incorporating additional external data sources to strengthen model insights.</a:t>
            </a:r>
            <a:endParaRPr lang="en-US" sz="2200">
              <a:solidFill>
                <a:srgbClr val="A7A9AC"/>
              </a:solidFill>
              <a:latin typeface="Poppins" panose="00000500000000000000"/>
              <a:ea typeface="Poppins" panose="00000500000000000000"/>
              <a:cs typeface="Poppins" panose="00000500000000000000"/>
              <a:sym typeface="Poppins" panose="0000050000000000000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22" b="-9222"/>
            </a:stretch>
          </a:blipFill>
        </p:spPr>
      </p:sp>
      <p:grpSp>
        <p:nvGrpSpPr>
          <p:cNvPr id="3" name="Group 3"/>
          <p:cNvGrpSpPr/>
          <p:nvPr/>
        </p:nvGrpSpPr>
        <p:grpSpPr>
          <a:xfrm rot="0">
            <a:off x="-223578" y="4945216"/>
            <a:ext cx="3976178" cy="10781843"/>
            <a:chOff x="0" y="0"/>
            <a:chExt cx="472130" cy="1280233"/>
          </a:xfrm>
        </p:grpSpPr>
        <p:sp>
          <p:nvSpPr>
            <p:cNvPr id="4" name="Freeform 4"/>
            <p:cNvSpPr/>
            <p:nvPr/>
          </p:nvSpPr>
          <p:spPr>
            <a:xfrm>
              <a:off x="0" y="0"/>
              <a:ext cx="472130" cy="1280233"/>
            </a:xfrm>
            <a:custGeom>
              <a:avLst/>
              <a:gdLst/>
              <a:ahLst/>
              <a:cxnLst/>
              <a:rect l="l" t="t" r="r" b="b"/>
              <a:pathLst>
                <a:path w="472130" h="1280233">
                  <a:moveTo>
                    <a:pt x="203200" y="0"/>
                  </a:moveTo>
                  <a:lnTo>
                    <a:pt x="472130" y="0"/>
                  </a:lnTo>
                  <a:lnTo>
                    <a:pt x="268930" y="1280233"/>
                  </a:lnTo>
                  <a:lnTo>
                    <a:pt x="0" y="1280233"/>
                  </a:lnTo>
                  <a:lnTo>
                    <a:pt x="203200" y="0"/>
                  </a:lnTo>
                  <a:close/>
                </a:path>
              </a:pathLst>
            </a:custGeom>
            <a:gradFill rotWithShape="1">
              <a:gsLst>
                <a:gs pos="0">
                  <a:srgbClr val="8D2600">
                    <a:alpha val="100000"/>
                  </a:srgbClr>
                </a:gs>
                <a:gs pos="100000">
                  <a:srgbClr val="FF4500">
                    <a:alpha val="100000"/>
                  </a:srgbClr>
                </a:gs>
              </a:gsLst>
              <a:lin ang="0"/>
            </a:gradFill>
          </p:spPr>
        </p:sp>
        <p:sp>
          <p:nvSpPr>
            <p:cNvPr id="5" name="TextBox 5"/>
            <p:cNvSpPr txBox="1"/>
            <p:nvPr/>
          </p:nvSpPr>
          <p:spPr>
            <a:xfrm>
              <a:off x="101600" y="-57150"/>
              <a:ext cx="268930" cy="1337383"/>
            </a:xfrm>
            <a:prstGeom prst="rect">
              <a:avLst/>
            </a:prstGeom>
          </p:spPr>
          <p:txBody>
            <a:bodyPr lIns="50800" tIns="50800" rIns="50800" bIns="50800" rtlCol="0" anchor="ctr"/>
            <a:lstStyle/>
            <a:p>
              <a:pPr algn="ctr">
                <a:lnSpc>
                  <a:spcPts val="2800"/>
                </a:lnSpc>
              </a:pPr>
            </a:p>
          </p:txBody>
        </p:sp>
      </p:grpSp>
      <p:grpSp>
        <p:nvGrpSpPr>
          <p:cNvPr id="6" name="Group 6"/>
          <p:cNvGrpSpPr/>
          <p:nvPr/>
        </p:nvGrpSpPr>
        <p:grpSpPr>
          <a:xfrm rot="0">
            <a:off x="1551304" y="2186357"/>
            <a:ext cx="2602929" cy="2331842"/>
            <a:chOff x="0" y="0"/>
            <a:chExt cx="1429066" cy="1280233"/>
          </a:xfrm>
        </p:grpSpPr>
        <p:sp>
          <p:nvSpPr>
            <p:cNvPr id="7" name="Freeform 7"/>
            <p:cNvSpPr/>
            <p:nvPr/>
          </p:nvSpPr>
          <p:spPr>
            <a:xfrm>
              <a:off x="0" y="0"/>
              <a:ext cx="1429066" cy="1280233"/>
            </a:xfrm>
            <a:custGeom>
              <a:avLst/>
              <a:gdLst/>
              <a:ahLst/>
              <a:cxnLst/>
              <a:rect l="l" t="t" r="r" b="b"/>
              <a:pathLst>
                <a:path w="1429066" h="1280233">
                  <a:moveTo>
                    <a:pt x="203200" y="0"/>
                  </a:moveTo>
                  <a:lnTo>
                    <a:pt x="1429066" y="0"/>
                  </a:lnTo>
                  <a:lnTo>
                    <a:pt x="1225866" y="1280233"/>
                  </a:lnTo>
                  <a:lnTo>
                    <a:pt x="0" y="1280233"/>
                  </a:lnTo>
                  <a:lnTo>
                    <a:pt x="203200" y="0"/>
                  </a:lnTo>
                  <a:close/>
                </a:path>
              </a:pathLst>
            </a:custGeom>
            <a:gradFill rotWithShape="1">
              <a:gsLst>
                <a:gs pos="0">
                  <a:srgbClr val="8D2600">
                    <a:alpha val="100000"/>
                  </a:srgbClr>
                </a:gs>
                <a:gs pos="100000">
                  <a:srgbClr val="FF4500">
                    <a:alpha val="100000"/>
                  </a:srgbClr>
                </a:gs>
              </a:gsLst>
              <a:lin ang="0"/>
            </a:gradFill>
          </p:spPr>
        </p:sp>
        <p:sp>
          <p:nvSpPr>
            <p:cNvPr id="8" name="TextBox 8"/>
            <p:cNvSpPr txBox="1"/>
            <p:nvPr/>
          </p:nvSpPr>
          <p:spPr>
            <a:xfrm>
              <a:off x="101600" y="-57150"/>
              <a:ext cx="1225866" cy="1337383"/>
            </a:xfrm>
            <a:prstGeom prst="rect">
              <a:avLst/>
            </a:prstGeom>
          </p:spPr>
          <p:txBody>
            <a:bodyPr lIns="50800" tIns="50800" rIns="50800" bIns="50800" rtlCol="0" anchor="ctr"/>
            <a:lstStyle/>
            <a:p>
              <a:pPr algn="ctr">
                <a:lnSpc>
                  <a:spcPts val="2800"/>
                </a:lnSpc>
              </a:pPr>
            </a:p>
          </p:txBody>
        </p:sp>
      </p:grpSp>
      <p:grpSp>
        <p:nvGrpSpPr>
          <p:cNvPr id="9" name="Group 9"/>
          <p:cNvGrpSpPr/>
          <p:nvPr/>
        </p:nvGrpSpPr>
        <p:grpSpPr>
          <a:xfrm rot="0">
            <a:off x="3609316" y="-247421"/>
            <a:ext cx="3976178" cy="10781843"/>
            <a:chOff x="0" y="0"/>
            <a:chExt cx="472130" cy="1280233"/>
          </a:xfrm>
        </p:grpSpPr>
        <p:sp>
          <p:nvSpPr>
            <p:cNvPr id="10" name="Freeform 10"/>
            <p:cNvSpPr/>
            <p:nvPr/>
          </p:nvSpPr>
          <p:spPr>
            <a:xfrm>
              <a:off x="0" y="0"/>
              <a:ext cx="472130" cy="1280233"/>
            </a:xfrm>
            <a:custGeom>
              <a:avLst/>
              <a:gdLst/>
              <a:ahLst/>
              <a:cxnLst/>
              <a:rect l="l" t="t" r="r" b="b"/>
              <a:pathLst>
                <a:path w="472130" h="1280233">
                  <a:moveTo>
                    <a:pt x="203200" y="0"/>
                  </a:moveTo>
                  <a:lnTo>
                    <a:pt x="472130" y="0"/>
                  </a:lnTo>
                  <a:lnTo>
                    <a:pt x="268930" y="1280233"/>
                  </a:lnTo>
                  <a:lnTo>
                    <a:pt x="0" y="1280233"/>
                  </a:lnTo>
                  <a:lnTo>
                    <a:pt x="203200" y="0"/>
                  </a:lnTo>
                  <a:close/>
                </a:path>
              </a:pathLst>
            </a:custGeom>
            <a:gradFill rotWithShape="1">
              <a:gsLst>
                <a:gs pos="0">
                  <a:srgbClr val="8D2600">
                    <a:alpha val="100000"/>
                  </a:srgbClr>
                </a:gs>
                <a:gs pos="100000">
                  <a:srgbClr val="FF4500">
                    <a:alpha val="100000"/>
                  </a:srgbClr>
                </a:gs>
              </a:gsLst>
              <a:lin ang="0"/>
            </a:gradFill>
          </p:spPr>
        </p:sp>
        <p:sp>
          <p:nvSpPr>
            <p:cNvPr id="11" name="TextBox 11"/>
            <p:cNvSpPr txBox="1"/>
            <p:nvPr/>
          </p:nvSpPr>
          <p:spPr>
            <a:xfrm>
              <a:off x="101600" y="-57150"/>
              <a:ext cx="268930" cy="1337383"/>
            </a:xfrm>
            <a:prstGeom prst="rect">
              <a:avLst/>
            </a:prstGeom>
          </p:spPr>
          <p:txBody>
            <a:bodyPr lIns="50800" tIns="50800" rIns="50800" bIns="50800" rtlCol="0" anchor="ctr"/>
            <a:lstStyle/>
            <a:p>
              <a:pPr algn="ctr">
                <a:lnSpc>
                  <a:spcPts val="2800"/>
                </a:lnSpc>
              </a:pPr>
            </a:p>
          </p:txBody>
        </p:sp>
      </p:grpSp>
      <p:sp>
        <p:nvSpPr>
          <p:cNvPr id="12" name="Freeform 12"/>
          <p:cNvSpPr/>
          <p:nvPr/>
        </p:nvSpPr>
        <p:spPr>
          <a:xfrm>
            <a:off x="-1803374" y="4945216"/>
            <a:ext cx="10096228" cy="7534310"/>
          </a:xfrm>
          <a:custGeom>
            <a:avLst/>
            <a:gdLst/>
            <a:ahLst/>
            <a:cxnLst/>
            <a:rect l="l" t="t" r="r" b="b"/>
            <a:pathLst>
              <a:path w="10096228" h="7534310">
                <a:moveTo>
                  <a:pt x="0" y="0"/>
                </a:moveTo>
                <a:lnTo>
                  <a:pt x="10096228" y="0"/>
                </a:lnTo>
                <a:lnTo>
                  <a:pt x="10096228" y="7534311"/>
                </a:lnTo>
                <a:lnTo>
                  <a:pt x="0" y="7534311"/>
                </a:lnTo>
                <a:lnTo>
                  <a:pt x="0" y="0"/>
                </a:lnTo>
                <a:close/>
              </a:path>
            </a:pathLst>
          </a:custGeom>
          <a:blipFill>
            <a:blip r:embed="rId2"/>
            <a:stretch>
              <a:fillRect/>
            </a:stretch>
          </a:blipFill>
        </p:spPr>
      </p:sp>
      <p:sp>
        <p:nvSpPr>
          <p:cNvPr id="13" name="TextBox 13"/>
          <p:cNvSpPr txBox="1"/>
          <p:nvPr/>
        </p:nvSpPr>
        <p:spPr>
          <a:xfrm>
            <a:off x="1028700" y="1146175"/>
            <a:ext cx="1873255" cy="263525"/>
          </a:xfrm>
          <a:prstGeom prst="rect">
            <a:avLst/>
          </a:prstGeom>
        </p:spPr>
        <p:txBody>
          <a:bodyPr lIns="0" tIns="0" rIns="0" bIns="0" rtlCol="0" anchor="t">
            <a:spAutoFit/>
          </a:bodyPr>
          <a:lstStyle/>
          <a:p>
            <a:pPr algn="l">
              <a:lnSpc>
                <a:spcPts val="1900"/>
              </a:lnSpc>
            </a:pPr>
            <a:r>
              <a:rPr lang="en-US" sz="20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rPr>
              <a:t>CCAC</a:t>
            </a:r>
            <a:endParaRPr lang="en-US" sz="20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endParaRPr>
          </a:p>
        </p:txBody>
      </p:sp>
      <p:sp>
        <p:nvSpPr>
          <p:cNvPr id="14" name="TextBox 14"/>
          <p:cNvSpPr txBox="1"/>
          <p:nvPr/>
        </p:nvSpPr>
        <p:spPr>
          <a:xfrm>
            <a:off x="8292854" y="3842331"/>
            <a:ext cx="8826797" cy="2076250"/>
          </a:xfrm>
          <a:prstGeom prst="rect">
            <a:avLst/>
          </a:prstGeom>
        </p:spPr>
        <p:txBody>
          <a:bodyPr lIns="0" tIns="0" rIns="0" bIns="0" rtlCol="0" anchor="t">
            <a:spAutoFit/>
          </a:bodyPr>
          <a:lstStyle/>
          <a:p>
            <a:pPr algn="ctr">
              <a:lnSpc>
                <a:spcPts val="15385"/>
              </a:lnSpc>
            </a:pPr>
            <a:r>
              <a:rPr lang="en-US" sz="16195"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rPr>
              <a:t>APPENDIX</a:t>
            </a:r>
            <a:endParaRPr lang="en-US" sz="16195"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endParaRPr>
          </a:p>
        </p:txBody>
      </p:sp>
      <p:sp>
        <p:nvSpPr>
          <p:cNvPr id="15" name="TextBox 15"/>
          <p:cNvSpPr txBox="1"/>
          <p:nvPr/>
        </p:nvSpPr>
        <p:spPr>
          <a:xfrm>
            <a:off x="9783152" y="5690721"/>
            <a:ext cx="7044797" cy="1244601"/>
          </a:xfrm>
          <a:prstGeom prst="rect">
            <a:avLst/>
          </a:prstGeom>
        </p:spPr>
        <p:txBody>
          <a:bodyPr lIns="0" tIns="0" rIns="0" bIns="0" rtlCol="0" anchor="t">
            <a:spAutoFit/>
          </a:bodyPr>
          <a:lstStyle/>
          <a:p>
            <a:pPr algn="l">
              <a:lnSpc>
                <a:spcPts val="4900"/>
              </a:lnSpc>
            </a:pPr>
            <a:r>
              <a:rPr lang="en-US" sz="3500" b="1">
                <a:solidFill>
                  <a:srgbClr val="FFFFFF"/>
                </a:solidFill>
                <a:latin typeface="Poppins Bold" panose="00000800000000000000"/>
                <a:ea typeface="Poppins Bold" panose="00000800000000000000"/>
                <a:cs typeface="Poppins Bold" panose="00000800000000000000"/>
                <a:sym typeface="Poppins Bold" panose="00000800000000000000"/>
              </a:rPr>
              <a:t>→ Team Roles &amp; Contributions</a:t>
            </a:r>
            <a:endParaRPr lang="en-US" sz="3500" b="1">
              <a:solidFill>
                <a:srgbClr val="FFFFFF"/>
              </a:solidFill>
              <a:latin typeface="Poppins Bold" panose="00000800000000000000"/>
              <a:ea typeface="Poppins Bold" panose="00000800000000000000"/>
              <a:cs typeface="Poppins Bold" panose="00000800000000000000"/>
              <a:sym typeface="Poppins Bold" panose="00000800000000000000"/>
            </a:endParaRPr>
          </a:p>
          <a:p>
            <a:pPr algn="l">
              <a:lnSpc>
                <a:spcPts val="4900"/>
              </a:lnSpc>
            </a:pPr>
            <a:r>
              <a:rPr lang="en-US" sz="3500" b="1">
                <a:solidFill>
                  <a:srgbClr val="FFFFFF"/>
                </a:solidFill>
                <a:latin typeface="Poppins Bold" panose="00000800000000000000"/>
                <a:ea typeface="Poppins Bold" panose="00000800000000000000"/>
                <a:cs typeface="Poppins Bold" panose="00000800000000000000"/>
                <a:sym typeface="Poppins Bold" panose="00000800000000000000"/>
              </a:rPr>
              <a:t>→  Acknowledgments</a:t>
            </a:r>
            <a:endParaRPr lang="en-US" sz="3500" b="1">
              <a:solidFill>
                <a:srgbClr val="FFFFFF"/>
              </a:solidFill>
              <a:latin typeface="Poppins Bold" panose="00000800000000000000"/>
              <a:ea typeface="Poppins Bold" panose="00000800000000000000"/>
              <a:cs typeface="Poppins Bold" panose="00000800000000000000"/>
              <a:sym typeface="Poppins Bold" panose="0000080000000000000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22" b="-9222"/>
            </a:stretch>
          </a:blipFill>
        </p:spPr>
      </p:sp>
      <p:grpSp>
        <p:nvGrpSpPr>
          <p:cNvPr id="3" name="Group 3"/>
          <p:cNvGrpSpPr/>
          <p:nvPr/>
        </p:nvGrpSpPr>
        <p:grpSpPr>
          <a:xfrm rot="1362489">
            <a:off x="14677219" y="-806638"/>
            <a:ext cx="4852175" cy="4169838"/>
            <a:chOff x="0" y="0"/>
            <a:chExt cx="812800" cy="698500"/>
          </a:xfrm>
        </p:grpSpPr>
        <p:sp>
          <p:nvSpPr>
            <p:cNvPr id="4" name="Freeform 4"/>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8D2600">
                    <a:alpha val="100000"/>
                  </a:srgbClr>
                </a:gs>
                <a:gs pos="100000">
                  <a:srgbClr val="FF4500">
                    <a:alpha val="100000"/>
                  </a:srgbClr>
                </a:gs>
              </a:gsLst>
              <a:lin ang="0"/>
            </a:gradFill>
          </p:spPr>
        </p:sp>
        <p:sp>
          <p:nvSpPr>
            <p:cNvPr id="5" name="TextBox 5"/>
            <p:cNvSpPr txBox="1"/>
            <p:nvPr/>
          </p:nvSpPr>
          <p:spPr>
            <a:xfrm>
              <a:off x="114300" y="-57150"/>
              <a:ext cx="584200" cy="755650"/>
            </a:xfrm>
            <a:prstGeom prst="rect">
              <a:avLst/>
            </a:prstGeom>
          </p:spPr>
          <p:txBody>
            <a:bodyPr lIns="50800" tIns="50800" rIns="50800" bIns="50800" rtlCol="0" anchor="ctr"/>
            <a:lstStyle/>
            <a:p>
              <a:pPr algn="ctr">
                <a:lnSpc>
                  <a:spcPts val="2800"/>
                </a:lnSpc>
              </a:pPr>
            </a:p>
          </p:txBody>
        </p:sp>
      </p:grpSp>
      <p:sp>
        <p:nvSpPr>
          <p:cNvPr id="6" name="Freeform 6"/>
          <p:cNvSpPr/>
          <p:nvPr/>
        </p:nvSpPr>
        <p:spPr>
          <a:xfrm>
            <a:off x="5815722" y="2798531"/>
            <a:ext cx="2108456" cy="2099127"/>
          </a:xfrm>
          <a:custGeom>
            <a:avLst/>
            <a:gdLst/>
            <a:ahLst/>
            <a:cxnLst/>
            <a:rect l="l" t="t" r="r" b="b"/>
            <a:pathLst>
              <a:path w="2108456" h="2099127">
                <a:moveTo>
                  <a:pt x="0" y="0"/>
                </a:moveTo>
                <a:lnTo>
                  <a:pt x="2108456" y="0"/>
                </a:lnTo>
                <a:lnTo>
                  <a:pt x="2108456" y="2099127"/>
                </a:lnTo>
                <a:lnTo>
                  <a:pt x="0" y="2099127"/>
                </a:lnTo>
                <a:lnTo>
                  <a:pt x="0" y="0"/>
                </a:lnTo>
                <a:close/>
              </a:path>
            </a:pathLst>
          </a:custGeom>
          <a:blipFill>
            <a:blip r:embed="rId2"/>
            <a:stretch>
              <a:fillRect/>
            </a:stretch>
          </a:blipFill>
        </p:spPr>
      </p:sp>
      <p:sp>
        <p:nvSpPr>
          <p:cNvPr id="7" name="Freeform 7"/>
          <p:cNvSpPr/>
          <p:nvPr/>
        </p:nvSpPr>
        <p:spPr>
          <a:xfrm>
            <a:off x="2192830" y="2798531"/>
            <a:ext cx="2099127" cy="2099127"/>
          </a:xfrm>
          <a:custGeom>
            <a:avLst/>
            <a:gdLst/>
            <a:ahLst/>
            <a:cxnLst/>
            <a:rect l="l" t="t" r="r" b="b"/>
            <a:pathLst>
              <a:path w="2099127" h="2099127">
                <a:moveTo>
                  <a:pt x="0" y="0"/>
                </a:moveTo>
                <a:lnTo>
                  <a:pt x="2099126" y="0"/>
                </a:lnTo>
                <a:lnTo>
                  <a:pt x="2099126" y="2099127"/>
                </a:lnTo>
                <a:lnTo>
                  <a:pt x="0" y="2099127"/>
                </a:lnTo>
                <a:lnTo>
                  <a:pt x="0" y="0"/>
                </a:lnTo>
                <a:close/>
              </a:path>
            </a:pathLst>
          </a:custGeom>
          <a:blipFill>
            <a:blip r:embed="rId3"/>
            <a:stretch>
              <a:fillRect/>
            </a:stretch>
          </a:blipFill>
        </p:spPr>
      </p:sp>
      <p:sp>
        <p:nvSpPr>
          <p:cNvPr id="8" name="Freeform 8"/>
          <p:cNvSpPr/>
          <p:nvPr/>
        </p:nvSpPr>
        <p:spPr>
          <a:xfrm>
            <a:off x="9441750" y="2798531"/>
            <a:ext cx="2099127" cy="2099127"/>
          </a:xfrm>
          <a:custGeom>
            <a:avLst/>
            <a:gdLst/>
            <a:ahLst/>
            <a:cxnLst/>
            <a:rect l="l" t="t" r="r" b="b"/>
            <a:pathLst>
              <a:path w="2099127" h="2099127">
                <a:moveTo>
                  <a:pt x="0" y="0"/>
                </a:moveTo>
                <a:lnTo>
                  <a:pt x="2099127" y="0"/>
                </a:lnTo>
                <a:lnTo>
                  <a:pt x="2099127" y="2099127"/>
                </a:lnTo>
                <a:lnTo>
                  <a:pt x="0" y="2099127"/>
                </a:lnTo>
                <a:lnTo>
                  <a:pt x="0" y="0"/>
                </a:lnTo>
                <a:close/>
              </a:path>
            </a:pathLst>
          </a:custGeom>
          <a:blipFill>
            <a:blip r:embed="rId4"/>
            <a:stretch>
              <a:fillRect/>
            </a:stretch>
          </a:blipFill>
        </p:spPr>
      </p:sp>
      <p:sp>
        <p:nvSpPr>
          <p:cNvPr id="9" name="Freeform 9"/>
          <p:cNvSpPr/>
          <p:nvPr/>
        </p:nvSpPr>
        <p:spPr>
          <a:xfrm>
            <a:off x="13007077" y="2798531"/>
            <a:ext cx="2099127" cy="2099127"/>
          </a:xfrm>
          <a:custGeom>
            <a:avLst/>
            <a:gdLst/>
            <a:ahLst/>
            <a:cxnLst/>
            <a:rect l="l" t="t" r="r" b="b"/>
            <a:pathLst>
              <a:path w="2099127" h="2099127">
                <a:moveTo>
                  <a:pt x="0" y="0"/>
                </a:moveTo>
                <a:lnTo>
                  <a:pt x="2099127" y="0"/>
                </a:lnTo>
                <a:lnTo>
                  <a:pt x="2099127" y="2099127"/>
                </a:lnTo>
                <a:lnTo>
                  <a:pt x="0" y="2099127"/>
                </a:lnTo>
                <a:lnTo>
                  <a:pt x="0" y="0"/>
                </a:lnTo>
                <a:close/>
              </a:path>
            </a:pathLst>
          </a:custGeom>
          <a:blipFill>
            <a:blip r:embed="rId5"/>
            <a:stretch>
              <a:fillRect/>
            </a:stretch>
          </a:blipFill>
        </p:spPr>
      </p:sp>
      <p:sp>
        <p:nvSpPr>
          <p:cNvPr id="10" name="TextBox 10"/>
          <p:cNvSpPr txBox="1"/>
          <p:nvPr/>
        </p:nvSpPr>
        <p:spPr>
          <a:xfrm>
            <a:off x="839814" y="1109843"/>
            <a:ext cx="12995379" cy="1162050"/>
          </a:xfrm>
          <a:prstGeom prst="rect">
            <a:avLst/>
          </a:prstGeom>
        </p:spPr>
        <p:txBody>
          <a:bodyPr lIns="0" tIns="0" rIns="0" bIns="0" rtlCol="0" anchor="t">
            <a:spAutoFit/>
          </a:bodyPr>
          <a:lstStyle/>
          <a:p>
            <a:pPr algn="l">
              <a:lnSpc>
                <a:spcPts val="8550"/>
              </a:lnSpc>
            </a:pPr>
            <a:r>
              <a:rPr lang="en-US" sz="90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rPr>
              <a:t>TEAM ROLES &amp; CONTRIBUTIONS</a:t>
            </a:r>
            <a:endParaRPr lang="en-US" sz="90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endParaRPr>
          </a:p>
        </p:txBody>
      </p:sp>
      <p:sp>
        <p:nvSpPr>
          <p:cNvPr id="11" name="TextBox 11"/>
          <p:cNvSpPr txBox="1"/>
          <p:nvPr/>
        </p:nvSpPr>
        <p:spPr>
          <a:xfrm>
            <a:off x="1894393" y="5055354"/>
            <a:ext cx="2696000" cy="401116"/>
          </a:xfrm>
          <a:prstGeom prst="rect">
            <a:avLst/>
          </a:prstGeom>
        </p:spPr>
        <p:txBody>
          <a:bodyPr lIns="0" tIns="0" rIns="0" bIns="0" rtlCol="0" anchor="t">
            <a:spAutoFit/>
          </a:bodyPr>
          <a:lstStyle/>
          <a:p>
            <a:pPr algn="ctr">
              <a:lnSpc>
                <a:spcPts val="2935"/>
              </a:lnSpc>
            </a:pPr>
            <a:r>
              <a:rPr lang="en-US" sz="2445" b="1">
                <a:solidFill>
                  <a:srgbClr val="FFFFFF"/>
                </a:solidFill>
                <a:latin typeface="Poppins Bold" panose="00000800000000000000"/>
                <a:ea typeface="Poppins Bold" panose="00000800000000000000"/>
                <a:cs typeface="Poppins Bold" panose="00000800000000000000"/>
                <a:sym typeface="Poppins Bold" panose="00000800000000000000"/>
              </a:rPr>
              <a:t>Huangkun Chen</a:t>
            </a:r>
            <a:endParaRPr lang="en-US" sz="2445" b="1">
              <a:solidFill>
                <a:srgbClr val="FFFFFF"/>
              </a:solidFill>
              <a:latin typeface="Poppins Bold" panose="00000800000000000000"/>
              <a:ea typeface="Poppins Bold" panose="00000800000000000000"/>
              <a:cs typeface="Poppins Bold" panose="00000800000000000000"/>
              <a:sym typeface="Poppins Bold" panose="00000800000000000000"/>
            </a:endParaRPr>
          </a:p>
        </p:txBody>
      </p:sp>
      <p:sp>
        <p:nvSpPr>
          <p:cNvPr id="12" name="TextBox 12"/>
          <p:cNvSpPr txBox="1"/>
          <p:nvPr/>
        </p:nvSpPr>
        <p:spPr>
          <a:xfrm>
            <a:off x="5521950" y="5055354"/>
            <a:ext cx="2696000" cy="401116"/>
          </a:xfrm>
          <a:prstGeom prst="rect">
            <a:avLst/>
          </a:prstGeom>
        </p:spPr>
        <p:txBody>
          <a:bodyPr lIns="0" tIns="0" rIns="0" bIns="0" rtlCol="0" anchor="t">
            <a:spAutoFit/>
          </a:bodyPr>
          <a:lstStyle/>
          <a:p>
            <a:pPr algn="ctr">
              <a:lnSpc>
                <a:spcPts val="2935"/>
              </a:lnSpc>
            </a:pPr>
            <a:r>
              <a:rPr lang="en-US" sz="2445" b="1">
                <a:solidFill>
                  <a:srgbClr val="FFFFFF"/>
                </a:solidFill>
                <a:latin typeface="Poppins Bold" panose="00000800000000000000"/>
                <a:ea typeface="Poppins Bold" panose="00000800000000000000"/>
                <a:cs typeface="Poppins Bold" panose="00000800000000000000"/>
                <a:sym typeface="Poppins Bold" panose="00000800000000000000"/>
              </a:rPr>
              <a:t>Yingtong Wang</a:t>
            </a:r>
            <a:endParaRPr lang="en-US" sz="2445" b="1">
              <a:solidFill>
                <a:srgbClr val="FFFFFF"/>
              </a:solidFill>
              <a:latin typeface="Poppins Bold" panose="00000800000000000000"/>
              <a:ea typeface="Poppins Bold" panose="00000800000000000000"/>
              <a:cs typeface="Poppins Bold" panose="00000800000000000000"/>
              <a:sym typeface="Poppins Bold" panose="00000800000000000000"/>
            </a:endParaRPr>
          </a:p>
        </p:txBody>
      </p:sp>
      <p:sp>
        <p:nvSpPr>
          <p:cNvPr id="13" name="TextBox 13"/>
          <p:cNvSpPr txBox="1"/>
          <p:nvPr/>
        </p:nvSpPr>
        <p:spPr>
          <a:xfrm>
            <a:off x="9143314" y="5055354"/>
            <a:ext cx="2696000" cy="401116"/>
          </a:xfrm>
          <a:prstGeom prst="rect">
            <a:avLst/>
          </a:prstGeom>
        </p:spPr>
        <p:txBody>
          <a:bodyPr lIns="0" tIns="0" rIns="0" bIns="0" rtlCol="0" anchor="t">
            <a:spAutoFit/>
          </a:bodyPr>
          <a:lstStyle/>
          <a:p>
            <a:pPr algn="ctr">
              <a:lnSpc>
                <a:spcPts val="2935"/>
              </a:lnSpc>
            </a:pPr>
            <a:r>
              <a:rPr lang="en-US" sz="2445" b="1">
                <a:solidFill>
                  <a:srgbClr val="FFFFFF"/>
                </a:solidFill>
                <a:latin typeface="Poppins Bold" panose="00000800000000000000"/>
                <a:ea typeface="Poppins Bold" panose="00000800000000000000"/>
                <a:cs typeface="Poppins Bold" panose="00000800000000000000"/>
                <a:sym typeface="Poppins Bold" panose="00000800000000000000"/>
              </a:rPr>
              <a:t>Yingjie Chen</a:t>
            </a:r>
            <a:endParaRPr lang="en-US" sz="2445" b="1">
              <a:solidFill>
                <a:srgbClr val="FFFFFF"/>
              </a:solidFill>
              <a:latin typeface="Poppins Bold" panose="00000800000000000000"/>
              <a:ea typeface="Poppins Bold" panose="00000800000000000000"/>
              <a:cs typeface="Poppins Bold" panose="00000800000000000000"/>
              <a:sym typeface="Poppins Bold" panose="00000800000000000000"/>
            </a:endParaRPr>
          </a:p>
        </p:txBody>
      </p:sp>
      <p:sp>
        <p:nvSpPr>
          <p:cNvPr id="14" name="TextBox 14"/>
          <p:cNvSpPr txBox="1"/>
          <p:nvPr/>
        </p:nvSpPr>
        <p:spPr>
          <a:xfrm>
            <a:off x="12575937" y="5055354"/>
            <a:ext cx="3035353" cy="375920"/>
          </a:xfrm>
          <a:prstGeom prst="rect">
            <a:avLst/>
          </a:prstGeom>
        </p:spPr>
        <p:txBody>
          <a:bodyPr lIns="0" tIns="0" rIns="0" bIns="0" rtlCol="0" anchor="t">
            <a:spAutoFit/>
          </a:bodyPr>
          <a:lstStyle/>
          <a:p>
            <a:pPr algn="ctr">
              <a:lnSpc>
                <a:spcPts val="2935"/>
              </a:lnSpc>
            </a:pPr>
            <a:r>
              <a:rPr lang="en-US" sz="2445" b="1">
                <a:solidFill>
                  <a:srgbClr val="FFFFFF"/>
                </a:solidFill>
                <a:latin typeface="Poppins Bold" panose="00000800000000000000"/>
                <a:ea typeface="Poppins Bold" panose="00000800000000000000"/>
                <a:cs typeface="Poppins Bold" panose="00000800000000000000"/>
                <a:sym typeface="Poppins Bold" panose="00000800000000000000"/>
              </a:rPr>
              <a:t>Nikhil Ram Atluri</a:t>
            </a:r>
            <a:endParaRPr lang="en-US" sz="2445" b="1">
              <a:solidFill>
                <a:srgbClr val="FFFFFF"/>
              </a:solidFill>
              <a:latin typeface="Poppins Bold" panose="00000800000000000000"/>
              <a:ea typeface="Poppins Bold" panose="00000800000000000000"/>
              <a:cs typeface="Poppins Bold" panose="00000800000000000000"/>
              <a:sym typeface="Poppins Bold" panose="00000800000000000000"/>
            </a:endParaRPr>
          </a:p>
        </p:txBody>
      </p:sp>
      <p:sp>
        <p:nvSpPr>
          <p:cNvPr id="15" name="TextBox 15"/>
          <p:cNvSpPr txBox="1"/>
          <p:nvPr/>
        </p:nvSpPr>
        <p:spPr>
          <a:xfrm>
            <a:off x="1600621" y="5839020"/>
            <a:ext cx="3307032" cy="1530381"/>
          </a:xfrm>
          <a:prstGeom prst="rect">
            <a:avLst/>
          </a:prstGeom>
        </p:spPr>
        <p:txBody>
          <a:bodyPr lIns="0" tIns="0" rIns="0" bIns="0" rtlCol="0" anchor="t">
            <a:spAutoFit/>
          </a:bodyPr>
          <a:lstStyle/>
          <a:p>
            <a:pPr algn="ctr">
              <a:lnSpc>
                <a:spcPts val="3080"/>
              </a:lnSpc>
            </a:pPr>
            <a:r>
              <a:rPr lang="en-US" sz="2565" b="1">
                <a:solidFill>
                  <a:srgbClr val="D3410D"/>
                </a:solidFill>
                <a:latin typeface="Poppins Bold" panose="00000800000000000000"/>
                <a:ea typeface="Poppins Bold" panose="00000800000000000000"/>
                <a:cs typeface="Poppins Bold" panose="00000800000000000000"/>
                <a:sym typeface="Poppins Bold" panose="00000800000000000000"/>
              </a:rPr>
              <a:t>Leader</a:t>
            </a:r>
            <a:endParaRPr lang="en-US" sz="2565" b="1">
              <a:solidFill>
                <a:srgbClr val="D3410D"/>
              </a:solidFill>
              <a:latin typeface="Poppins Bold" panose="00000800000000000000"/>
              <a:ea typeface="Poppins Bold" panose="00000800000000000000"/>
              <a:cs typeface="Poppins Bold" panose="00000800000000000000"/>
              <a:sym typeface="Poppins Bold" panose="00000800000000000000"/>
            </a:endParaRPr>
          </a:p>
          <a:p>
            <a:pPr algn="ctr">
              <a:lnSpc>
                <a:spcPts val="2935"/>
              </a:lnSpc>
            </a:pPr>
            <a:r>
              <a:rPr lang="en-US" sz="2445">
                <a:solidFill>
                  <a:srgbClr val="FFFFFF"/>
                </a:solidFill>
                <a:latin typeface="Poppins" panose="00000500000000000000"/>
                <a:ea typeface="Poppins" panose="00000500000000000000"/>
                <a:cs typeface="Poppins" panose="00000500000000000000"/>
                <a:sym typeface="Poppins" panose="00000500000000000000"/>
              </a:rPr>
              <a:t>Presentation</a:t>
            </a:r>
            <a:endParaRPr lang="en-US" sz="2445">
              <a:solidFill>
                <a:srgbClr val="FFFFFF"/>
              </a:solidFill>
              <a:latin typeface="Poppins" panose="00000500000000000000"/>
              <a:ea typeface="Poppins" panose="00000500000000000000"/>
              <a:cs typeface="Poppins" panose="00000500000000000000"/>
              <a:sym typeface="Poppins" panose="00000500000000000000"/>
            </a:endParaRPr>
          </a:p>
          <a:p>
            <a:pPr algn="ctr">
              <a:lnSpc>
                <a:spcPts val="2935"/>
              </a:lnSpc>
            </a:pPr>
            <a:r>
              <a:rPr lang="en-US" sz="2445">
                <a:solidFill>
                  <a:srgbClr val="FFFFFF"/>
                </a:solidFill>
                <a:latin typeface="Poppins" panose="00000500000000000000"/>
                <a:ea typeface="Poppins" panose="00000500000000000000"/>
                <a:cs typeface="Poppins" panose="00000500000000000000"/>
                <a:sym typeface="Poppins" panose="00000500000000000000"/>
              </a:rPr>
              <a:t>Tableau Analysis</a:t>
            </a:r>
            <a:endParaRPr lang="en-US" sz="2445">
              <a:solidFill>
                <a:srgbClr val="FFFFFF"/>
              </a:solidFill>
              <a:latin typeface="Poppins" panose="00000500000000000000"/>
              <a:ea typeface="Poppins" panose="00000500000000000000"/>
              <a:cs typeface="Poppins" panose="00000500000000000000"/>
              <a:sym typeface="Poppins" panose="00000500000000000000"/>
            </a:endParaRPr>
          </a:p>
          <a:p>
            <a:pPr algn="ctr">
              <a:lnSpc>
                <a:spcPts val="2935"/>
              </a:lnSpc>
            </a:pPr>
            <a:r>
              <a:rPr lang="en-US" sz="2445">
                <a:solidFill>
                  <a:srgbClr val="FFFFFF"/>
                </a:solidFill>
                <a:latin typeface="Poppins" panose="00000500000000000000"/>
                <a:ea typeface="Poppins" panose="00000500000000000000"/>
                <a:cs typeface="Poppins" panose="00000500000000000000"/>
                <a:sym typeface="Poppins" panose="00000500000000000000"/>
              </a:rPr>
              <a:t>Kaggle Submission</a:t>
            </a:r>
            <a:endParaRPr lang="en-US" sz="2445">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16" name="TextBox 16"/>
          <p:cNvSpPr txBox="1"/>
          <p:nvPr/>
        </p:nvSpPr>
        <p:spPr>
          <a:xfrm>
            <a:off x="5216434" y="5850662"/>
            <a:ext cx="3307032" cy="1518739"/>
          </a:xfrm>
          <a:prstGeom prst="rect">
            <a:avLst/>
          </a:prstGeom>
        </p:spPr>
        <p:txBody>
          <a:bodyPr lIns="0" tIns="0" rIns="0" bIns="0" rtlCol="0" anchor="t">
            <a:spAutoFit/>
          </a:bodyPr>
          <a:lstStyle/>
          <a:p>
            <a:pPr algn="ctr">
              <a:lnSpc>
                <a:spcPts val="2935"/>
              </a:lnSpc>
            </a:pPr>
            <a:r>
              <a:rPr lang="en-US" sz="2445">
                <a:solidFill>
                  <a:srgbClr val="FFFFFF"/>
                </a:solidFill>
                <a:latin typeface="Poppins" panose="00000500000000000000"/>
                <a:ea typeface="Poppins" panose="00000500000000000000"/>
                <a:cs typeface="Poppins" panose="00000500000000000000"/>
                <a:sym typeface="Poppins" panose="00000500000000000000"/>
              </a:rPr>
              <a:t>Presentation</a:t>
            </a:r>
            <a:endParaRPr lang="en-US" sz="2445">
              <a:solidFill>
                <a:srgbClr val="FFFFFF"/>
              </a:solidFill>
              <a:latin typeface="Poppins" panose="00000500000000000000"/>
              <a:ea typeface="Poppins" panose="00000500000000000000"/>
              <a:cs typeface="Poppins" panose="00000500000000000000"/>
              <a:sym typeface="Poppins" panose="00000500000000000000"/>
            </a:endParaRPr>
          </a:p>
          <a:p>
            <a:pPr algn="ctr">
              <a:lnSpc>
                <a:spcPts val="2935"/>
              </a:lnSpc>
            </a:pPr>
            <a:r>
              <a:rPr lang="en-US" sz="2445">
                <a:solidFill>
                  <a:srgbClr val="FFFFFF"/>
                </a:solidFill>
                <a:latin typeface="Poppins" panose="00000500000000000000"/>
                <a:ea typeface="Poppins" panose="00000500000000000000"/>
                <a:cs typeface="Poppins" panose="00000500000000000000"/>
                <a:sym typeface="Poppins" panose="00000500000000000000"/>
              </a:rPr>
              <a:t>Tableau Analysis</a:t>
            </a:r>
            <a:endParaRPr lang="en-US" sz="2445">
              <a:solidFill>
                <a:srgbClr val="FFFFFF"/>
              </a:solidFill>
              <a:latin typeface="Poppins" panose="00000500000000000000"/>
              <a:ea typeface="Poppins" panose="00000500000000000000"/>
              <a:cs typeface="Poppins" panose="00000500000000000000"/>
              <a:sym typeface="Poppins" panose="00000500000000000000"/>
            </a:endParaRPr>
          </a:p>
          <a:p>
            <a:pPr algn="ctr">
              <a:lnSpc>
                <a:spcPts val="2935"/>
              </a:lnSpc>
            </a:pPr>
            <a:r>
              <a:rPr lang="en-US" sz="2445">
                <a:solidFill>
                  <a:srgbClr val="FFFFFF"/>
                </a:solidFill>
                <a:latin typeface="Poppins" panose="00000500000000000000"/>
                <a:ea typeface="Poppins" panose="00000500000000000000"/>
                <a:cs typeface="Poppins" panose="00000500000000000000"/>
                <a:sym typeface="Poppins" panose="00000500000000000000"/>
              </a:rPr>
              <a:t>Kaggle Submission</a:t>
            </a:r>
            <a:endParaRPr lang="en-US" sz="2445">
              <a:solidFill>
                <a:srgbClr val="FFFFFF"/>
              </a:solidFill>
              <a:latin typeface="Poppins" panose="00000500000000000000"/>
              <a:ea typeface="Poppins" panose="00000500000000000000"/>
              <a:cs typeface="Poppins" panose="00000500000000000000"/>
              <a:sym typeface="Poppins" panose="00000500000000000000"/>
            </a:endParaRPr>
          </a:p>
          <a:p>
            <a:pPr algn="ctr">
              <a:lnSpc>
                <a:spcPts val="2935"/>
              </a:lnSpc>
            </a:pPr>
            <a:r>
              <a:rPr lang="en-US" sz="2445">
                <a:solidFill>
                  <a:srgbClr val="FFFFFF"/>
                </a:solidFill>
                <a:latin typeface="Poppins" panose="00000500000000000000"/>
                <a:ea typeface="Poppins" panose="00000500000000000000"/>
                <a:cs typeface="Poppins" panose="00000500000000000000"/>
                <a:sym typeface="Poppins" panose="00000500000000000000"/>
              </a:rPr>
              <a:t>Task Allocation</a:t>
            </a:r>
            <a:endParaRPr lang="en-US" sz="2445">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17" name="TextBox 17"/>
          <p:cNvSpPr txBox="1"/>
          <p:nvPr/>
        </p:nvSpPr>
        <p:spPr>
          <a:xfrm>
            <a:off x="8828266" y="6223203"/>
            <a:ext cx="3307032" cy="773657"/>
          </a:xfrm>
          <a:prstGeom prst="rect">
            <a:avLst/>
          </a:prstGeom>
        </p:spPr>
        <p:txBody>
          <a:bodyPr lIns="0" tIns="0" rIns="0" bIns="0" rtlCol="0" anchor="t">
            <a:spAutoFit/>
          </a:bodyPr>
          <a:lstStyle/>
          <a:p>
            <a:pPr algn="ctr">
              <a:lnSpc>
                <a:spcPts val="2935"/>
              </a:lnSpc>
            </a:pPr>
            <a:r>
              <a:rPr lang="en-US" sz="2445">
                <a:solidFill>
                  <a:srgbClr val="FFFFFF"/>
                </a:solidFill>
                <a:latin typeface="Poppins" panose="00000500000000000000"/>
                <a:ea typeface="Poppins" panose="00000500000000000000"/>
                <a:cs typeface="Poppins" panose="00000500000000000000"/>
                <a:sym typeface="Poppins" panose="00000500000000000000"/>
              </a:rPr>
              <a:t>Tableau Analysis</a:t>
            </a:r>
            <a:endParaRPr lang="en-US" sz="2445">
              <a:solidFill>
                <a:srgbClr val="FFFFFF"/>
              </a:solidFill>
              <a:latin typeface="Poppins" panose="00000500000000000000"/>
              <a:ea typeface="Poppins" panose="00000500000000000000"/>
              <a:cs typeface="Poppins" panose="00000500000000000000"/>
              <a:sym typeface="Poppins" panose="00000500000000000000"/>
            </a:endParaRPr>
          </a:p>
          <a:p>
            <a:pPr algn="ctr">
              <a:lnSpc>
                <a:spcPts val="2935"/>
              </a:lnSpc>
            </a:pPr>
            <a:r>
              <a:rPr lang="en-US" sz="2445">
                <a:solidFill>
                  <a:srgbClr val="FFFFFF"/>
                </a:solidFill>
                <a:latin typeface="Poppins" panose="00000500000000000000"/>
                <a:ea typeface="Poppins" panose="00000500000000000000"/>
                <a:cs typeface="Poppins" panose="00000500000000000000"/>
                <a:sym typeface="Poppins" panose="00000500000000000000"/>
              </a:rPr>
              <a:t>Communication</a:t>
            </a:r>
            <a:endParaRPr lang="en-US" sz="2445">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18" name="TextBox 18"/>
          <p:cNvSpPr txBox="1"/>
          <p:nvPr/>
        </p:nvSpPr>
        <p:spPr>
          <a:xfrm>
            <a:off x="12440098" y="6223203"/>
            <a:ext cx="3307032" cy="773657"/>
          </a:xfrm>
          <a:prstGeom prst="rect">
            <a:avLst/>
          </a:prstGeom>
        </p:spPr>
        <p:txBody>
          <a:bodyPr lIns="0" tIns="0" rIns="0" bIns="0" rtlCol="0" anchor="t">
            <a:spAutoFit/>
          </a:bodyPr>
          <a:lstStyle/>
          <a:p>
            <a:pPr algn="ctr">
              <a:lnSpc>
                <a:spcPts val="2935"/>
              </a:lnSpc>
            </a:pPr>
            <a:r>
              <a:rPr lang="en-US" sz="2445">
                <a:solidFill>
                  <a:srgbClr val="FFFFFF"/>
                </a:solidFill>
                <a:latin typeface="Poppins" panose="00000500000000000000"/>
                <a:ea typeface="Poppins" panose="00000500000000000000"/>
                <a:cs typeface="Poppins" panose="00000500000000000000"/>
                <a:sym typeface="Poppins" panose="00000500000000000000"/>
              </a:rPr>
              <a:t>Tableau Analysis</a:t>
            </a:r>
            <a:endParaRPr lang="en-US" sz="2445">
              <a:solidFill>
                <a:srgbClr val="FFFFFF"/>
              </a:solidFill>
              <a:latin typeface="Poppins" panose="00000500000000000000"/>
              <a:ea typeface="Poppins" panose="00000500000000000000"/>
              <a:cs typeface="Poppins" panose="00000500000000000000"/>
              <a:sym typeface="Poppins" panose="00000500000000000000"/>
            </a:endParaRPr>
          </a:p>
          <a:p>
            <a:pPr algn="ctr">
              <a:lnSpc>
                <a:spcPts val="2935"/>
              </a:lnSpc>
            </a:pPr>
            <a:r>
              <a:rPr lang="en-US" sz="2445">
                <a:solidFill>
                  <a:srgbClr val="FFFFFF"/>
                </a:solidFill>
                <a:latin typeface="Poppins" panose="00000500000000000000"/>
                <a:ea typeface="Poppins" panose="00000500000000000000"/>
                <a:cs typeface="Poppins" panose="00000500000000000000"/>
                <a:sym typeface="Poppins" panose="00000500000000000000"/>
              </a:rPr>
              <a:t>Kaggle Submission</a:t>
            </a:r>
            <a:endParaRPr lang="en-US" sz="2445">
              <a:solidFill>
                <a:srgbClr val="FFFFFF"/>
              </a:solidFill>
              <a:latin typeface="Poppins" panose="00000500000000000000"/>
              <a:ea typeface="Poppins" panose="00000500000000000000"/>
              <a:cs typeface="Poppins" panose="00000500000000000000"/>
              <a:sym typeface="Poppins" panose="00000500000000000000"/>
            </a:endParaRPr>
          </a:p>
        </p:txBody>
      </p:sp>
      <p:grpSp>
        <p:nvGrpSpPr>
          <p:cNvPr id="19" name="Group 19"/>
          <p:cNvGrpSpPr/>
          <p:nvPr/>
        </p:nvGrpSpPr>
        <p:grpSpPr>
          <a:xfrm rot="1362489">
            <a:off x="-777195" y="8678585"/>
            <a:ext cx="3123449" cy="2684214"/>
            <a:chOff x="0" y="0"/>
            <a:chExt cx="812800" cy="698500"/>
          </a:xfrm>
        </p:grpSpPr>
        <p:sp>
          <p:nvSpPr>
            <p:cNvPr id="20" name="Freeform 20"/>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8D2600">
                    <a:alpha val="100000"/>
                  </a:srgbClr>
                </a:gs>
                <a:gs pos="100000">
                  <a:srgbClr val="FF4500">
                    <a:alpha val="100000"/>
                  </a:srgbClr>
                </a:gs>
              </a:gsLst>
              <a:lin ang="0"/>
            </a:gradFill>
          </p:spPr>
        </p:sp>
        <p:sp>
          <p:nvSpPr>
            <p:cNvPr id="21" name="TextBox 21"/>
            <p:cNvSpPr txBox="1"/>
            <p:nvPr/>
          </p:nvSpPr>
          <p:spPr>
            <a:xfrm>
              <a:off x="114300" y="-57150"/>
              <a:ext cx="584200" cy="755650"/>
            </a:xfrm>
            <a:prstGeom prst="rect">
              <a:avLst/>
            </a:prstGeom>
          </p:spPr>
          <p:txBody>
            <a:bodyPr lIns="50800" tIns="50800" rIns="50800" bIns="50800" rtlCol="0" anchor="ctr"/>
            <a:lstStyle/>
            <a:p>
              <a:pPr algn="ctr">
                <a:lnSpc>
                  <a:spcPts val="2800"/>
                </a:lnSpc>
              </a:pPr>
            </a:p>
          </p:txBody>
        </p:sp>
      </p:grpSp>
      <p:sp>
        <p:nvSpPr>
          <p:cNvPr id="22" name="TextBox 22"/>
          <p:cNvSpPr txBox="1"/>
          <p:nvPr/>
        </p:nvSpPr>
        <p:spPr>
          <a:xfrm>
            <a:off x="1519989" y="8121876"/>
            <a:ext cx="3468296" cy="319405"/>
          </a:xfrm>
          <a:prstGeom prst="rect">
            <a:avLst/>
          </a:prstGeom>
        </p:spPr>
        <p:txBody>
          <a:bodyPr lIns="0" tIns="0" rIns="0" bIns="0" rtlCol="0" anchor="t">
            <a:spAutoFit/>
          </a:bodyPr>
          <a:lstStyle/>
          <a:p>
            <a:pPr algn="ctr">
              <a:lnSpc>
                <a:spcPts val="2360"/>
              </a:lnSpc>
            </a:pPr>
            <a:r>
              <a:rPr lang="en-US" sz="2000">
                <a:solidFill>
                  <a:srgbClr val="FFFFFF"/>
                </a:solidFill>
                <a:latin typeface="Poppins" panose="00000500000000000000"/>
                <a:ea typeface="Poppins" panose="00000500000000000000"/>
                <a:cs typeface="Poppins" panose="00000500000000000000"/>
                <a:sym typeface="Poppins" panose="00000500000000000000"/>
              </a:rPr>
              <a:t>chen5180@purdue.edu</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23" name="TextBox 23"/>
          <p:cNvSpPr txBox="1"/>
          <p:nvPr/>
        </p:nvSpPr>
        <p:spPr>
          <a:xfrm>
            <a:off x="2269724" y="7664676"/>
            <a:ext cx="1945339" cy="333375"/>
          </a:xfrm>
          <a:prstGeom prst="rect">
            <a:avLst/>
          </a:prstGeom>
        </p:spPr>
        <p:txBody>
          <a:bodyPr lIns="0" tIns="0" rIns="0" bIns="0" rtlCol="0" anchor="t">
            <a:spAutoFit/>
          </a:bodyPr>
          <a:lstStyle/>
          <a:p>
            <a:pPr algn="ctr">
              <a:lnSpc>
                <a:spcPts val="2400"/>
              </a:lnSpc>
            </a:pPr>
            <a:r>
              <a:rPr lang="en-US" sz="2000" b="1">
                <a:solidFill>
                  <a:srgbClr val="D3410D"/>
                </a:solidFill>
                <a:latin typeface="Poppins Bold" panose="00000800000000000000"/>
                <a:ea typeface="Poppins Bold" panose="00000800000000000000"/>
                <a:cs typeface="Poppins Bold" panose="00000800000000000000"/>
                <a:sym typeface="Poppins Bold" panose="00000800000000000000"/>
              </a:rPr>
              <a:t>Email</a:t>
            </a:r>
            <a:endParaRPr lang="en-US" sz="2000" b="1">
              <a:solidFill>
                <a:srgbClr val="D3410D"/>
              </a:solidFill>
              <a:latin typeface="Poppins Bold" panose="00000800000000000000"/>
              <a:ea typeface="Poppins Bold" panose="00000800000000000000"/>
              <a:cs typeface="Poppins Bold" panose="00000800000000000000"/>
              <a:sym typeface="Poppins Bold" panose="00000800000000000000"/>
            </a:endParaRPr>
          </a:p>
        </p:txBody>
      </p:sp>
      <p:sp>
        <p:nvSpPr>
          <p:cNvPr id="24" name="TextBox 24"/>
          <p:cNvSpPr txBox="1"/>
          <p:nvPr/>
        </p:nvSpPr>
        <p:spPr>
          <a:xfrm>
            <a:off x="6091674" y="9701287"/>
            <a:ext cx="5130566" cy="319405"/>
          </a:xfrm>
          <a:prstGeom prst="rect">
            <a:avLst/>
          </a:prstGeom>
        </p:spPr>
        <p:txBody>
          <a:bodyPr lIns="0" tIns="0" rIns="0" bIns="0" rtlCol="0" anchor="t">
            <a:spAutoFit/>
          </a:bodyPr>
          <a:lstStyle/>
          <a:p>
            <a:pPr algn="ctr">
              <a:lnSpc>
                <a:spcPts val="2360"/>
              </a:lnSpc>
            </a:pPr>
            <a:r>
              <a:rPr lang="en-US" sz="2000">
                <a:solidFill>
                  <a:srgbClr val="FFFFFF"/>
                </a:solidFill>
                <a:latin typeface="Poppins" panose="00000500000000000000"/>
                <a:ea typeface="Poppins" panose="00000500000000000000"/>
                <a:cs typeface="Poppins" panose="00000500000000000000"/>
                <a:sym typeface="Poppins" panose="00000500000000000000"/>
              </a:rPr>
              <a:t>We are all Purdue Univeristy MSBAIMer !</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25" name="TextBox 25"/>
          <p:cNvSpPr txBox="1"/>
          <p:nvPr/>
        </p:nvSpPr>
        <p:spPr>
          <a:xfrm>
            <a:off x="5135802" y="8121876"/>
            <a:ext cx="3468296" cy="319405"/>
          </a:xfrm>
          <a:prstGeom prst="rect">
            <a:avLst/>
          </a:prstGeom>
        </p:spPr>
        <p:txBody>
          <a:bodyPr lIns="0" tIns="0" rIns="0" bIns="0" rtlCol="0" anchor="t">
            <a:spAutoFit/>
          </a:bodyPr>
          <a:lstStyle/>
          <a:p>
            <a:pPr algn="ctr">
              <a:lnSpc>
                <a:spcPts val="2360"/>
              </a:lnSpc>
            </a:pPr>
            <a:r>
              <a:rPr lang="en-US" sz="2000">
                <a:solidFill>
                  <a:srgbClr val="FFFFFF"/>
                </a:solidFill>
                <a:latin typeface="Poppins" panose="00000500000000000000"/>
                <a:ea typeface="Poppins" panose="00000500000000000000"/>
                <a:cs typeface="Poppins" panose="00000500000000000000"/>
                <a:sym typeface="Poppins" panose="00000500000000000000"/>
              </a:rPr>
              <a:t>wang6679@purdue.edu</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26" name="TextBox 26"/>
          <p:cNvSpPr txBox="1"/>
          <p:nvPr/>
        </p:nvSpPr>
        <p:spPr>
          <a:xfrm>
            <a:off x="5778882" y="7691648"/>
            <a:ext cx="1945339" cy="333375"/>
          </a:xfrm>
          <a:prstGeom prst="rect">
            <a:avLst/>
          </a:prstGeom>
        </p:spPr>
        <p:txBody>
          <a:bodyPr lIns="0" tIns="0" rIns="0" bIns="0" rtlCol="0" anchor="t">
            <a:spAutoFit/>
          </a:bodyPr>
          <a:lstStyle/>
          <a:p>
            <a:pPr algn="ctr">
              <a:lnSpc>
                <a:spcPts val="2400"/>
              </a:lnSpc>
            </a:pPr>
            <a:r>
              <a:rPr lang="en-US" sz="2000" b="1">
                <a:solidFill>
                  <a:srgbClr val="D3410D"/>
                </a:solidFill>
                <a:latin typeface="Poppins Bold" panose="00000800000000000000"/>
                <a:ea typeface="Poppins Bold" panose="00000800000000000000"/>
                <a:cs typeface="Poppins Bold" panose="00000800000000000000"/>
                <a:sym typeface="Poppins Bold" panose="00000800000000000000"/>
              </a:rPr>
              <a:t>Email</a:t>
            </a:r>
            <a:endParaRPr lang="en-US" sz="2000" b="1">
              <a:solidFill>
                <a:srgbClr val="D3410D"/>
              </a:solidFill>
              <a:latin typeface="Poppins Bold" panose="00000800000000000000"/>
              <a:ea typeface="Poppins Bold" panose="00000800000000000000"/>
              <a:cs typeface="Poppins Bold" panose="00000800000000000000"/>
              <a:sym typeface="Poppins Bold" panose="00000800000000000000"/>
            </a:endParaRPr>
          </a:p>
        </p:txBody>
      </p:sp>
      <p:sp>
        <p:nvSpPr>
          <p:cNvPr id="27" name="TextBox 27"/>
          <p:cNvSpPr txBox="1"/>
          <p:nvPr/>
        </p:nvSpPr>
        <p:spPr>
          <a:xfrm>
            <a:off x="8757166" y="8148848"/>
            <a:ext cx="3468296" cy="319405"/>
          </a:xfrm>
          <a:prstGeom prst="rect">
            <a:avLst/>
          </a:prstGeom>
        </p:spPr>
        <p:txBody>
          <a:bodyPr lIns="0" tIns="0" rIns="0" bIns="0" rtlCol="0" anchor="t">
            <a:spAutoFit/>
          </a:bodyPr>
          <a:lstStyle/>
          <a:p>
            <a:pPr algn="ctr">
              <a:lnSpc>
                <a:spcPts val="2360"/>
              </a:lnSpc>
            </a:pPr>
            <a:r>
              <a:rPr lang="en-US" sz="2000">
                <a:solidFill>
                  <a:srgbClr val="FFFFFF"/>
                </a:solidFill>
                <a:latin typeface="Poppins" panose="00000500000000000000"/>
                <a:ea typeface="Poppins" panose="00000500000000000000"/>
                <a:cs typeface="Poppins" panose="00000500000000000000"/>
                <a:sym typeface="Poppins" panose="00000500000000000000"/>
              </a:rPr>
              <a:t>chen5301@purdue.edu</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28" name="TextBox 28"/>
          <p:cNvSpPr txBox="1"/>
          <p:nvPr/>
        </p:nvSpPr>
        <p:spPr>
          <a:xfrm>
            <a:off x="9518644" y="7664676"/>
            <a:ext cx="1945339" cy="333375"/>
          </a:xfrm>
          <a:prstGeom prst="rect">
            <a:avLst/>
          </a:prstGeom>
        </p:spPr>
        <p:txBody>
          <a:bodyPr lIns="0" tIns="0" rIns="0" bIns="0" rtlCol="0" anchor="t">
            <a:spAutoFit/>
          </a:bodyPr>
          <a:lstStyle/>
          <a:p>
            <a:pPr algn="ctr">
              <a:lnSpc>
                <a:spcPts val="2400"/>
              </a:lnSpc>
            </a:pPr>
            <a:r>
              <a:rPr lang="en-US" sz="2000" b="1">
                <a:solidFill>
                  <a:srgbClr val="D3410D"/>
                </a:solidFill>
                <a:latin typeface="Poppins Bold" panose="00000800000000000000"/>
                <a:ea typeface="Poppins Bold" panose="00000800000000000000"/>
                <a:cs typeface="Poppins Bold" panose="00000800000000000000"/>
                <a:sym typeface="Poppins Bold" panose="00000800000000000000"/>
              </a:rPr>
              <a:t>Email</a:t>
            </a:r>
            <a:endParaRPr lang="en-US" sz="2000" b="1">
              <a:solidFill>
                <a:srgbClr val="D3410D"/>
              </a:solidFill>
              <a:latin typeface="Poppins Bold" panose="00000800000000000000"/>
              <a:ea typeface="Poppins Bold" panose="00000800000000000000"/>
              <a:cs typeface="Poppins Bold" panose="00000800000000000000"/>
              <a:sym typeface="Poppins Bold" panose="00000800000000000000"/>
            </a:endParaRPr>
          </a:p>
        </p:txBody>
      </p:sp>
      <p:sp>
        <p:nvSpPr>
          <p:cNvPr id="29" name="TextBox 29"/>
          <p:cNvSpPr txBox="1"/>
          <p:nvPr/>
        </p:nvSpPr>
        <p:spPr>
          <a:xfrm>
            <a:off x="12325629" y="8148848"/>
            <a:ext cx="3468296" cy="319405"/>
          </a:xfrm>
          <a:prstGeom prst="rect">
            <a:avLst/>
          </a:prstGeom>
        </p:spPr>
        <p:txBody>
          <a:bodyPr lIns="0" tIns="0" rIns="0" bIns="0" rtlCol="0" anchor="t">
            <a:spAutoFit/>
          </a:bodyPr>
          <a:lstStyle/>
          <a:p>
            <a:pPr algn="ctr">
              <a:lnSpc>
                <a:spcPts val="2360"/>
              </a:lnSpc>
            </a:pPr>
            <a:r>
              <a:rPr lang="en-US" sz="2000">
                <a:solidFill>
                  <a:srgbClr val="FFFFFF"/>
                </a:solidFill>
                <a:latin typeface="Poppins" panose="00000500000000000000"/>
                <a:ea typeface="Poppins" panose="00000500000000000000"/>
                <a:cs typeface="Poppins" panose="00000500000000000000"/>
                <a:sym typeface="Poppins" panose="00000500000000000000"/>
              </a:rPr>
              <a:t>atlurin@purdue.edu</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30" name="TextBox 30"/>
          <p:cNvSpPr txBox="1"/>
          <p:nvPr/>
        </p:nvSpPr>
        <p:spPr>
          <a:xfrm>
            <a:off x="13120944" y="7691648"/>
            <a:ext cx="1945339" cy="333375"/>
          </a:xfrm>
          <a:prstGeom prst="rect">
            <a:avLst/>
          </a:prstGeom>
        </p:spPr>
        <p:txBody>
          <a:bodyPr lIns="0" tIns="0" rIns="0" bIns="0" rtlCol="0" anchor="t">
            <a:spAutoFit/>
          </a:bodyPr>
          <a:lstStyle/>
          <a:p>
            <a:pPr algn="ctr">
              <a:lnSpc>
                <a:spcPts val="2400"/>
              </a:lnSpc>
            </a:pPr>
            <a:r>
              <a:rPr lang="en-US" sz="2000" b="1">
                <a:solidFill>
                  <a:srgbClr val="D3410D"/>
                </a:solidFill>
                <a:latin typeface="Poppins Bold" panose="00000800000000000000"/>
                <a:ea typeface="Poppins Bold" panose="00000800000000000000"/>
                <a:cs typeface="Poppins Bold" panose="00000800000000000000"/>
                <a:sym typeface="Poppins Bold" panose="00000800000000000000"/>
              </a:rPr>
              <a:t>Email</a:t>
            </a:r>
            <a:endParaRPr lang="en-US" sz="2000" b="1">
              <a:solidFill>
                <a:srgbClr val="D3410D"/>
              </a:solidFill>
              <a:latin typeface="Poppins Bold" panose="00000800000000000000"/>
              <a:ea typeface="Poppins Bold" panose="00000800000000000000"/>
              <a:cs typeface="Poppins Bold" panose="00000800000000000000"/>
              <a:sym typeface="Poppins Bold" panose="0000080000000000000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22" b="-9222"/>
            </a:stretch>
          </a:blipFill>
        </p:spPr>
      </p:sp>
      <p:sp>
        <p:nvSpPr>
          <p:cNvPr id="3" name="TextBox 3"/>
          <p:cNvSpPr txBox="1"/>
          <p:nvPr/>
        </p:nvSpPr>
        <p:spPr>
          <a:xfrm>
            <a:off x="1483734" y="764838"/>
            <a:ext cx="8552633" cy="1162050"/>
          </a:xfrm>
          <a:prstGeom prst="rect">
            <a:avLst/>
          </a:prstGeom>
        </p:spPr>
        <p:txBody>
          <a:bodyPr lIns="0" tIns="0" rIns="0" bIns="0" rtlCol="0" anchor="t">
            <a:spAutoFit/>
          </a:bodyPr>
          <a:lstStyle/>
          <a:p>
            <a:pPr algn="l">
              <a:lnSpc>
                <a:spcPts val="8550"/>
              </a:lnSpc>
            </a:pPr>
            <a:r>
              <a:rPr lang="en-US" sz="90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rPr>
              <a:t>ACKNOWLEDGMENTS</a:t>
            </a:r>
            <a:endParaRPr lang="en-US" sz="90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endParaRPr>
          </a:p>
        </p:txBody>
      </p:sp>
      <p:grpSp>
        <p:nvGrpSpPr>
          <p:cNvPr id="4" name="Group 4"/>
          <p:cNvGrpSpPr/>
          <p:nvPr/>
        </p:nvGrpSpPr>
        <p:grpSpPr>
          <a:xfrm rot="0">
            <a:off x="9879291" y="3058581"/>
            <a:ext cx="4852175" cy="4169838"/>
            <a:chOff x="0" y="0"/>
            <a:chExt cx="812800" cy="698500"/>
          </a:xfrm>
        </p:grpSpPr>
        <p:sp>
          <p:nvSpPr>
            <p:cNvPr id="5" name="Freeform 5"/>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8D2600">
                    <a:alpha val="100000"/>
                  </a:srgbClr>
                </a:gs>
                <a:gs pos="100000">
                  <a:srgbClr val="FF4500">
                    <a:alpha val="100000"/>
                  </a:srgbClr>
                </a:gs>
              </a:gsLst>
              <a:lin ang="0"/>
            </a:gradFill>
          </p:spPr>
        </p:sp>
        <p:sp>
          <p:nvSpPr>
            <p:cNvPr id="6" name="TextBox 6"/>
            <p:cNvSpPr txBox="1"/>
            <p:nvPr/>
          </p:nvSpPr>
          <p:spPr>
            <a:xfrm>
              <a:off x="114300" y="-57150"/>
              <a:ext cx="584200" cy="755650"/>
            </a:xfrm>
            <a:prstGeom prst="rect">
              <a:avLst/>
            </a:prstGeom>
          </p:spPr>
          <p:txBody>
            <a:bodyPr lIns="50800" tIns="50800" rIns="50800" bIns="50800" rtlCol="0" anchor="ctr"/>
            <a:lstStyle/>
            <a:p>
              <a:pPr algn="ctr">
                <a:lnSpc>
                  <a:spcPts val="2800"/>
                </a:lnSpc>
              </a:pPr>
            </a:p>
          </p:txBody>
        </p:sp>
      </p:grpSp>
      <p:grpSp>
        <p:nvGrpSpPr>
          <p:cNvPr id="7" name="Group 7"/>
          <p:cNvGrpSpPr/>
          <p:nvPr/>
        </p:nvGrpSpPr>
        <p:grpSpPr>
          <a:xfrm rot="0">
            <a:off x="10508866" y="2271893"/>
            <a:ext cx="10877088" cy="5743214"/>
            <a:chOff x="0" y="0"/>
            <a:chExt cx="1406940" cy="742879"/>
          </a:xfrm>
        </p:grpSpPr>
        <p:sp>
          <p:nvSpPr>
            <p:cNvPr id="8" name="Freeform 8"/>
            <p:cNvSpPr/>
            <p:nvPr/>
          </p:nvSpPr>
          <p:spPr>
            <a:xfrm>
              <a:off x="0" y="0"/>
              <a:ext cx="1406940" cy="742878"/>
            </a:xfrm>
            <a:custGeom>
              <a:avLst/>
              <a:gdLst/>
              <a:ahLst/>
              <a:cxnLst/>
              <a:rect l="l" t="t" r="r" b="b"/>
              <a:pathLst>
                <a:path w="1406940" h="742878">
                  <a:moveTo>
                    <a:pt x="1406940" y="371439"/>
                  </a:moveTo>
                  <a:lnTo>
                    <a:pt x="1203740" y="742878"/>
                  </a:lnTo>
                  <a:lnTo>
                    <a:pt x="203200" y="742878"/>
                  </a:lnTo>
                  <a:lnTo>
                    <a:pt x="0" y="371439"/>
                  </a:lnTo>
                  <a:lnTo>
                    <a:pt x="203200" y="0"/>
                  </a:lnTo>
                  <a:lnTo>
                    <a:pt x="1203740" y="0"/>
                  </a:lnTo>
                  <a:lnTo>
                    <a:pt x="1406940" y="371439"/>
                  </a:lnTo>
                  <a:close/>
                </a:path>
              </a:pathLst>
            </a:custGeom>
            <a:blipFill>
              <a:blip r:embed="rId2"/>
              <a:stretch>
                <a:fillRect t="-13090" b="-13090"/>
              </a:stretch>
            </a:blipFill>
          </p:spPr>
        </p:sp>
      </p:grpSp>
      <p:sp>
        <p:nvSpPr>
          <p:cNvPr id="9" name="TextBox 9"/>
          <p:cNvSpPr txBox="1"/>
          <p:nvPr/>
        </p:nvSpPr>
        <p:spPr>
          <a:xfrm>
            <a:off x="1028700" y="1990421"/>
            <a:ext cx="8693514" cy="8569325"/>
          </a:xfrm>
          <a:prstGeom prst="rect">
            <a:avLst/>
          </a:prstGeom>
        </p:spPr>
        <p:txBody>
          <a:bodyPr lIns="0" tIns="0" rIns="0" bIns="0" rtlCol="0" anchor="t">
            <a:spAutoFit/>
          </a:bodyPr>
          <a:lstStyle/>
          <a:p>
            <a:pPr algn="just">
              <a:lnSpc>
                <a:spcPts val="3400"/>
              </a:lnSpc>
            </a:pPr>
            <a:r>
              <a:rPr lang="en-US" sz="2000">
                <a:solidFill>
                  <a:srgbClr val="FFFFFF"/>
                </a:solidFill>
                <a:latin typeface="Poppins" panose="00000500000000000000"/>
                <a:ea typeface="Poppins" panose="00000500000000000000"/>
                <a:cs typeface="Poppins" panose="00000500000000000000"/>
                <a:sym typeface="Poppins" panose="00000500000000000000"/>
              </a:rPr>
              <a:t>We sincerely thank the </a:t>
            </a:r>
            <a:r>
              <a:rPr lang="en-US" sz="2000" b="1">
                <a:solidFill>
                  <a:srgbClr val="D3410D"/>
                </a:solidFill>
                <a:latin typeface="Poppins Bold" panose="00000800000000000000"/>
                <a:ea typeface="Poppins Bold" panose="00000800000000000000"/>
                <a:cs typeface="Poppins Bold" panose="00000800000000000000"/>
                <a:sym typeface="Poppins Bold" panose="00000800000000000000"/>
              </a:rPr>
              <a:t>Crossroads Classic Analytics Challenge (CCAC) organizers</a:t>
            </a:r>
            <a:r>
              <a:rPr lang="en-US" sz="2000">
                <a:solidFill>
                  <a:srgbClr val="FFFFFF"/>
                </a:solidFill>
                <a:latin typeface="Poppins" panose="00000500000000000000"/>
                <a:ea typeface="Poppins" panose="00000500000000000000"/>
                <a:cs typeface="Poppins" panose="00000500000000000000"/>
                <a:sym typeface="Poppins" panose="00000500000000000000"/>
              </a:rPr>
              <a:t> for providing us with this invaluable opportunity to apply data science techniques to real-world sports analytics. This competition has significantly enhanced our skills in predictive modeling, data analysis, and fan behavior research.</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a:p>
            <a:pPr algn="just">
              <a:lnSpc>
                <a:spcPts val="3400"/>
              </a:lnSpc>
            </a:pPr>
          </a:p>
          <a:p>
            <a:pPr algn="just">
              <a:lnSpc>
                <a:spcPts val="3400"/>
              </a:lnSpc>
            </a:pPr>
            <a:r>
              <a:rPr lang="en-US" sz="2000">
                <a:solidFill>
                  <a:srgbClr val="FFFFFF"/>
                </a:solidFill>
                <a:latin typeface="Poppins" panose="00000500000000000000"/>
                <a:ea typeface="Poppins" panose="00000500000000000000"/>
                <a:cs typeface="Poppins" panose="00000500000000000000"/>
                <a:sym typeface="Poppins" panose="00000500000000000000"/>
              </a:rPr>
              <a:t>Additionally, we extend our deepest appreciation to our </a:t>
            </a:r>
            <a:r>
              <a:rPr lang="en-US" sz="2000" b="1">
                <a:solidFill>
                  <a:srgbClr val="D3410D"/>
                </a:solidFill>
                <a:latin typeface="Poppins Bold" panose="00000800000000000000"/>
                <a:ea typeface="Poppins Bold" panose="00000800000000000000"/>
                <a:cs typeface="Poppins Bold" panose="00000800000000000000"/>
                <a:sym typeface="Poppins Bold" panose="00000800000000000000"/>
              </a:rPr>
              <a:t>team members</a:t>
            </a:r>
            <a:r>
              <a:rPr lang="en-US" sz="2000">
                <a:solidFill>
                  <a:srgbClr val="FFFFFF"/>
                </a:solidFill>
                <a:latin typeface="Poppins" panose="00000500000000000000"/>
                <a:ea typeface="Poppins" panose="00000500000000000000"/>
                <a:cs typeface="Poppins" panose="00000500000000000000"/>
                <a:sym typeface="Poppins" panose="00000500000000000000"/>
              </a:rPr>
              <a:t> for their dedication, collaboration, and hard work throughout every stage of the project—from the Kaggle competition to the creation of the TABLEAU dashboard, and finally, to the video presentation. The collective effort in each phase has continuously propelled our analysis forward, and the strong synergy within our team has been key to the success of this research.</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a:p>
            <a:pPr algn="just">
              <a:lnSpc>
                <a:spcPts val="3400"/>
              </a:lnSpc>
            </a:pPr>
          </a:p>
          <a:p>
            <a:pPr algn="just">
              <a:lnSpc>
                <a:spcPts val="3400"/>
              </a:lnSpc>
            </a:pPr>
            <a:r>
              <a:rPr lang="en-US" sz="2000">
                <a:solidFill>
                  <a:srgbClr val="FFFFFF"/>
                </a:solidFill>
                <a:latin typeface="Poppins" panose="00000500000000000000"/>
                <a:ea typeface="Poppins" panose="00000500000000000000"/>
                <a:cs typeface="Poppins" panose="00000500000000000000"/>
                <a:sym typeface="Poppins" panose="00000500000000000000"/>
              </a:rPr>
              <a:t>Lastly, we are grateful to the </a:t>
            </a:r>
            <a:r>
              <a:rPr lang="en-US" sz="2000" b="1">
                <a:solidFill>
                  <a:srgbClr val="D3410D"/>
                </a:solidFill>
                <a:latin typeface="Poppins Bold" panose="00000800000000000000"/>
                <a:ea typeface="Poppins Bold" panose="00000800000000000000"/>
                <a:cs typeface="Poppins Bold" panose="00000800000000000000"/>
                <a:sym typeface="Poppins Bold" panose="00000800000000000000"/>
              </a:rPr>
              <a:t>data providers, Kaggle, and all mentors and faculty members</a:t>
            </a:r>
            <a:r>
              <a:rPr lang="en-US" sz="2000">
                <a:solidFill>
                  <a:srgbClr val="FFFFFF"/>
                </a:solidFill>
                <a:latin typeface="Poppins" panose="00000500000000000000"/>
                <a:ea typeface="Poppins" panose="00000500000000000000"/>
                <a:cs typeface="Poppins" panose="00000500000000000000"/>
                <a:sym typeface="Poppins" panose="00000500000000000000"/>
              </a:rPr>
              <a:t> for offering us the NCAA bracket prediction dataset and providing invaluable knowledge support, enabling us to conduct an in-depth study on fan prediction behaviors.</a:t>
            </a:r>
            <a:endParaRPr lang="en-US" sz="2000">
              <a:solidFill>
                <a:srgbClr val="FFFFFF"/>
              </a:solidFill>
              <a:latin typeface="Poppins" panose="00000500000000000000"/>
              <a:ea typeface="Poppins" panose="00000500000000000000"/>
              <a:cs typeface="Poppins" panose="00000500000000000000"/>
              <a:sym typeface="Poppins" panose="00000500000000000000"/>
            </a:endParaRPr>
          </a:p>
          <a:p>
            <a:pPr algn="just">
              <a:lnSpc>
                <a:spcPts val="3400"/>
              </a:lnSpc>
            </a:p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22" b="-9222"/>
            </a:stretch>
          </a:blipFill>
        </p:spPr>
      </p:sp>
      <p:grpSp>
        <p:nvGrpSpPr>
          <p:cNvPr id="3" name="Group 3"/>
          <p:cNvGrpSpPr/>
          <p:nvPr/>
        </p:nvGrpSpPr>
        <p:grpSpPr>
          <a:xfrm rot="0">
            <a:off x="-223578" y="4945216"/>
            <a:ext cx="3976178" cy="10781843"/>
            <a:chOff x="0" y="0"/>
            <a:chExt cx="472130" cy="1280233"/>
          </a:xfrm>
        </p:grpSpPr>
        <p:sp>
          <p:nvSpPr>
            <p:cNvPr id="4" name="Freeform 4"/>
            <p:cNvSpPr/>
            <p:nvPr/>
          </p:nvSpPr>
          <p:spPr>
            <a:xfrm>
              <a:off x="0" y="0"/>
              <a:ext cx="472130" cy="1280233"/>
            </a:xfrm>
            <a:custGeom>
              <a:avLst/>
              <a:gdLst/>
              <a:ahLst/>
              <a:cxnLst/>
              <a:rect l="l" t="t" r="r" b="b"/>
              <a:pathLst>
                <a:path w="472130" h="1280233">
                  <a:moveTo>
                    <a:pt x="203200" y="0"/>
                  </a:moveTo>
                  <a:lnTo>
                    <a:pt x="472130" y="0"/>
                  </a:lnTo>
                  <a:lnTo>
                    <a:pt x="268930" y="1280233"/>
                  </a:lnTo>
                  <a:lnTo>
                    <a:pt x="0" y="1280233"/>
                  </a:lnTo>
                  <a:lnTo>
                    <a:pt x="203200" y="0"/>
                  </a:lnTo>
                  <a:close/>
                </a:path>
              </a:pathLst>
            </a:custGeom>
            <a:gradFill rotWithShape="1">
              <a:gsLst>
                <a:gs pos="0">
                  <a:srgbClr val="8D2600">
                    <a:alpha val="100000"/>
                  </a:srgbClr>
                </a:gs>
                <a:gs pos="100000">
                  <a:srgbClr val="FF4500">
                    <a:alpha val="100000"/>
                  </a:srgbClr>
                </a:gs>
              </a:gsLst>
              <a:lin ang="0"/>
            </a:gradFill>
          </p:spPr>
        </p:sp>
        <p:sp>
          <p:nvSpPr>
            <p:cNvPr id="5" name="TextBox 5"/>
            <p:cNvSpPr txBox="1"/>
            <p:nvPr/>
          </p:nvSpPr>
          <p:spPr>
            <a:xfrm>
              <a:off x="101600" y="-57150"/>
              <a:ext cx="268930" cy="1337383"/>
            </a:xfrm>
            <a:prstGeom prst="rect">
              <a:avLst/>
            </a:prstGeom>
          </p:spPr>
          <p:txBody>
            <a:bodyPr lIns="50800" tIns="50800" rIns="50800" bIns="50800" rtlCol="0" anchor="ctr"/>
            <a:lstStyle/>
            <a:p>
              <a:pPr algn="ctr">
                <a:lnSpc>
                  <a:spcPts val="2800"/>
                </a:lnSpc>
              </a:pPr>
            </a:p>
          </p:txBody>
        </p:sp>
      </p:grpSp>
      <p:grpSp>
        <p:nvGrpSpPr>
          <p:cNvPr id="6" name="Group 6"/>
          <p:cNvGrpSpPr/>
          <p:nvPr/>
        </p:nvGrpSpPr>
        <p:grpSpPr>
          <a:xfrm rot="0">
            <a:off x="1551304" y="2186357"/>
            <a:ext cx="2602929" cy="2331842"/>
            <a:chOff x="0" y="0"/>
            <a:chExt cx="1429066" cy="1280233"/>
          </a:xfrm>
        </p:grpSpPr>
        <p:sp>
          <p:nvSpPr>
            <p:cNvPr id="7" name="Freeform 7"/>
            <p:cNvSpPr/>
            <p:nvPr/>
          </p:nvSpPr>
          <p:spPr>
            <a:xfrm>
              <a:off x="0" y="0"/>
              <a:ext cx="1429066" cy="1280233"/>
            </a:xfrm>
            <a:custGeom>
              <a:avLst/>
              <a:gdLst/>
              <a:ahLst/>
              <a:cxnLst/>
              <a:rect l="l" t="t" r="r" b="b"/>
              <a:pathLst>
                <a:path w="1429066" h="1280233">
                  <a:moveTo>
                    <a:pt x="203200" y="0"/>
                  </a:moveTo>
                  <a:lnTo>
                    <a:pt x="1429066" y="0"/>
                  </a:lnTo>
                  <a:lnTo>
                    <a:pt x="1225866" y="1280233"/>
                  </a:lnTo>
                  <a:lnTo>
                    <a:pt x="0" y="1280233"/>
                  </a:lnTo>
                  <a:lnTo>
                    <a:pt x="203200" y="0"/>
                  </a:lnTo>
                  <a:close/>
                </a:path>
              </a:pathLst>
            </a:custGeom>
            <a:gradFill rotWithShape="1">
              <a:gsLst>
                <a:gs pos="0">
                  <a:srgbClr val="8D2600">
                    <a:alpha val="100000"/>
                  </a:srgbClr>
                </a:gs>
                <a:gs pos="100000">
                  <a:srgbClr val="FF4500">
                    <a:alpha val="100000"/>
                  </a:srgbClr>
                </a:gs>
              </a:gsLst>
              <a:lin ang="0"/>
            </a:gradFill>
          </p:spPr>
        </p:sp>
        <p:sp>
          <p:nvSpPr>
            <p:cNvPr id="8" name="TextBox 8"/>
            <p:cNvSpPr txBox="1"/>
            <p:nvPr/>
          </p:nvSpPr>
          <p:spPr>
            <a:xfrm>
              <a:off x="101600" y="-57150"/>
              <a:ext cx="1225866" cy="1337383"/>
            </a:xfrm>
            <a:prstGeom prst="rect">
              <a:avLst/>
            </a:prstGeom>
          </p:spPr>
          <p:txBody>
            <a:bodyPr lIns="50800" tIns="50800" rIns="50800" bIns="50800" rtlCol="0" anchor="ctr"/>
            <a:lstStyle/>
            <a:p>
              <a:pPr algn="ctr">
                <a:lnSpc>
                  <a:spcPts val="2800"/>
                </a:lnSpc>
              </a:pPr>
            </a:p>
          </p:txBody>
        </p:sp>
      </p:grpSp>
      <p:grpSp>
        <p:nvGrpSpPr>
          <p:cNvPr id="9" name="Group 9"/>
          <p:cNvGrpSpPr/>
          <p:nvPr/>
        </p:nvGrpSpPr>
        <p:grpSpPr>
          <a:xfrm rot="0">
            <a:off x="3609316" y="-247421"/>
            <a:ext cx="3976178" cy="10781843"/>
            <a:chOff x="0" y="0"/>
            <a:chExt cx="472130" cy="1280233"/>
          </a:xfrm>
        </p:grpSpPr>
        <p:sp>
          <p:nvSpPr>
            <p:cNvPr id="10" name="Freeform 10"/>
            <p:cNvSpPr/>
            <p:nvPr/>
          </p:nvSpPr>
          <p:spPr>
            <a:xfrm>
              <a:off x="0" y="0"/>
              <a:ext cx="472130" cy="1280233"/>
            </a:xfrm>
            <a:custGeom>
              <a:avLst/>
              <a:gdLst/>
              <a:ahLst/>
              <a:cxnLst/>
              <a:rect l="l" t="t" r="r" b="b"/>
              <a:pathLst>
                <a:path w="472130" h="1280233">
                  <a:moveTo>
                    <a:pt x="203200" y="0"/>
                  </a:moveTo>
                  <a:lnTo>
                    <a:pt x="472130" y="0"/>
                  </a:lnTo>
                  <a:lnTo>
                    <a:pt x="268930" y="1280233"/>
                  </a:lnTo>
                  <a:lnTo>
                    <a:pt x="0" y="1280233"/>
                  </a:lnTo>
                  <a:lnTo>
                    <a:pt x="203200" y="0"/>
                  </a:lnTo>
                  <a:close/>
                </a:path>
              </a:pathLst>
            </a:custGeom>
            <a:gradFill rotWithShape="1">
              <a:gsLst>
                <a:gs pos="0">
                  <a:srgbClr val="8D2600">
                    <a:alpha val="100000"/>
                  </a:srgbClr>
                </a:gs>
                <a:gs pos="100000">
                  <a:srgbClr val="FF4500">
                    <a:alpha val="100000"/>
                  </a:srgbClr>
                </a:gs>
              </a:gsLst>
              <a:lin ang="0"/>
            </a:gradFill>
          </p:spPr>
        </p:sp>
        <p:sp>
          <p:nvSpPr>
            <p:cNvPr id="11" name="TextBox 11"/>
            <p:cNvSpPr txBox="1"/>
            <p:nvPr/>
          </p:nvSpPr>
          <p:spPr>
            <a:xfrm>
              <a:off x="101600" y="-57150"/>
              <a:ext cx="268930" cy="1337383"/>
            </a:xfrm>
            <a:prstGeom prst="rect">
              <a:avLst/>
            </a:prstGeom>
          </p:spPr>
          <p:txBody>
            <a:bodyPr lIns="50800" tIns="50800" rIns="50800" bIns="50800" rtlCol="0" anchor="ctr"/>
            <a:lstStyle/>
            <a:p>
              <a:pPr algn="ctr">
                <a:lnSpc>
                  <a:spcPts val="2800"/>
                </a:lnSpc>
              </a:pPr>
            </a:p>
          </p:txBody>
        </p:sp>
      </p:grpSp>
      <p:sp>
        <p:nvSpPr>
          <p:cNvPr id="12" name="TextBox 12"/>
          <p:cNvSpPr txBox="1"/>
          <p:nvPr/>
        </p:nvSpPr>
        <p:spPr>
          <a:xfrm>
            <a:off x="1028700" y="1146175"/>
            <a:ext cx="1873255" cy="263525"/>
          </a:xfrm>
          <a:prstGeom prst="rect">
            <a:avLst/>
          </a:prstGeom>
        </p:spPr>
        <p:txBody>
          <a:bodyPr lIns="0" tIns="0" rIns="0" bIns="0" rtlCol="0" anchor="t">
            <a:spAutoFit/>
          </a:bodyPr>
          <a:lstStyle/>
          <a:p>
            <a:pPr algn="l">
              <a:lnSpc>
                <a:spcPts val="1900"/>
              </a:lnSpc>
            </a:pPr>
            <a:r>
              <a:rPr lang="en-US" sz="20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rPr>
              <a:t>CCAC</a:t>
            </a:r>
            <a:endParaRPr lang="en-US" sz="2000"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endParaRPr>
          </a:p>
        </p:txBody>
      </p:sp>
      <p:sp>
        <p:nvSpPr>
          <p:cNvPr id="13" name="TextBox 13"/>
          <p:cNvSpPr txBox="1"/>
          <p:nvPr/>
        </p:nvSpPr>
        <p:spPr>
          <a:xfrm>
            <a:off x="8292854" y="4307391"/>
            <a:ext cx="8826797" cy="2076250"/>
          </a:xfrm>
          <a:prstGeom prst="rect">
            <a:avLst/>
          </a:prstGeom>
        </p:spPr>
        <p:txBody>
          <a:bodyPr lIns="0" tIns="0" rIns="0" bIns="0" rtlCol="0" anchor="t">
            <a:spAutoFit/>
          </a:bodyPr>
          <a:lstStyle/>
          <a:p>
            <a:pPr algn="l">
              <a:lnSpc>
                <a:spcPts val="15385"/>
              </a:lnSpc>
            </a:pPr>
            <a:r>
              <a:rPr lang="en-US" sz="16195"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rPr>
              <a:t>THANK YOU</a:t>
            </a:r>
            <a:endParaRPr lang="en-US" sz="16195" i="1">
              <a:solidFill>
                <a:srgbClr val="D3410D">
                  <a:alpha val="94902"/>
                </a:srgbClr>
              </a:solidFill>
              <a:latin typeface="Anton Italics" panose="00000500000000000000"/>
              <a:ea typeface="Anton Italics" panose="00000500000000000000"/>
              <a:cs typeface="Anton Italics" panose="00000500000000000000"/>
              <a:sym typeface="Anton Italics" panose="00000500000000000000"/>
            </a:endParaRPr>
          </a:p>
        </p:txBody>
      </p:sp>
      <p:sp>
        <p:nvSpPr>
          <p:cNvPr id="14" name="TextBox 14"/>
          <p:cNvSpPr txBox="1"/>
          <p:nvPr/>
        </p:nvSpPr>
        <p:spPr>
          <a:xfrm>
            <a:off x="5896758" y="6082172"/>
            <a:ext cx="10583191" cy="510187"/>
          </a:xfrm>
          <a:prstGeom prst="rect">
            <a:avLst/>
          </a:prstGeom>
        </p:spPr>
        <p:txBody>
          <a:bodyPr lIns="0" tIns="0" rIns="0" bIns="0" rtlCol="0" anchor="t">
            <a:spAutoFit/>
          </a:bodyPr>
          <a:lstStyle/>
          <a:p>
            <a:pPr algn="r">
              <a:lnSpc>
                <a:spcPts val="4190"/>
              </a:lnSpc>
            </a:pPr>
            <a:r>
              <a:rPr lang="en-US" sz="2465" b="1">
                <a:solidFill>
                  <a:srgbClr val="D3410D"/>
                </a:solidFill>
                <a:latin typeface="Poppins Bold" panose="00000800000000000000"/>
                <a:ea typeface="Poppins Bold" panose="00000800000000000000"/>
                <a:cs typeface="Poppins Bold" panose="00000800000000000000"/>
                <a:sym typeface="Poppins Bold" panose="00000800000000000000"/>
              </a:rPr>
              <a:t>Team: </a:t>
            </a:r>
            <a:r>
              <a:rPr lang="en-US" sz="2465" b="1">
                <a:solidFill>
                  <a:srgbClr val="FFFFFF"/>
                </a:solidFill>
                <a:latin typeface="Poppins Bold" panose="00000800000000000000"/>
                <a:ea typeface="Poppins Bold" panose="00000800000000000000"/>
                <a:cs typeface="Poppins Bold" panose="00000800000000000000"/>
                <a:sym typeface="Poppins Bold" panose="00000800000000000000"/>
              </a:rPr>
              <a:t>Win and Retired</a:t>
            </a:r>
            <a:endParaRPr lang="en-US" sz="2465" b="1">
              <a:solidFill>
                <a:srgbClr val="FFFFFF"/>
              </a:solidFill>
              <a:latin typeface="Poppins Bold" panose="00000800000000000000"/>
              <a:ea typeface="Poppins Bold" panose="00000800000000000000"/>
              <a:cs typeface="Poppins Bold" panose="00000800000000000000"/>
              <a:sym typeface="Poppins Bold" panose="00000800000000000000"/>
            </a:endParaRPr>
          </a:p>
        </p:txBody>
      </p:sp>
      <p:sp>
        <p:nvSpPr>
          <p:cNvPr id="15" name="Freeform 15"/>
          <p:cNvSpPr/>
          <p:nvPr/>
        </p:nvSpPr>
        <p:spPr>
          <a:xfrm>
            <a:off x="16917785" y="0"/>
            <a:ext cx="1370215" cy="1370215"/>
          </a:xfrm>
          <a:custGeom>
            <a:avLst/>
            <a:gdLst/>
            <a:ahLst/>
            <a:cxnLst/>
            <a:rect l="l" t="t" r="r" b="b"/>
            <a:pathLst>
              <a:path w="1370215" h="1370215">
                <a:moveTo>
                  <a:pt x="0" y="0"/>
                </a:moveTo>
                <a:lnTo>
                  <a:pt x="1370215" y="0"/>
                </a:lnTo>
                <a:lnTo>
                  <a:pt x="1370215" y="1370215"/>
                </a:lnTo>
                <a:lnTo>
                  <a:pt x="0" y="1370215"/>
                </a:lnTo>
                <a:lnTo>
                  <a:pt x="0" y="0"/>
                </a:lnTo>
                <a:close/>
              </a:path>
            </a:pathLst>
          </a:custGeom>
          <a:blipFill>
            <a:blip r:embed="rId2"/>
            <a:stretch>
              <a:fillRect/>
            </a:stretch>
          </a:blipFill>
        </p:spPr>
      </p:sp>
      <p:sp>
        <p:nvSpPr>
          <p:cNvPr id="16" name="TextBox 16"/>
          <p:cNvSpPr txBox="1"/>
          <p:nvPr/>
        </p:nvSpPr>
        <p:spPr>
          <a:xfrm>
            <a:off x="6864169" y="2869115"/>
            <a:ext cx="13065838" cy="1047751"/>
          </a:xfrm>
          <a:prstGeom prst="rect">
            <a:avLst/>
          </a:prstGeom>
        </p:spPr>
        <p:txBody>
          <a:bodyPr lIns="0" tIns="0" rIns="0" bIns="0" rtlCol="0" anchor="t">
            <a:spAutoFit/>
          </a:bodyPr>
          <a:lstStyle/>
          <a:p>
            <a:pPr algn="l">
              <a:lnSpc>
                <a:spcPts val="4200"/>
              </a:lnSpc>
            </a:pPr>
            <a:r>
              <a:rPr lang="en-US" sz="3000" b="1" i="1">
                <a:solidFill>
                  <a:srgbClr val="FFFFFF"/>
                </a:solidFill>
                <a:latin typeface="Poppins Bold Italics" panose="00000800000000000000"/>
                <a:ea typeface="Poppins Bold Italics" panose="00000800000000000000"/>
                <a:cs typeface="Poppins Bold Italics" panose="00000800000000000000"/>
                <a:sym typeface="Poppins Bold Italics" panose="00000800000000000000"/>
              </a:rPr>
              <a:t>Unveiling Fan Bias in NCAA Bracket Predictions: </a:t>
            </a:r>
            <a:endParaRPr lang="en-US" sz="3000" b="1" i="1">
              <a:solidFill>
                <a:srgbClr val="FFFFFF"/>
              </a:solidFill>
              <a:latin typeface="Poppins Bold Italics" panose="00000800000000000000"/>
              <a:ea typeface="Poppins Bold Italics" panose="00000800000000000000"/>
              <a:cs typeface="Poppins Bold Italics" panose="00000800000000000000"/>
              <a:sym typeface="Poppins Bold Italics" panose="00000800000000000000"/>
            </a:endParaRPr>
          </a:p>
          <a:p>
            <a:pPr algn="ctr">
              <a:lnSpc>
                <a:spcPts val="4200"/>
              </a:lnSpc>
            </a:pPr>
            <a:r>
              <a:rPr lang="en-US" sz="3000" i="1">
                <a:solidFill>
                  <a:srgbClr val="FFFFFF"/>
                </a:solidFill>
                <a:latin typeface="Poppins Italics" panose="00000500000000000000"/>
                <a:ea typeface="Poppins Italics" panose="00000500000000000000"/>
                <a:cs typeface="Poppins Italics" panose="00000500000000000000"/>
                <a:sym typeface="Poppins Italics" panose="00000500000000000000"/>
              </a:rPr>
              <a:t>Trends, Accuracy, and the Impact of School Affinity </a:t>
            </a:r>
            <a:endParaRPr lang="en-US" sz="3000" i="1">
              <a:solidFill>
                <a:srgbClr val="FFFFFF"/>
              </a:solidFill>
              <a:latin typeface="Poppins Italics" panose="00000500000000000000"/>
              <a:ea typeface="Poppins Italics" panose="00000500000000000000"/>
              <a:cs typeface="Poppins Italics" panose="00000500000000000000"/>
              <a:sym typeface="Poppins Italics" panose="00000500000000000000"/>
            </a:endParaRPr>
          </a:p>
        </p:txBody>
      </p:sp>
      <p:sp>
        <p:nvSpPr>
          <p:cNvPr id="17" name="Freeform 17"/>
          <p:cNvSpPr/>
          <p:nvPr/>
        </p:nvSpPr>
        <p:spPr>
          <a:xfrm>
            <a:off x="-1643569" y="3256256"/>
            <a:ext cx="8507738" cy="7224487"/>
          </a:xfrm>
          <a:custGeom>
            <a:avLst/>
            <a:gdLst/>
            <a:ahLst/>
            <a:cxnLst/>
            <a:rect l="l" t="t" r="r" b="b"/>
            <a:pathLst>
              <a:path w="8507738" h="7224487">
                <a:moveTo>
                  <a:pt x="0" y="0"/>
                </a:moveTo>
                <a:lnTo>
                  <a:pt x="8507738" y="0"/>
                </a:lnTo>
                <a:lnTo>
                  <a:pt x="8507738" y="7224488"/>
                </a:lnTo>
                <a:lnTo>
                  <a:pt x="0" y="7224488"/>
                </a:lnTo>
                <a:lnTo>
                  <a:pt x="0" y="0"/>
                </a:lnTo>
                <a:close/>
              </a:path>
            </a:pathLst>
          </a:custGeom>
          <a:blipFill>
            <a:blip r:embed="rId3"/>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12617</Words>
  <Application>WPS 演示</Application>
  <PresentationFormat>On-screen Show (4:3)</PresentationFormat>
  <Paragraphs>468</Paragraphs>
  <Slides>32</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32</vt:i4>
      </vt:variant>
    </vt:vector>
  </HeadingPairs>
  <TitlesOfParts>
    <vt:vector size="46" baseType="lpstr">
      <vt:lpstr>Arial</vt:lpstr>
      <vt:lpstr>SimSun</vt:lpstr>
      <vt:lpstr>Wingdings</vt:lpstr>
      <vt:lpstr>Anton Italics</vt:lpstr>
      <vt:lpstr>Poppins Bold</vt:lpstr>
      <vt:lpstr>Poppins</vt:lpstr>
      <vt:lpstr>Poppins Bold Italics</vt:lpstr>
      <vt:lpstr>Poppins Italics</vt:lpstr>
      <vt:lpstr>Arial Bold</vt:lpstr>
      <vt:lpstr>Arial</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Orange and Black Modern Bold Sport Presentation</dc:title>
  <dc:creator/>
  <cp:lastModifiedBy>汪映彤</cp:lastModifiedBy>
  <cp:revision>2</cp:revision>
  <dcterms:created xsi:type="dcterms:W3CDTF">2006-08-16T00:00:00Z</dcterms:created>
  <dcterms:modified xsi:type="dcterms:W3CDTF">2025-03-01T22:28:53Z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CA4023C335204873B47D91DCFEAD6F49_12</vt:lpwstr>
  </property>
  <property fmtid="{D5CDD505-2E9C-101B-9397-08002B2CF9AE}" pid="3" name="KSOProductBuildVer">
    <vt:lpwstr>2052-12.1.0.19770</vt:lpwstr>
  </property>
</Properties>
</file>